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700"/>
                </a:solidFill>
                <a:latin typeface="Calibri"/>
              </a:defRPr>
            </a:pPr>
            <a:r>
              <a:t>GRIFFIN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HR Position Classification &amp; Pay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3962095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William &amp; Mary  |  Mason School of Business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CCDDCC"/>
                </a:solidFill>
                <a:latin typeface="Calibri"/>
              </a:defRPr>
            </a:pPr>
            <a:r>
              <a:t>BUAD 5722 — Big Data Analytics  |  Spring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754880"/>
            <a:ext cx="6705295" cy="1188720"/>
          </a:xfrm>
          <a:prstGeom prst="roundRect">
            <a:avLst>
              <a:gd name="adj" fmla="val 5000"/>
            </a:avLst>
          </a:prstGeom>
          <a:solidFill>
            <a:srgbClr val="0D4432"/>
          </a:solidFill>
          <a:ln w="12700">
            <a:solidFill>
              <a:srgbClr val="C99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846320"/>
            <a:ext cx="6339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9700"/>
                </a:solidFill>
                <a:latin typeface="Calibri"/>
              </a:defRPr>
            </a:pPr>
            <a:r>
              <a:t>TEAM 7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Steven Alvarado  |  Anmol Motwani  |  JR Jones  |  Brynn Vetrano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32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William &amp; Mary’s HR is under resourced and struggle to meet classification and compensation setting for current vacancies as well as periodically updating existing positions. These position descriptions must be classified against 500+ position descriptions into Virginia DHRM career groups and pay bands, translated to W&amp;M’s pay scale, and must be competitive enough to attract high quality applicants.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Manual classification is time-intensive and inconsistent across reviewers.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970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GRIFFIN — an AI-powered classification &amp; pay setting recommendation system combining: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Traditional ML (H2O AutoML) for pattern-based matching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Agentic AI (LangChain + Gemini) for explainable reasoning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Providing HR personnel ranked recommendations with rationale for human review.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Multi-method approach ensures both accuracy and transparency.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84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SCOPE &amp;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End-to-end batch analytics pipeline: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56 career groups classified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294 roles mapped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103 position descriptions processed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80 ML models trained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Data acquisition → ML training → interactive Streamlit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9700"/>
                </a:solidFill>
                <a:latin typeface="Calibri"/>
              </a:defRPr>
            </a:pPr>
            <a:r>
              <a:t>56 Career Groups   |   294 Roles   |   103 Positions   |   80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Data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18872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607" y="13716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1371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9527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DHRM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9527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Calibri"/>
              </a:defRPr>
            </a:pPr>
            <a:r>
              <a:t>dhrm.virginia.gov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011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56 career group pages scraped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50 HTML + 6 PDF documents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Rate-limited (1.5s delays)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Cached locally for 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A5A"/>
                </a:solidFill>
                <a:latin typeface="Calibri"/>
              </a:defRPr>
            </a:pPr>
            <a:r>
              <a:t>BeautifulSoup, pdfplumber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487" y="118872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1367" y="13716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1371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4287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W&amp;M WORKDAY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4287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Calibri"/>
              </a:defRPr>
            </a:pPr>
            <a:r>
              <a:t>workday.wm.edu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2011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150 job postings extracted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103 staff positions retained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47 faculty records excluded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Full position descriptions 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A5A"/>
                </a:solidFill>
                <a:latin typeface="Calibri"/>
              </a:defRPr>
            </a:pPr>
            <a:r>
              <a:t>requests, HTML parsing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3247" y="118872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6127" y="13716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1371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047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CAREERONESTOP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9047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Calibri"/>
              </a:defRPr>
            </a:pPr>
            <a:r>
              <a:t>careeronestop.org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7567" y="2011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Virginia salary benchmarks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REST API integration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Classification validation 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SOC code cross-references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6127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A5A"/>
                </a:solidFill>
                <a:latin typeface="Calibri"/>
              </a:defRPr>
            </a:pPr>
            <a:r>
              <a:t>REST API, JSON parsing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11094415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PIPELINE:  Web Scrape  →  Parse HTML/PDF  →  Extract Career Group Definitions  →  SQLAlchemy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9700"/>
                </a:solidFill>
                <a:latin typeface="Calibri"/>
              </a:defRPr>
            </a:pPr>
            <a:r>
              <a:t>SQLite local  |  Cloud SQL deployment-ready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Technology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28016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727" y="13716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COLLECTION</a:t>
            </a:r>
            <a:br/>
            <a:r>
              <a:t>(Classification Categories,</a:t>
            </a:r>
            <a:br/>
            <a:r>
              <a:t>Codes, Pay Bands, etc.)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2743200"/>
            <a:ext cx="1691640" cy="173736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283464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BeautifulSoup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requests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pdfplumber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CareerOneStop</a:t>
            </a:r>
            <a:br/>
            <a:r>
              <a:t>REST 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73655" y="1874520"/>
            <a:ext cx="146304" cy="182880"/>
          </a:xfrm>
          <a:prstGeom prst="rightArrow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8247" y="128016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8247" y="13716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STORAGE</a:t>
            </a:r>
            <a:br/>
            <a:r>
              <a:t>(Put it all in a</a:t>
            </a:r>
            <a:br/>
            <a:r>
              <a:t>central location)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8247" y="2743200"/>
            <a:ext cx="1691640" cy="173736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9687" y="283464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SQLAlchemy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SQLite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(Cloud SQL</a:t>
            </a:r>
            <a:br/>
            <a:r>
              <a:t>ready)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8175" y="1874520"/>
            <a:ext cx="146304" cy="182880"/>
          </a:xfrm>
          <a:prstGeom prst="rightArrow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2767" y="128016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2767" y="13716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PROCESSING</a:t>
            </a:r>
            <a:br/>
            <a:r>
              <a:t>(Clean it up, Separate test</a:t>
            </a:r>
            <a:br/>
            <a:r>
              <a:t>version vs. answer key)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767" y="2743200"/>
            <a:ext cx="1691640" cy="173736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4207" y="283464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pandas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regex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Custom censoring</a:t>
            </a:r>
            <a:br/>
            <a:r>
              <a:t>pipeline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22695" y="1874520"/>
            <a:ext cx="146304" cy="182880"/>
          </a:xfrm>
          <a:prstGeom prst="rightArrow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287" y="128016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13716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  <a:br/>
            <a:r>
              <a:t>TRAINING</a:t>
            </a:r>
            <a:br/>
            <a:r>
              <a:t>(Let the Machine take the</a:t>
            </a:r>
            <a:br/>
            <a:r>
              <a:t>test and 'learn')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2743200"/>
            <a:ext cx="1691640" cy="173736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8727" y="283464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H2O AutoML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80 models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GBM best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97215" y="1874520"/>
            <a:ext cx="146304" cy="182880"/>
          </a:xfrm>
          <a:prstGeom prst="rightArrow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1807" y="128016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807" y="13716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CLASSIFICATION</a:t>
            </a:r>
            <a:br/>
            <a:r>
              <a:t>(Parallel look</a:t>
            </a:r>
            <a:br/>
            <a:r>
              <a:t>using AI)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1807" y="2743200"/>
            <a:ext cx="1691640" cy="173736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3247" y="283464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LangChain agents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Google Gemini</a:t>
            </a:r>
            <a:br/>
            <a:r>
              <a:t>2.5 Flash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3 custom tools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71735" y="1874520"/>
            <a:ext cx="146304" cy="182880"/>
          </a:xfrm>
          <a:prstGeom prst="rightArrow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36327" y="128016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6327" y="13716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WEB</a:t>
            </a:r>
            <a:br/>
            <a:r>
              <a:t>APPLICATION</a:t>
            </a:r>
            <a:br/>
            <a:r>
              <a:t>(Human tailored</a:t>
            </a:r>
            <a:br/>
            <a:r>
              <a:t>results)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6327" y="2743200"/>
            <a:ext cx="1691640" cy="173736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27767" y="283464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Streamlit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W&amp;M branding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Interactive</a:t>
            </a:r>
            <a:br/>
            <a:r>
              <a:t>classification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84632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E8F2EE"/>
          </a:solidFill>
          <a:ln w="1905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92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5740"/>
                </a:solidFill>
                <a:latin typeface="Calibri"/>
              </a:defRPr>
            </a:pPr>
            <a:r>
              <a:t>COURSE TOOLS FEATURED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H2O AutoML   |   LangChain   |   Gemini API   |   CareerOneStop REST API   |   BeautifulSoup   |   SQLAlchemy   |   Streamlit   |   SHAP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A5A"/>
                </a:solidFill>
                <a:latin typeface="Calibri"/>
              </a:defRPr>
            </a:pPr>
            <a:r>
              <a:t>GCP Cloud SQL deployment-ready  —  local SQLite for development, Cloud SQL for production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32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A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15 engineered features from 103 position descriptions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Regex-based keyword frequency extraction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Document length metrics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Domain-specific term detection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Tools: pandas, regex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CENSORING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30+ skip patterns ensure clean training data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JP codes (job profile IDs)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Compensation grades (S/H codes)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Salary ranges &amp; dollar amounts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EEO boilerplate text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Job requisition IDs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Tools: pandas, regex, custom censoring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84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9700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Censoring prevents data leakage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Without censoring, models memorize classification codes rather than learning from position duties.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[Like a student looking at the answer key before trying the problem]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Models that rely on leaked labels: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Look perfect in training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Fail completely in production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Censoring forces genuine learning from job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9700"/>
                </a:solidFill>
                <a:latin typeface="Calibri"/>
              </a:defRPr>
            </a:pPr>
            <a:r>
              <a:t>103 PDs  →  Censoring (30+ patterns)  →  Feature Engineering (15 features)  →  Training-Ready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447" y="118872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047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9700"/>
                </a:solidFill>
                <a:latin typeface="Calibri"/>
              </a:defRPr>
            </a:pPr>
            <a:r>
              <a:t>H2O AutoML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8288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80 models trained via automated machine learning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Best model: GBM with learning rate annealing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5-fold stratified cross-validation (due to small ~150 posted jobs)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15 engineered features from Notebook 4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100 training rows (3 Unknown class dropped)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Class imbalance: 55 Admin vs 3–4 smallest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5A5A5A"/>
                </a:solidFill>
                <a:latin typeface="Calibri"/>
              </a:defRPr>
            </a:pPr>
            <a:r>
              <a:t>ML correctly identifies occupational family;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5A5A5A"/>
                </a:solidFill>
                <a:latin typeface="Calibri"/>
              </a:defRPr>
            </a:pPr>
            <a:r>
              <a:t>correct role typically appears in top 2–3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5A5A5A"/>
                </a:solidFill>
                <a:latin typeface="Calibri"/>
              </a:defRPr>
            </a:pPr>
            <a:r>
              <a:t>AI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2967" y="1188720"/>
            <a:ext cx="566928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1567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1567" y="18288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Overall Accuracy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115740"/>
                </a:solidFill>
                <a:latin typeface="Calibri"/>
              </a:defRPr>
            </a:pPr>
            <a:r>
              <a:t>69% Top-1  |  90% Top-3  |  0.54 Macro F1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5A5A5A"/>
                </a:solidFill>
                <a:latin typeface="Calibri"/>
              </a:defRPr>
            </a:pPr>
            <a:r>
              <a:t>Per-Class Accuracy by Job Family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A5A5A"/>
                </a:solidFill>
                <a:latin typeface="Calibri"/>
              </a:defRPr>
            </a:pPr>
            <a:r>
              <a:t>F1 Score = balance between catching all correct matches and avoiding false matches (1.0 = perfect, 0.0 = never correct)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Administrative Services:  0.79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Natural Resources:  0.82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Public Safety:  0.75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Trades &amp; Operations:  0.71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5A5A5A"/>
                </a:solidFill>
                <a:latin typeface="Calibri"/>
              </a:defRPr>
            </a:pPr>
            <a:r>
              <a:t>Strong performance on well-represented classes;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5A5A5A"/>
                </a:solidFill>
                <a:latin typeface="Calibri"/>
              </a:defRPr>
            </a:pPr>
            <a:r>
              <a:t>class imbalance limits underrepresented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LLM / AI Language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41148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Calibri"/>
              </a:defRPr>
            </a:pPr>
            <a:r>
              <a:t>Teaching computers to read and classify job descriptions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AGENT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LangChain multi-agent system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8 components total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3 Specialized Agents: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Classifier Agent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Pay Matcher Agent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Orchestrator Agent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Orchestrator delegates tasks to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specialized sub-agents in sequence.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LLM: Google Gemini 2.5 Flash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48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08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A"/>
                </a:solidFill>
                <a:latin typeface="Calibri"/>
              </a:defRPr>
            </a:pPr>
            <a:r>
              <a:t>TOOL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08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5 integrated tools: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1A7A5A"/>
                </a:solidFill>
                <a:latin typeface="Calibri"/>
              </a:defRPr>
            </a:pPr>
            <a:r>
              <a:t>3 Custom Tools: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search_career_groups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search_roles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match_pay_band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1A7A5A"/>
                </a:solidFill>
                <a:latin typeface="Calibri"/>
              </a:defRPr>
            </a:pPr>
            <a:r>
              <a:t>2 External APIs: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CareerOneStop API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(salary benchmarks)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Tavily web search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(supplemental research)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3247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84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9700"/>
                </a:solidFill>
                <a:latin typeface="Calibri"/>
              </a:defRPr>
            </a:pPr>
            <a:r>
              <a:t>AGENTIC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47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9700"/>
                </a:solidFill>
                <a:latin typeface="Calibri"/>
              </a:defRPr>
            </a:pPr>
            <a:r>
              <a:t>Reasoning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Analyzes duties against DHRM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compensable factors (Complexity,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Results, Accountability)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C99700"/>
                </a:solidFill>
                <a:latin typeface="Calibri"/>
              </a:defRPr>
            </a:pPr>
            <a:r>
              <a:t>Tool Use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Queries DHRM database, external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APIs for classification evidence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C99700"/>
                </a:solidFill>
                <a:latin typeface="Calibri"/>
              </a:defRPr>
            </a:pPr>
            <a:r>
              <a:t>Reflection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Generates explanation narratives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with caveats and confidence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Dual-Method:  ML predicts occupational family (instant, local)  |  Gemini AI provides specific role matching with explainable 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9700"/>
                </a:solidFill>
                <a:latin typeface="Calibri"/>
              </a:defRPr>
            </a:pPr>
            <a:r>
              <a:t>Fast Mode (ML only)  and  Full Analysis (ML + AI)  give users control over speed vs.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SHAP — What Drives Classification?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5029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Calibri"/>
              </a:defRPr>
            </a:pPr>
            <a:r>
              <a:t>Which features of a job description most influence how the model classifies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4114800" cy="502920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3500" cy="475488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611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facilities_keywords and research_keywords are the strongest signals — PDs mentioning these terms are most clearly distinguished between job families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text_length matters — longer, more detailed position descriptions give the model more information to work with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budget_mentioned and supervision_count have minimal impact — these appear across many job families and don’t help differentiate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5A5A5A"/>
                </a:solidFill>
                <a:latin typeface="Calibri"/>
              </a:defRPr>
            </a:pPr>
            <a:r>
              <a:t>•  Each color represents one of the 7 occupational families. The total bar length shows overall influence — longer bars mean the model relies more heavily on that feature when making its classification decision.</a:t>
            </a:r>
          </a:p>
        </p:txBody>
      </p:sp>
      <p:pic>
        <p:nvPicPr>
          <p:cNvPr id="9" name="Picture 8" descr="cell19_outpu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042" y="1417320"/>
            <a:ext cx="536901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SHAP — How One Classification Was Made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54864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Calibri"/>
              </a:defRPr>
            </a:pPr>
            <a:r>
              <a:t>Tracing the model’s reasoning for a single Administrative Services position</a:t>
            </a:r>
          </a:p>
        </p:txBody>
      </p:sp>
      <p:pic>
        <p:nvPicPr>
          <p:cNvPr id="5" name="Picture 4" descr="cell20_outpu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417320"/>
            <a:ext cx="10058400" cy="21293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2647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Starting Confidence: 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247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Final Confidence: 71%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6682"/>
            <a:ext cx="11094415" cy="274320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03842"/>
            <a:ext cx="63500" cy="246888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0384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READING THIS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23882"/>
            <a:ext cx="10545775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Think of this as a debate between features arguing FOR and AGAINST classifying this position as ‘Administrative Services.’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Red features argue IN FAVOR — healthcare_keywords = 0 (no healthcare terms supports Admin), supervises_staff = 1 (supervision duties are common in Admin roles). These push the confidence UP from 55% toward 71%.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Blue features argue AGAINST — finance_keywords and receives_supervision suggest this could be Financial Services instead. These push the confidence DOWN.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The final verdict: 71% confidence in Administrative Services — the ‘for’ arguments outweigh the ‘against.’ This is explainable AI: every classification traces back to specific, auditable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Streamlit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2004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18872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32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LIVE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18288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Tested with 4–5 live W&amp;M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position descriptions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Fast Mode: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Instant ML prediction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Zero API cost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H2O model runs locally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Full Analysis: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3 ranked role matches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AI confidence scores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Explainable reasoning narrative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118872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A"/>
                </a:solidFill>
                <a:latin typeface="Calibri"/>
              </a:defRPr>
            </a:pPr>
            <a:r>
              <a:t>CLASSIFICATION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18288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Both modes return: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Career group recommendation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W&amp;M pay grade estimate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Salary range from DHRM bands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Full Analysis adds: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3 ranked role matches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Confidence scores + reasoning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Alternative career group match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Data explorer sidebar: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Browse 56 groups, 294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118872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84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9700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18288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AI recommends, HR decides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The tool never auto-submits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classifications or writes to any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HR system.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HR professionals evaluate: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Confidence percentage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Classification reasoning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Alternative matches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AI augments HR expertise —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it does not replace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9700"/>
                </a:solidFill>
                <a:latin typeface="Calibri"/>
              </a:defRPr>
            </a:pPr>
            <a:r>
              <a:t>Tested with Live W&amp;M Positions  |  Fast Mode (ML only, zero cost)  |  Full Analysis (ML + AI, ranked matches)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Findings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447" y="1188720"/>
            <a:ext cx="5303520" cy="39319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047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9700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8288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Model Selection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15740"/>
                </a:solidFill>
                <a:latin typeface="Calibri"/>
              </a:defRPr>
            </a:pPr>
            <a:r>
              <a:t>80 models evaluated  →  GBM best performer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5A5A5A"/>
                </a:solidFill>
                <a:latin typeface="Calibri"/>
              </a:defRPr>
            </a:pPr>
            <a:r>
              <a:t>Accuracy Tiers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115740"/>
                </a:solidFill>
                <a:latin typeface="Calibri"/>
              </a:defRPr>
            </a:pPr>
            <a:r>
              <a:t>69% Top-1   |   86% Top-2   |   90% Top-3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1A7A5A"/>
                </a:solidFill>
                <a:latin typeface="Calibri"/>
              </a:defRPr>
            </a:pPr>
            <a:r>
              <a:t>Macro F1: 0.54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Strong:  Admin Services (0.79)  |  Natural Resources (0.82)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0392B"/>
                </a:solidFill>
                <a:latin typeface="Calibri"/>
              </a:defRPr>
            </a:pPr>
            <a:r>
              <a:t>Weak:  Engineering (0.00 — only 4 training examples)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188720"/>
            <a:ext cx="5303520" cy="39319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8288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Real-World Testing Observations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ML and AI sometimes disagree — by design.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Disagreement flags boundary positions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warranting human review.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Salary estimates can exceed posted salary —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may indicate positions undersold relative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to DHRM band midpoints.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Correct classification consistently in top 3.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H2O runs locally (zero API cost); Gemini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adds role-specific detail when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949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E8F2EE"/>
          </a:solidFill>
          <a:ln w="1905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5740"/>
                </a:solidFill>
                <a:latin typeface="Calibri"/>
              </a:defRPr>
            </a:pPr>
            <a:r>
              <a:t>COURSE TOOLS FEATURED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H2O AutoML   |   LangChain   |   Gemini API   |   CareerOneStop REST API   |   BeautifulSoup   |   SQLAlchemy   |   Streamlit   |   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Live Demo — Classification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5029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1430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cture 1 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234440"/>
            <a:ext cx="32918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3727" y="5330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Calibri"/>
              </a:defRPr>
            </a:pPr>
            <a:r>
              <a:t>Step 1: Paste position 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11430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 2 - Top Result with Recommen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27" y="1234440"/>
            <a:ext cx="329184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58487" y="5330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Calibri"/>
              </a:defRPr>
            </a:pPr>
            <a:r>
              <a:t>Step 2: AI classifies with ranked matches and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11430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cture 3 - Second and thi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687" y="1234440"/>
            <a:ext cx="3291840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53247" y="5330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Calibri"/>
              </a:defRPr>
            </a:pPr>
            <a:r>
              <a:t>Step 3: Alternative roles for human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Live Demo — Multi-Position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54864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447" y="11430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cture 4 - Role 2 - Top 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234440"/>
            <a:ext cx="51206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447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Calibri"/>
              </a:defRPr>
            </a:pPr>
            <a:r>
              <a:t>Second position: different career group identified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1430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 5 - Role 2 second and thi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234440"/>
            <a:ext cx="512064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78727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Calibri"/>
              </a:defRPr>
            </a:pPr>
            <a:r>
              <a:t>Ranked alternatives with confidence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647" y="498348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cture 6 Clo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087" y="5074920"/>
            <a:ext cx="5303520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52647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Calibri"/>
              </a:defRPr>
            </a:pPr>
            <a:r>
              <a:t>Dual-Method Classification: ML + AI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Ethical Reflection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1430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6607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5740"/>
                </a:solidFill>
                <a:latin typeface="Calibri"/>
              </a:defRPr>
            </a:pPr>
            <a:r>
              <a:t>1. PUBLIC DATA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07" y="16459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Rate-limited scraping (1.5s delays) of public</a:t>
            </a:r>
            <a:br/>
            <a:r>
              <a:t>government DHRM data. Cached locally so each</a:t>
            </a:r>
            <a:br/>
            <a:r>
              <a:t>URL fetched at most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11430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1367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9700"/>
                </a:solidFill>
                <a:latin typeface="Calibri"/>
              </a:defRPr>
            </a:pPr>
            <a:r>
              <a:t>2. CLASSIFICATION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1367" y="16459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103 PDs with heavy class imbalance acknowledged.</a:t>
            </a:r>
            <a:br/>
            <a:r>
              <a:t>Stratified CV preserves proportions.</a:t>
            </a:r>
            <a:br/>
            <a:r>
              <a:t>Model framed as advisory, not deterministic.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11430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6127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5740"/>
                </a:solidFill>
                <a:latin typeface="Calibri"/>
              </a:defRPr>
            </a:pPr>
            <a:r>
              <a:t>3. 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6127" y="16459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AI recommends, HR decides. Never auto-submits.</a:t>
            </a:r>
            <a:br/>
            <a:r>
              <a:t>Confidence scores + reasoning narratives</a:t>
            </a:r>
            <a:br/>
            <a:r>
              <a:t>enable informed professional judgment.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3727" y="33375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607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A"/>
                </a:solidFill>
                <a:latin typeface="Calibri"/>
              </a:defRPr>
            </a:pPr>
            <a:r>
              <a:t>4. LLM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3840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Step-by-step reasoning narratives, not black-box.</a:t>
            </a:r>
            <a:br/>
            <a:r>
              <a:t>Auditable 8-component agent pipeline.</a:t>
            </a:r>
            <a:br/>
            <a:r>
              <a:t>Every classification is explainable.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487" y="33375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9700"/>
                </a:solidFill>
                <a:latin typeface="Calibri"/>
              </a:defRPr>
            </a:pPr>
            <a:r>
              <a:t>5. 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3840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Censoring pipeline removes all PII, JP codes,</a:t>
            </a:r>
            <a:br/>
            <a:r>
              <a:t>comp grades, salary data before ML training.</a:t>
            </a:r>
            <a:br/>
            <a:r>
              <a:t>No personally identifiable information in pipeline.</a:t>
            </a:r>
            <a:br/>
            <a:r>
              <a:t>Since we do not have current PDs, future training</a:t>
            </a:r>
            <a:br/>
            <a:r>
              <a:t>data MUST be sanitized before being provided.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3247" y="33375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5740"/>
                </a:solidFill>
                <a:latin typeface="Calibri"/>
              </a:defRPr>
            </a:pPr>
            <a:r>
              <a:t>6. API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3840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.env excluded from git via .gitignore.</a:t>
            </a:r>
            <a:br/>
            <a:r>
              <a:t>Credentials loaded via python-dotenv.</a:t>
            </a:r>
            <a:br/>
            <a:r>
              <a:t>No API keys hardcoded in source files.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9700"/>
                </a:solidFill>
                <a:latin typeface="Calibri"/>
              </a:defRPr>
            </a:pPr>
            <a:r>
              <a:t>Ethics integrated as engineering decisions — not a separate compliance exercise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574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18872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32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18288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5740"/>
                </a:solidFill>
                <a:latin typeface="Calibri"/>
              </a:defRPr>
            </a:pPr>
            <a:r>
              <a:t>GCP Cloud SQL Deployment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Deployment-ready schema exists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SQLAlchemy ORM migration path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Local SQLite → Cloud SQL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115740"/>
                </a:solidFill>
                <a:latin typeface="Calibri"/>
              </a:defRPr>
            </a:pPr>
            <a:r>
              <a:t>Performance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Cloud deployment eliminates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H2O JVM startup time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First-run performance gain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115740"/>
                </a:solidFill>
                <a:latin typeface="Calibri"/>
              </a:defRPr>
            </a:pPr>
            <a:r>
              <a:t>Production Readiness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Containerized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118872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9700"/>
                </a:solidFill>
                <a:latin typeface="Calibri"/>
              </a:defRPr>
            </a:pPr>
            <a:r>
              <a:t>DATA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18288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9700"/>
                </a:solidFill>
                <a:latin typeface="Calibri"/>
              </a:defRPr>
            </a:pPr>
            <a:r>
              <a:t>Proprietary Data Integration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Connect to W&amp;M HR systems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Additional departments' PDs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Expand beyond 103 training rows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C99700"/>
                </a:solidFill>
                <a:latin typeface="Calibri"/>
              </a:defRPr>
            </a:pPr>
            <a:r>
              <a:t>Class Imbalance Mitigation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H2O counterbalance weights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More PDs for underrepresented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career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118872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 w="1905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84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A"/>
                </a:solidFill>
                <a:latin typeface="Calibri"/>
              </a:defRPr>
            </a:pPr>
            <a:r>
              <a:t>AGENT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18288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A5A"/>
                </a:solidFill>
                <a:latin typeface="Calibri"/>
              </a:defRPr>
            </a:pPr>
            <a:r>
              <a:t>Enhanced Tool Ecosystem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Additional classification tools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Conversation memory for multi-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turn classification sessions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1A7A5A"/>
                </a:solidFill>
                <a:latin typeface="Calibri"/>
              </a:defRPr>
            </a:pPr>
            <a:r>
              <a:t>Model Improvements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Fine-tuned embeddings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Expanded training corpora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Ensemble ML + LLM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A5A"/>
                </a:solidFill>
                <a:latin typeface="Calibri"/>
              </a:defRPr>
            </a:pPr>
            <a:r>
              <a:t>GCP Cloud SQL deployment-ready  —  schema exists, migration path defined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5760720"/>
            <a:ext cx="4876495" cy="254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15740"/>
                </a:solidFill>
                <a:latin typeface="Calibri"/>
              </a:defRPr>
            </a:pPr>
            <a:r>
              <a:t>Thank You  |  Team 7  |  BUAD 5722 Big Data Analytics  |  Spring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5A5A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