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9700"/>
    <a:srgbClr val="866F45"/>
    <a:srgbClr val="B792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48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rPr dirty="0"/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rPr dirty="0"/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Motwani  |  JR Jones  |  Brynn Vetrano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357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b="1" dirty="0"/>
              <a:t>William &amp; Mary’s HR is under resourced and struggle to meet classification and compensation setting for current vacancies as well as periodically updating existing positions. </a:t>
            </a:r>
            <a:endParaRPr lang="en-US" b="1" dirty="0"/>
          </a:p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endParaRPr lang="en-US" dirty="0"/>
          </a:p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349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b="1" dirty="0"/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Traditional ML (H2O </a:t>
            </a:r>
            <a:r>
              <a:rPr dirty="0" err="1"/>
              <a:t>AutoML</a:t>
            </a:r>
            <a:r>
              <a:rPr dirty="0"/>
              <a:t>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Agentic AI (</a:t>
            </a:r>
            <a:r>
              <a:rPr dirty="0" err="1"/>
              <a:t>LangChain</a:t>
            </a:r>
            <a:r>
              <a:rPr dirty="0"/>
              <a:t>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b="1" dirty="0"/>
              <a:t>Providing HR personnel ranked recommendations with rationale for human review.</a:t>
            </a:r>
            <a:endParaRPr lang="en-US" b="1"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Multi-method approach </a:t>
            </a:r>
            <a:r>
              <a:rPr lang="en-US" dirty="0"/>
              <a:t>provides</a:t>
            </a:r>
            <a:r>
              <a:rPr dirty="0"/>
              <a:t>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rPr dirty="0"/>
              <a:t>Data acquisition → ML training → interactive </a:t>
            </a:r>
            <a:r>
              <a:rPr dirty="0" err="1"/>
              <a:t>Streamlit</a:t>
            </a:r>
            <a:r>
              <a:rPr dirty="0"/>
              <a:t>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DATA</a:t>
            </a:r>
            <a:br>
              <a:rPr dirty="0"/>
            </a:br>
            <a:r>
              <a:rPr dirty="0"/>
              <a:t>COLLECTION</a:t>
            </a:r>
            <a:br>
              <a:rPr dirty="0"/>
            </a:br>
            <a:r>
              <a:rPr lang="fr-FR" sz="900" b="1" dirty="0">
                <a:solidFill>
                  <a:srgbClr val="C99700"/>
                </a:solidFill>
                <a:latin typeface="Calibri"/>
              </a:rPr>
              <a:t>Classification </a:t>
            </a:r>
            <a:r>
              <a:rPr lang="fr-FR" sz="900" b="1" dirty="0" err="1">
                <a:solidFill>
                  <a:srgbClr val="C99700"/>
                </a:solidFill>
                <a:latin typeface="Calibri"/>
              </a:rPr>
              <a:t>Categories</a:t>
            </a:r>
            <a:r>
              <a:rPr lang="fr-FR" sz="900" b="1" dirty="0">
                <a:solidFill>
                  <a:srgbClr val="C99700"/>
                </a:solidFill>
                <a:latin typeface="Calibri"/>
              </a:rPr>
              <a:t>,</a:t>
            </a:r>
            <a:br>
              <a:rPr lang="fr-FR" sz="900" b="1" dirty="0">
                <a:solidFill>
                  <a:srgbClr val="C99700"/>
                </a:solidFill>
                <a:latin typeface="Calibri"/>
              </a:rPr>
            </a:br>
            <a:r>
              <a:rPr lang="fr-FR" sz="900" b="1" dirty="0">
                <a:solidFill>
                  <a:srgbClr val="C99700"/>
                </a:solidFill>
                <a:latin typeface="Calibri"/>
              </a:rPr>
              <a:t>Codes, </a:t>
            </a:r>
            <a:r>
              <a:rPr lang="fr-FR" sz="900" b="1" dirty="0" err="1">
                <a:solidFill>
                  <a:srgbClr val="C99700"/>
                </a:solidFill>
                <a:latin typeface="Calibri"/>
              </a:rPr>
              <a:t>Pay</a:t>
            </a:r>
            <a:r>
              <a:rPr lang="fr-FR" sz="900" b="1" dirty="0">
                <a:solidFill>
                  <a:srgbClr val="C99700"/>
                </a:solidFill>
                <a:latin typeface="Calibri"/>
              </a:rPr>
              <a:t> Bands, Etc.</a:t>
            </a:r>
            <a:endParaRPr sz="900" b="1" dirty="0">
              <a:solidFill>
                <a:srgbClr val="C997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DATA</a:t>
            </a:r>
            <a:br>
              <a:rPr dirty="0"/>
            </a:br>
            <a:r>
              <a:rPr dirty="0"/>
              <a:t>STORAGE</a:t>
            </a:r>
            <a:br>
              <a:rPr dirty="0"/>
            </a:br>
            <a:r>
              <a:rPr lang="en-US" sz="900" b="1" dirty="0">
                <a:solidFill>
                  <a:srgbClr val="C99700"/>
                </a:solidFill>
                <a:latin typeface="Calibri"/>
              </a:rPr>
              <a:t>Put It All In A</a:t>
            </a:r>
            <a:br>
              <a:rPr lang="en-US" sz="900" b="1" dirty="0">
                <a:solidFill>
                  <a:srgbClr val="C99700"/>
                </a:solidFill>
                <a:latin typeface="Calibri"/>
              </a:rPr>
            </a:br>
            <a:r>
              <a:rPr lang="en-US" sz="900" b="1" dirty="0">
                <a:solidFill>
                  <a:srgbClr val="C99700"/>
                </a:solidFill>
                <a:latin typeface="Calibri"/>
              </a:rPr>
              <a:t>Central Location</a:t>
            </a:r>
            <a:endParaRPr sz="900" b="1" dirty="0">
              <a:solidFill>
                <a:srgbClr val="C99700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DATA</a:t>
            </a:r>
            <a:br>
              <a:rPr dirty="0"/>
            </a:br>
            <a:r>
              <a:rPr dirty="0"/>
              <a:t>PROCESSING</a:t>
            </a:r>
            <a:br>
              <a:rPr dirty="0"/>
            </a:br>
            <a:r>
              <a:rPr lang="en-US" sz="900" b="1" dirty="0">
                <a:solidFill>
                  <a:srgbClr val="C99700"/>
                </a:solidFill>
                <a:latin typeface="Calibri"/>
              </a:rPr>
              <a:t>Clean It Up, Separate Test</a:t>
            </a:r>
            <a:br>
              <a:rPr lang="en-US" sz="900" b="1" dirty="0">
                <a:solidFill>
                  <a:srgbClr val="C99700"/>
                </a:solidFill>
                <a:latin typeface="Calibri"/>
              </a:rPr>
            </a:br>
            <a:r>
              <a:rPr lang="en-US" sz="900" b="1" dirty="0">
                <a:solidFill>
                  <a:srgbClr val="C99700"/>
                </a:solidFill>
                <a:latin typeface="Calibri"/>
              </a:rPr>
              <a:t>Version Vs. Answer Key</a:t>
            </a:r>
            <a:endParaRPr sz="900" b="1" dirty="0">
              <a:solidFill>
                <a:srgbClr val="C99700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ML</a:t>
            </a:r>
            <a:br>
              <a:rPr dirty="0"/>
            </a:br>
            <a:r>
              <a:rPr dirty="0"/>
              <a:t>TRAINING</a:t>
            </a:r>
            <a:br>
              <a:rPr dirty="0"/>
            </a:br>
            <a:r>
              <a:rPr lang="en-US" dirty="0">
                <a:solidFill>
                  <a:srgbClr val="C99700"/>
                </a:solidFill>
              </a:rPr>
              <a:t>Let The Machine Take The</a:t>
            </a:r>
            <a:br>
              <a:rPr lang="en-US" dirty="0">
                <a:solidFill>
                  <a:srgbClr val="C99700"/>
                </a:solidFill>
              </a:rPr>
            </a:br>
            <a:r>
              <a:rPr lang="en-US" dirty="0">
                <a:solidFill>
                  <a:srgbClr val="C99700"/>
                </a:solidFill>
              </a:rPr>
              <a:t>Test And 'Learn'</a:t>
            </a:r>
            <a:endParaRPr dirty="0">
              <a:solidFill>
                <a:srgbClr val="C99700"/>
              </a:solidFill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LLM</a:t>
            </a:r>
            <a:br>
              <a:rPr dirty="0"/>
            </a:br>
            <a:r>
              <a:rPr dirty="0"/>
              <a:t>CLASSIFICATION</a:t>
            </a:r>
            <a:br>
              <a:rPr dirty="0"/>
            </a:br>
            <a:r>
              <a:rPr lang="en-US" dirty="0">
                <a:solidFill>
                  <a:srgbClr val="C99700"/>
                </a:solidFill>
              </a:rPr>
              <a:t>Parallel Look</a:t>
            </a:r>
            <a:br>
              <a:rPr lang="en-US" dirty="0">
                <a:solidFill>
                  <a:srgbClr val="C99700"/>
                </a:solidFill>
              </a:rPr>
            </a:br>
            <a:r>
              <a:rPr lang="en-US" dirty="0">
                <a:solidFill>
                  <a:srgbClr val="C99700"/>
                </a:solidFill>
              </a:rPr>
              <a:t>Using AI</a:t>
            </a:r>
            <a:endParaRPr dirty="0">
              <a:solidFill>
                <a:srgbClr val="C997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WEB</a:t>
            </a:r>
            <a:br>
              <a:rPr dirty="0"/>
            </a:br>
            <a:r>
              <a:rPr dirty="0"/>
              <a:t>APPLICATION</a:t>
            </a:r>
            <a:br>
              <a:rPr dirty="0"/>
            </a:br>
            <a:r>
              <a:rPr lang="en-US" dirty="0">
                <a:solidFill>
                  <a:srgbClr val="C99700"/>
                </a:solidFill>
              </a:rPr>
              <a:t>Human Tailored</a:t>
            </a:r>
            <a:br>
              <a:rPr lang="en-US" dirty="0">
                <a:solidFill>
                  <a:srgbClr val="C99700"/>
                </a:solidFill>
              </a:rPr>
            </a:br>
            <a:r>
              <a:rPr lang="en-US" dirty="0">
                <a:solidFill>
                  <a:srgbClr val="C99700"/>
                </a:solidFill>
              </a:rPr>
              <a:t>Results</a:t>
            </a:r>
            <a:endParaRPr dirty="0">
              <a:solidFill>
                <a:srgbClr val="C997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Regex-based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facilities_keywords</a:t>
            </a:r>
            <a:r>
              <a:rPr dirty="0"/>
              <a:t> and </a:t>
            </a:r>
            <a:r>
              <a:rPr dirty="0" err="1"/>
              <a:t>research_keywords</a:t>
            </a:r>
            <a:r>
              <a:rPr dirty="0"/>
              <a:t>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text_length</a:t>
            </a:r>
            <a:r>
              <a:rPr dirty="0"/>
              <a:t>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•  </a:t>
            </a:r>
            <a:r>
              <a:rPr dirty="0" err="1"/>
              <a:t>budget_mentioned</a:t>
            </a:r>
            <a:r>
              <a:rPr dirty="0"/>
              <a:t> and </a:t>
            </a:r>
            <a:r>
              <a:rPr dirty="0" err="1"/>
              <a:t>supervision_count</a:t>
            </a:r>
            <a:r>
              <a:rPr dirty="0"/>
              <a:t> have minimal impact — these appear across many job families and don’t help differentiate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sz="1100" dirty="0">
                <a:solidFill>
                  <a:srgbClr val="2D2D2D"/>
                </a:solidFill>
                <a:latin typeface="Calibri"/>
              </a:rP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73547" y="14143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15740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6297" y="114333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15740"/>
                </a:solidFill>
                <a:latin typeface="Calibri"/>
              </a:defRPr>
            </a:pPr>
            <a:r>
              <a:rPr dirty="0">
                <a:solidFill>
                  <a:srgbClr val="C99700"/>
                </a:solidFill>
              </a:rP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dirty="0"/>
              <a:t>Think of this as a debate between features arguing FOR and AGAINST classifying this position as ‘Administrative Services.’</a:t>
            </a:r>
            <a:endParaRPr lang="en-US" dirty="0"/>
          </a:p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lang="en-US" sz="1100" b="1" dirty="0">
                <a:latin typeface="Calibri"/>
              </a:rPr>
              <a:t>Starting Confidence: </a:t>
            </a:r>
            <a:r>
              <a:rPr lang="en-US" dirty="0"/>
              <a:t>Initial guess based on class distribution. </a:t>
            </a:r>
            <a:r>
              <a:rPr lang="en-US" u="sng" dirty="0"/>
              <a:t>“In my experience…”</a:t>
            </a:r>
            <a:endParaRPr u="sng" dirty="0"/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lang="en-US" b="1" dirty="0">
                <a:solidFill>
                  <a:srgbClr val="FF0000"/>
                </a:solidFill>
              </a:rPr>
              <a:t>Red Features </a:t>
            </a:r>
            <a:r>
              <a:rPr b="1" dirty="0">
                <a:solidFill>
                  <a:srgbClr val="FF0000"/>
                </a:solidFill>
              </a:rPr>
              <a:t>argue IN FAVOR </a:t>
            </a:r>
            <a:r>
              <a:rPr dirty="0"/>
              <a:t>— </a:t>
            </a:r>
            <a:r>
              <a:rPr dirty="0" err="1"/>
              <a:t>healthcare_keywords</a:t>
            </a:r>
            <a:r>
              <a:rPr dirty="0"/>
              <a:t> = 0 (no healthcare terms supports Admin), </a:t>
            </a:r>
            <a:r>
              <a:rPr dirty="0" err="1"/>
              <a:t>supervises_staff</a:t>
            </a:r>
            <a:r>
              <a:rPr dirty="0"/>
              <a:t>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lang="en-US" b="1" dirty="0">
                <a:solidFill>
                  <a:srgbClr val="0070C0"/>
                </a:solidFill>
              </a:rPr>
              <a:t>Blue Features </a:t>
            </a:r>
            <a:r>
              <a:rPr b="1" dirty="0">
                <a:solidFill>
                  <a:srgbClr val="0070C0"/>
                </a:solidFill>
              </a:rPr>
              <a:t>argue AGAINST </a:t>
            </a:r>
            <a:r>
              <a:rPr dirty="0"/>
              <a:t>— </a:t>
            </a:r>
            <a:r>
              <a:rPr dirty="0" err="1"/>
              <a:t>finance_keywords</a:t>
            </a:r>
            <a:r>
              <a:rPr dirty="0"/>
              <a:t> and </a:t>
            </a:r>
            <a:r>
              <a:rPr dirty="0" err="1"/>
              <a:t>receives_supervision</a:t>
            </a:r>
            <a:r>
              <a:rPr dirty="0"/>
              <a:t>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rPr lang="en-US" b="1" dirty="0">
                <a:solidFill>
                  <a:srgbClr val="C99700"/>
                </a:solidFill>
              </a:rPr>
              <a:t>The Final Verdict: </a:t>
            </a:r>
            <a:r>
              <a:rPr dirty="0"/>
              <a:t>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Entering a Position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40441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icture 1 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3861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5113954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1: Paste position description and select classification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1272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icture 2 - Top Result with Recommen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39443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19712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2: Top-ranked match with AI confidence and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Ranked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572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31096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icture 3 -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926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179525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Alternative roles ranked by confidence for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3094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icture 4 - Role 2 - Top 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4126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37934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Second position: different career group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Multi-Position &amp;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29677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icture 5 - Role 2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784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0375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Ranked alternatives for second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25100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icture 6 Clo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2327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3579917"/>
            <a:ext cx="5212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Dual-Method Classification: ML + AI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References &amp; Data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3258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DATA SOURCES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Virginia DHRM  —  dhrm.virginia.gov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56 career group pages, public government data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William &amp; Mary Workday  —  williammary.wd12.myworkdayjobs.com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150 public job postings, no authentication required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CareerOneStop API  —  careeronestop.org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U.S. DOL/ETA salary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29400" y="1325880"/>
            <a:ext cx="296545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rPr dirty="0"/>
              <a:t>TECHNOLOGIES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2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dirty="0"/>
              <a:t>H2O </a:t>
            </a:r>
            <a:r>
              <a:rPr dirty="0" err="1"/>
              <a:t>AutoML</a:t>
            </a:r>
            <a:r>
              <a:rPr dirty="0"/>
              <a:t>  —  docs.h2o.ai</a:t>
            </a:r>
            <a:r>
              <a:rPr lang="en-US" dirty="0"/>
              <a:t>		</a:t>
            </a:r>
            <a:endParaRPr dirty="0"/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dirty="0"/>
              <a:t>Automated machine learning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dirty="0" err="1"/>
              <a:t>LangChain</a:t>
            </a:r>
            <a:r>
              <a:rPr dirty="0"/>
              <a:t>  —  python.langchain.com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dirty="0"/>
              <a:t>Multi-agent orchestration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lang="en-US" dirty="0"/>
              <a:t>Google Gemini API  —  </a:t>
            </a:r>
            <a:r>
              <a:rPr lang="en-US" dirty="0" err="1"/>
              <a:t>ai.google.dev</a:t>
            </a:r>
            <a:endParaRPr lang="en-US" dirty="0"/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lang="en-US" dirty="0"/>
              <a:t>LLM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972800" cy="118872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270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7947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REQUIRED ATTRIBUTION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Salary benchmarking data provided by CareerOneStop, sponsored by the U.S. Department of Labor, Employment and Training Administration (USDOL/ETA). This project does not reflect the official position of USDOL/ETA.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17 / 17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2DCF6F-5D62-FC05-DA13-89ED6DB336AA}"/>
              </a:ext>
            </a:extLst>
          </p:cNvPr>
          <p:cNvSpPr txBox="1"/>
          <p:nvPr/>
        </p:nvSpPr>
        <p:spPr>
          <a:xfrm>
            <a:off x="9391650" y="1510303"/>
            <a:ext cx="2400300" cy="1741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  <a:endParaRPr dirty="0"/>
          </a:p>
          <a:p>
            <a:pPr>
              <a:spcBef>
                <a:spcPts val="400"/>
              </a:spcBef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lang="en-US" dirty="0"/>
              <a:t>SHAP  —  shap.readthedocs.io</a:t>
            </a:r>
          </a:p>
          <a:p>
            <a:pPr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lang="en-US" dirty="0"/>
              <a:t>ML explainability</a:t>
            </a:r>
          </a:p>
          <a:p>
            <a:pPr>
              <a:spcBef>
                <a:spcPts val="400"/>
              </a:spcBef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lang="en-US" dirty="0" err="1"/>
              <a:t>Streamlit</a:t>
            </a:r>
            <a:r>
              <a:rPr lang="en-US" dirty="0"/>
              <a:t>  —  streamlit.io</a:t>
            </a:r>
          </a:p>
          <a:p>
            <a:pPr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lang="en-US" dirty="0"/>
              <a:t>Web application framework</a:t>
            </a:r>
          </a:p>
          <a:p>
            <a:pPr>
              <a:spcBef>
                <a:spcPts val="400"/>
              </a:spcBef>
              <a:defRPr sz="1300" b="1">
                <a:solidFill>
                  <a:srgbClr val="2D2D2D"/>
                </a:solidFill>
                <a:latin typeface="Calibri"/>
              </a:defRPr>
            </a:pPr>
            <a:r>
              <a:rPr lang="en-US" dirty="0" err="1"/>
              <a:t>SQLAlchemy</a:t>
            </a:r>
            <a:r>
              <a:rPr lang="en-US" dirty="0"/>
              <a:t>  —  sqlalchemy.org</a:t>
            </a:r>
          </a:p>
          <a:p>
            <a:pPr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rPr lang="en-US" dirty="0"/>
              <a:t>Database ORM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2195</Words>
  <Application>Microsoft Office PowerPoint</Application>
  <PresentationFormat>Widescreen</PresentationFormat>
  <Paragraphs>381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Alvarado, Steven</cp:lastModifiedBy>
  <cp:revision>8</cp:revision>
  <dcterms:created xsi:type="dcterms:W3CDTF">2013-01-27T09:14:16Z</dcterms:created>
  <dcterms:modified xsi:type="dcterms:W3CDTF">2026-04-12T23:26:27Z</dcterms:modified>
  <cp:category/>
</cp:coreProperties>
</file>