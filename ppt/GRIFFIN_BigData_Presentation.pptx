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5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700"/>
                </a:solidFill>
                <a:latin typeface="Calibri"/>
              </a:defRPr>
            </a:pPr>
            <a:r>
              <a:t>GRIFFIN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HR Position Classification &amp; Pay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39620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William &amp; Mary  |  Mason School of Business</a:t>
            </a:r>
          </a:p>
          <a:p>
            <a:pPr algn="ctr"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CCDDCC"/>
                </a:solidFill>
                <a:latin typeface="Calibri"/>
              </a:defRPr>
            </a:pPr>
            <a:r>
              <a:t>BUAD 5722 — Big Data Analytics  |  Spring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754880"/>
            <a:ext cx="6705295" cy="1188720"/>
          </a:xfrm>
          <a:prstGeom prst="roundRect">
            <a:avLst>
              <a:gd name="adj" fmla="val 5000"/>
            </a:avLst>
          </a:prstGeom>
          <a:solidFill>
            <a:srgbClr val="0D4432"/>
          </a:solidFill>
          <a:ln w="12700">
            <a:solidFill>
              <a:srgbClr val="C9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846320"/>
            <a:ext cx="6339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9700"/>
                </a:solidFill>
                <a:latin typeface="Calibri"/>
              </a:defRPr>
            </a:pPr>
            <a:r>
              <a:t>TEAM 7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Steven Alvarado  |  Anmol  |  Brynn  |  Jhei-R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William &amp; Mary’s HR is under resourced and struggle to meet classification and compensation setting for current vacancies as well as periodically updating existing positions. These position descriptions must be classified against 500+ position descriptions into Virginia DHRM career groups and pay bands, translated to W&amp;M’s pay scale, and must be competitive enough to attract high quality applicants.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Manual classification is time-intensive and inconsistent across reviewers.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GRIFFIN — an AI-powered classification &amp; pay setting recommendation system combining: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Traditional ML (H2O AutoML) for pattern-based matching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Agentic AI (LangChain + Gemini) for explainable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Providing HR personnel ranked recommendations with rationale for human review.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Multi-method approach ensures both accuracy and transparency.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SCOPE &amp;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End-to-end batch analytics pipeline: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56 career groups classified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294 roles mapped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103 position descriptions processed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80 ML models trained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acquisition → ML training → interactive Streamlit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56 Career Groups   |   294 Roles   |   103 Positions   |   80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60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952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DHRM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dhrm.virginia.gov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56 career group pages scraped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50 HTML + 6 PDF documents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Rate-limited (1.5s delays)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Cached locally for 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BeautifulSoup, pdfplumber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48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4136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136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428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W&amp;M WORKDAY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428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workday.wm.edu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150 job postings extracted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103 staff positions retained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47 faculty records excluded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Full position descriptions 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requests, HTML parsing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24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3612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CAREERONESTOP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04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careeronestop.org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756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Virginia salary benchmarks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REST API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Classification validation data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SOC code cross-references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REST API, JSON parsing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1109441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PIPELINE:  Web Scrape  →  Parse HTML/PDF  →  Extract Career Group Definitions  →  SQLAlchemy 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99700"/>
                </a:solidFill>
                <a:latin typeface="Calibri"/>
              </a:defRPr>
            </a:pPr>
            <a:r>
              <a:t>SQLite local  |  Cloud SQL deployment-ready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Technology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37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COLLECTION</a:t>
            </a:r>
            <a:br/>
            <a:r>
              <a:t>(Classification Categories,</a:t>
            </a:r>
            <a:br/>
            <a:r>
              <a:t>Codes, Pay Bands, etc.)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BeautifulSoup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requests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pdfplumber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CareerOneStop</a:t>
            </a:r>
            <a:br/>
            <a:r>
              <a:t>REST API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365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3824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824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STORAGE</a:t>
            </a:r>
            <a:br/>
            <a:r>
              <a:t>(Put it all in a</a:t>
            </a:r>
            <a:br/>
            <a:r>
              <a:t>central location)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824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968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SQLAlchemy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SQLite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(Cloud SQL</a:t>
            </a:r>
            <a:br/>
            <a:r>
              <a:t>ready)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817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276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276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PROCESSING</a:t>
            </a:r>
            <a:br/>
            <a:r>
              <a:t>(Clean it up, Separate test</a:t>
            </a:r>
            <a:br/>
            <a:r>
              <a:t>version vs. answer key)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76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420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pandas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regex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Custom censoring</a:t>
            </a:r>
            <a:br/>
            <a:r>
              <a:t>pipeline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  <a:br/>
            <a:r>
              <a:t>TRAINING</a:t>
            </a:r>
            <a:br/>
            <a:r>
              <a:t>(Let the Machine take the</a:t>
            </a:r>
            <a:br/>
            <a:r>
              <a:t>test and 'learn')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872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H2O AutoML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80 models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GBM best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SHAP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9721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180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80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LLM</a:t>
            </a:r>
            <a:br/>
            <a:r>
              <a:t>CLASSIFICATION</a:t>
            </a:r>
            <a:br/>
            <a:r>
              <a:t>(Parallel look</a:t>
            </a:r>
            <a:br/>
            <a:r>
              <a:t>using AI)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180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24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LangChain agents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Google Gemini</a:t>
            </a:r>
            <a:br/>
            <a:r>
              <a:t>2.5 Flash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3 custom tools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77173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363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63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WEB</a:t>
            </a:r>
            <a:br/>
            <a:r>
              <a:t>APPLICATION</a:t>
            </a:r>
            <a:br/>
            <a:r>
              <a:t>(Human tailored</a:t>
            </a:r>
            <a:br/>
            <a:r>
              <a:t>results)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63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277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Streamlit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W&amp;M branding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Interactive</a:t>
            </a:r>
            <a:br/>
            <a:r>
              <a:t>classification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4632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9204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A5A"/>
                </a:solidFill>
                <a:latin typeface="Calibri"/>
              </a:defRPr>
            </a:pPr>
            <a:r>
              <a:t>GCP Cloud SQL deployment-ready  —  local SQLite for development, Cloud SQL for production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15 engineered features from 103 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TF-IDF text vectorization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Keyword frequency extraction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Document length metrics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Domain-specific term detection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scikit-learn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CENSORING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30+ skip patterns ensure clean training data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JP codes (job profile IDs)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Compensation grades (S/H codes)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ranges &amp; dollar amounts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EEO boilerplate text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Job requisition IDs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regex, custom censoring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prevents data leakage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Without censoring, models memorize classification codes rather than learning from position duties.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[Like a student looking at the answer key before trying the problem]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Models that rely on leaked labels: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Look perfect in training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Fail completely in production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forces genuine learning from job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103 PDs  →  Censoring (30+ patterns)  →  Feature Engineering (15 features)  →  Training-Ready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H2O AutoML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80 models trained via automated machine learning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Best model: GBM with learning rate annealing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5-fold stratified cross-validation (due to small ~150 posted jobs)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15 engineered features from Notebook 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100 training rows (3 Unknown class dropped)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Class imbalance: 55 Admin vs 3–4 smallest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ML correctly identifies occupational family;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correct role typically appears in top 2–3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AI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12967" y="118872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PERFORMANCE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1567" y="182880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Overall Accuracy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|  90% Top-3  |  0.54 Macro F1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Per-Class Accuracy by Job Family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5A5A5A"/>
                </a:solidFill>
                <a:latin typeface="Calibri"/>
              </a:defRPr>
            </a:pPr>
            <a:r>
              <a:t>F1 Score = balance between catching all correct matches and avoiding false matches (1.0 = perfect, 0.0 = never correct)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Administrative Services:  0.79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Natural Resources:  0.82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Public Safety:  0.75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Trades &amp; Operations:  0.71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Strong performance on well-represented classes;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class imbalance limits underrepresented groups.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LLM / AI Language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Teaching computers to read and classify job descriptions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LangChain multi-agent 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8 components total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3 Specialized Agents: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Pay Matcher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Orchestrator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Orchestrator delegates tasks to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specialized sub-agents in sequence.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LLM: Google Gemini 2.5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TOOL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5 integrated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3 Custom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search_career_groups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search_roles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match_pay_band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2 External APIs: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CareerOneStop API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(salary benchmarks)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Tavily web search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(supplemental research)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AGENTIC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Analyzes duties against DHRM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compensable factors (Complexity,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Results, Accountability)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Tool Use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Queries DHRM database, external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APIs for classification evidence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Reflection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Generates explanation narratives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 caveats and confidence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Dual-Method:  ML predicts occupational family (instant, local)  |  Gemini AI provides specific role matching with explainable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9700"/>
                </a:solidFill>
                <a:latin typeface="Calibri"/>
              </a:defRPr>
            </a:pPr>
            <a:r>
              <a:t>Fast Mode (ML only)  and  Full Analysis (ML + AI)  give users control over speed vs.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What Drives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Which features of a job description most influence how the model classifies it?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4114800" cy="5029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3500" cy="4754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3611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facilities_keywords and research_keywords are the strongest signals — PDs mentioning these terms are most clearly distinguished between job families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text_length matters — longer, more detailed position descriptions give the model more information to work with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budget_mentioned and supervision_count have minimal impact — these appear across many job families and don’t help differentiate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5A5A5A"/>
                </a:solidFill>
                <a:latin typeface="Calibri"/>
              </a:defRPr>
            </a:pPr>
            <a:r>
              <a:t>•  Each color represents one of the 7 occupational families. The total bar length shows overall influence — longer bars mean the model relies more heavily on that feature when making its classification decision.</a:t>
            </a:r>
          </a:p>
        </p:txBody>
      </p:sp>
      <p:pic>
        <p:nvPicPr>
          <p:cNvPr id="9" name="Picture 8" descr="cell19_outpu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042" y="1417320"/>
            <a:ext cx="536901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How One Classification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Tracing the model’s reasoning for a single Administrative Services position</a:t>
            </a:r>
          </a:p>
        </p:txBody>
      </p:sp>
      <p:pic>
        <p:nvPicPr>
          <p:cNvPr id="5" name="Picture 4" descr="cell20_outpu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17320"/>
            <a:ext cx="10058400" cy="21293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526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Starting Confidence: 55%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2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Final Confidence: 71%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6682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03842"/>
            <a:ext cx="63500" cy="2468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384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READING THIS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3882"/>
            <a:ext cx="1054577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Think of this as a debate between features arguing FOR and AGAINST classifying this position as ‘Administrative Services.’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Red features argue IN FAVOR — healthcare_keywords = 0 (no healthcare terms supports Admin), supervises_staff = 1 (supervision duties are common in Admin roles). These push the confidence UP from 55% toward 71%.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Blue features argue AGAINST — finance_keywords and receives_supervision suggest this could be Financial Services instead. These push the confidence DOWN.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The final verdict: 71% confidence in Administrative Services — the ‘for’ arguments outweigh the ‘against.’ This is explainable AI: every classification traces back to specific, auditable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Streamlit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200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LIVE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Tested with 4–5 live W&amp;M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Fast Mode: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Instant ML prediction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Zero API cost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model runs locally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AI confidence scores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Explainable reasoning narrative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CLASSIFICATION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Both modes return: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 group recommendation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W&amp;M pay grade estimate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 from DHRM bands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 adds: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scores +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career group match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explorer sidebar: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Browse 56 groups, 294 roles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recommends, HR decides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The tool never auto-submits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classifications or writes to any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system.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professionals evaluate: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percentage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Classification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augments HR expertise —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it does not replace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Tested with Live W&amp;M Positions  |  Fast Mode (ML only, zero cost)  |  Full Analysis (ML + AI, ranked matches)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Findings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Model Selection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15740"/>
                </a:solidFill>
                <a:latin typeface="Calibri"/>
              </a:defRPr>
            </a:pPr>
            <a:r>
              <a:t>80 models evaluated  →  GBM best performer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Accuracy Tiers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 |   86% Top-2   |   90% Top-3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400" b="1">
                <a:solidFill>
                  <a:srgbClr val="1A7A5A"/>
                </a:solidFill>
                <a:latin typeface="Calibri"/>
              </a:defRPr>
            </a:pPr>
            <a:r>
              <a:t>Macro F1: 0.54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Strong:  Admin Services (0.79)  |  Natural Resources (0.82)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C0392B"/>
                </a:solidFill>
                <a:latin typeface="Calibri"/>
              </a:defRPr>
            </a:pPr>
            <a:r>
              <a:t>Weak:  Engineering (0.00 — only 4 training examples)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Real-World Testing Observations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ML and AI sometimes disagree — by design.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Disagreement flags boundary positions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warranting human review.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Salary estimates can exceed posted salary —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may indicate positions undersold relative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to DHRM band midpoints.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Correct classification consistently in top 3.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H2O runs locally (zero API cost); Gemini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adds role-specific detail when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9496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Ethical Reflection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660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1. PUBLIC DATA ETHICS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60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Rate-limited scraping (1.5s delays) of public</a:t>
            </a:r>
            <a:br/>
            <a:r>
              <a:t>government DHRM data. Cached locally so each</a:t>
            </a:r>
            <a:br/>
            <a:r>
              <a:t>URL fetched at most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136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2. CLASSIFICATION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103 PDs with heavy class imbalance acknowledged.</a:t>
            </a:r>
            <a:br/>
            <a:r>
              <a:t>Stratified CV preserves proportions.</a:t>
            </a:r>
            <a:br/>
            <a:r>
              <a:t>Model framed as advisory, not deterministic.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612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3.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612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AI recommends, HR decides. Never auto-submits.</a:t>
            </a:r>
            <a:br/>
            <a:r>
              <a:t>Confidence scores + reasoning narratives</a:t>
            </a:r>
            <a:br/>
            <a:r>
              <a:t>enable informed professional judgment.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60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A5A"/>
                </a:solidFill>
                <a:latin typeface="Calibri"/>
              </a:defRPr>
            </a:pPr>
            <a:r>
              <a:t>4. LLM TRANSPARENCY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60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Step-by-step reasoning narratives, not black-box.</a:t>
            </a:r>
            <a:br/>
            <a:r>
              <a:t>Auditable 8-component agent pipeline.</a:t>
            </a:r>
            <a:br/>
            <a:r>
              <a:t>Every classification is explainable.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48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136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5. DATA 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Censoring pipeline removes all PII, JP codes,</a:t>
            </a:r>
            <a:br/>
            <a:r>
              <a:t>comp grades, salary data before ML training.</a:t>
            </a:r>
            <a:br/>
            <a:r>
              <a:t>No personally identifiable information in pipeline.</a:t>
            </a:r>
            <a:br/>
            <a:r>
              <a:t>Since we do not have current PDs, future training</a:t>
            </a:r>
            <a:br/>
            <a:r>
              <a:t>data MUST be sanitized before being provided.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324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6. API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.env excluded from git via .gitignore.</a:t>
            </a:r>
            <a:br/>
            <a:r>
              <a:t>Credentials loaded via python-dotenv.</a:t>
            </a:r>
            <a:br/>
            <a:r>
              <a:t>No API keys hardcoded in source files.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Ethics integrated as engineering decisions — not a separate compliance exercise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5740"/>
                </a:solidFill>
                <a:latin typeface="Calibri"/>
              </a:defRPr>
            </a:pPr>
            <a:r>
              <a:t>GCP Cloud SQL Deployment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Deployment-ready schema exists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SQLAlchemy ORM migration path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Local SQLite → Cloud SQL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Performance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Cloud deployment eliminates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H2O JVM startup time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First-run performance gain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Production Readiness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Containerized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DATA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Proprietary Data Integration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Connect to W&amp;M HR systems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departments' PDs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 beyond 103 training rows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Class Imbalance Mitigation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counterbalance weights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More PDs for underrepresented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career 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AGENT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A5A"/>
                </a:solidFill>
                <a:latin typeface="Calibri"/>
              </a:defRPr>
            </a:pPr>
            <a:r>
              <a:t>Enhanced Tool Ecosystem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classification tools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Conversation memory for multi-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turn classification sessions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Model Improvements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Fine-tuned embeddings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Expanded training corpora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Ensemble ML + LLM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7A5A"/>
                </a:solidFill>
                <a:latin typeface="Calibri"/>
              </a:defRPr>
            </a:pPr>
            <a:r>
              <a:t>GCP Cloud SQL deployment-ready  —  schema exists, migration path 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5760720"/>
            <a:ext cx="48764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15740"/>
                </a:solidFill>
                <a:latin typeface="Calibri"/>
              </a:defRPr>
            </a:pPr>
            <a:r>
              <a:t>Thank You  |  Team 7  |  BUAD 5722 Big Data Analytics  |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