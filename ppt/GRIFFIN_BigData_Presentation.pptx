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57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99700"/>
                </a:solidFill>
                <a:latin typeface="Calibri"/>
              </a:defRPr>
            </a:pPr>
            <a:r>
              <a:t>GRIFFIN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2800" b="0">
                <a:solidFill>
                  <a:srgbClr val="FFFFFF"/>
                </a:solidFill>
                <a:latin typeface="Calibri"/>
              </a:defRPr>
            </a:pPr>
            <a:r>
              <a:t>HR Position Classification &amp; Pay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108960"/>
            <a:ext cx="39620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William &amp; Mary  |  Mason School of Business</a:t>
            </a:r>
          </a:p>
          <a:p>
            <a:pPr algn="ctr">
              <a:spcBef>
                <a:spcPts val="1000"/>
              </a:spcBef>
              <a:spcAft>
                <a:spcPts val="200"/>
              </a:spcAft>
              <a:defRPr sz="1600" b="0">
                <a:solidFill>
                  <a:srgbClr val="CCDDCC"/>
                </a:solidFill>
                <a:latin typeface="Calibri"/>
              </a:defRPr>
            </a:pPr>
            <a:r>
              <a:t>BUAD 5722 — Big Data Analytics  |  Spring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4754880"/>
            <a:ext cx="6705295" cy="1188720"/>
          </a:xfrm>
          <a:prstGeom prst="roundRect">
            <a:avLst>
              <a:gd name="adj" fmla="val 5000"/>
            </a:avLst>
          </a:prstGeom>
          <a:solidFill>
            <a:srgbClr val="0D4432"/>
          </a:solidFill>
          <a:ln w="12700">
            <a:solidFill>
              <a:srgbClr val="C99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4846320"/>
            <a:ext cx="6339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99700"/>
                </a:solidFill>
                <a:latin typeface="Calibri"/>
              </a:defRPr>
            </a:pPr>
            <a:r>
              <a:t>TEAM 7</a:t>
            </a:r>
          </a:p>
          <a:p>
            <a:pPr algn="ctr">
              <a:spcBef>
                <a:spcPts val="800"/>
              </a:spcBef>
              <a:spcAft>
                <a:spcPts val="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Steven Alvarado  |  Anmol Motwani  |  JR Jones  |  Brynn Vetrano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Project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William &amp; Mary’s HR is under resourced and struggle to meet classification and compensation setting for current vacancies as well as periodically updating existing positions. These position descriptions must be classified against 500+ position descriptions into Virginia DHRM career groups and pay bands, translated to W&amp;M’s pay scale, and must be competitive enough to attract high quality applicants.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Manual classification is time-intensive and inconsistent across reviewers.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GRIFFIN — an AI-powered classification &amp; pay setting recommendation system combining: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Traditional ML (H2O AutoML) for pattern-based matching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Agentic AI (LangChain + Gemini) for explainable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Providing HR personnel ranked recommendations with rationale for human review.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Multi-method approach ensures both accuracy and transparency.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SCOPE &amp; SCALE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End-to-end batch analytics pipeline: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56 career groups classified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294 roles mapped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103 position descriptions processed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80 ML models trained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acquisition → ML training → interactive Streamlit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56 Career Groups   |   294 Roles   |   103 Positions   |   80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660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952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DHRM WEBSITE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952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dhrm.virginia.gov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56 career group pages scraped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50 HTML + 6 PDF documents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Rate-limited (1.5s delays)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Cached locally for reprocessing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660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BeautifulSoup, pdfplumber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48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4136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136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428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W&amp;M WORKDAY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428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workday.wm.edu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80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150 job postings extracted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103 staff positions retained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47 faculty records excluded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Full position descriptions captured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6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requests, HTML parsing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3247" y="1188720"/>
            <a:ext cx="3474720" cy="329184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6127" y="1371600"/>
            <a:ext cx="365760" cy="365760"/>
          </a:xfrm>
          <a:prstGeom prst="roundRect">
            <a:avLst>
              <a:gd name="adj" fmla="val 5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13716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9047" y="1325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CAREERONESTOP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39047" y="1600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5A5A"/>
                </a:solidFill>
                <a:latin typeface="Calibri"/>
              </a:defRPr>
            </a:pPr>
            <a:r>
              <a:t>careeronestop.org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27567" y="2011680"/>
            <a:ext cx="2926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Virginia salary benchmarks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REST API integration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Classification validation data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 SOC code cross-references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6127" y="3977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A7A5A"/>
                </a:solidFill>
                <a:latin typeface="Calibri"/>
              </a:defRPr>
            </a:pPr>
            <a:r>
              <a:t>REST API, JSON parsing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754880"/>
            <a:ext cx="1109441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9204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PIPELINE:  Web Scrape  →  Parse HTML/PDF  →  Extract Career Group Definitions  →  SQLAlchemy 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30352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99700"/>
                </a:solidFill>
                <a:latin typeface="Calibri"/>
              </a:defRPr>
            </a:pPr>
            <a:r>
              <a:t>SQLite local  |  Cloud SQL deployment-ready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Technology &amp;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6576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COLLECTION</a:t>
            </a:r>
            <a:br/>
            <a:r>
              <a:t>(Classification Categories,</a:t>
            </a:r>
            <a:br/>
            <a:r>
              <a:t>Codes, Pay Bands, etc.)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51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BeautifulSoup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requests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pdfplumber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CareerOneStop</a:t>
            </a:r>
            <a:br/>
            <a:r>
              <a:t>REST API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7365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3824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3824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STORAGE</a:t>
            </a:r>
            <a:br/>
            <a:r>
              <a:t>(Put it all in a</a:t>
            </a:r>
            <a:br/>
            <a:r>
              <a:t>central location)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824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968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SQLAlchemy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SQLite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(Cloud SQL</a:t>
            </a:r>
            <a:br/>
            <a:r>
              <a:t>ready)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4817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1276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1276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DATA</a:t>
            </a:r>
            <a:br/>
            <a:r>
              <a:t>PROCESSING</a:t>
            </a:r>
            <a:br/>
            <a:r>
              <a:t>(Clean it up, Separate test</a:t>
            </a:r>
            <a:br/>
            <a:r>
              <a:t>version vs. answer key)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76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420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pandas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regex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Custom censoring</a:t>
            </a:r>
            <a:br/>
            <a:r>
              <a:t>pipeline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2269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8728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ML</a:t>
            </a:r>
            <a:br/>
            <a:r>
              <a:t>TRAINING</a:t>
            </a:r>
            <a:br/>
            <a:r>
              <a:t>(Let the Machine take the</a:t>
            </a:r>
            <a:br/>
            <a:r>
              <a:t>test and 'learn')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872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H2O AutoML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80 models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GBM best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SHAP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89721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180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180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LLM</a:t>
            </a:r>
            <a:br/>
            <a:r>
              <a:t>CLASSIFICATION</a:t>
            </a:r>
            <a:br/>
            <a:r>
              <a:t>(Parallel look</a:t>
            </a:r>
            <a:br/>
            <a:r>
              <a:t>using AI)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180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5324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LangChain agents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Google Gemini</a:t>
            </a:r>
            <a:br/>
            <a:r>
              <a:t>2.5 Flash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3 custom tools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771735" y="1874520"/>
            <a:ext cx="146304" cy="182880"/>
          </a:xfrm>
          <a:prstGeom prst="rightArrow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936327" y="1280160"/>
            <a:ext cx="1691640" cy="1371600"/>
          </a:xfrm>
          <a:prstGeom prst="roundRect">
            <a:avLst>
              <a:gd name="adj" fmla="val 10000"/>
            </a:avLst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36327" y="1371600"/>
            <a:ext cx="1691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WEB</a:t>
            </a:r>
            <a:br/>
            <a:r>
              <a:t>APPLICATION</a:t>
            </a:r>
            <a:br/>
            <a:r>
              <a:t>(Human tailored</a:t>
            </a:r>
            <a:br/>
            <a:r>
              <a:t>results)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36327" y="2743200"/>
            <a:ext cx="1691640" cy="17373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27767" y="2834640"/>
            <a:ext cx="1508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Streamlit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W&amp;M branding</a:t>
            </a:r>
          </a:p>
          <a:p>
            <a:pPr algn="ctr"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Interactive</a:t>
            </a:r>
            <a:br/>
            <a:r>
              <a:t>classification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84632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9204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12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A5A5A"/>
                </a:solidFill>
                <a:latin typeface="Calibri"/>
              </a:defRPr>
            </a:pPr>
            <a:r>
              <a:t>GCP Cloud SQL deployment-ready  —  local SQLite for development, Cloud SQL for production scale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Data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FEATURE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15 engineered features from 103 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Regex-based keyword frequency extraction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Document length metrics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Domain-specific term detection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CENSORING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30+ skip patterns ensure clean training data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JP codes (job profile IDs)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Compensation grades (S/H codes)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ranges &amp; dollar amounts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EEO boilerplate text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Job requisition IDs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Tools: pandas, regex, custom censoring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prevents data leakage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Without censoring, models memorize classification codes rather than learning from position duties.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[Like a student looking at the answer key before trying the problem]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Models that rely on leaked labels: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Look perfect in training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Fail completely in production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Censoring forces genuine learning from job content.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103 PDs  →  Censoring (30+ patterns)  →  Feature Engineering (15 features)  →  Training-Ready Dataset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Machine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02920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H2O AutoML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80 models trained via automated machine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Best model: GBM with learning rate annealing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5-fold stratified cross-validation (due to small ~150 posted jobs)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15 engineered features from Notebook 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100 training rows (3 Unknown class dropped)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Class imbalance: 55 Admin vs 3–4 smallest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correctly identifies occupational family;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correct role typically appears in top 2–3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AI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12967" y="118872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41567" y="13716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PERFORMANCE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41567" y="1828800"/>
            <a:ext cx="52120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Overall Accuracy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|  90% Top-3  |  0.54 Macro F1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Per-Class Accuracy by Job Family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1000" b="0">
                <a:solidFill>
                  <a:srgbClr val="5A5A5A"/>
                </a:solidFill>
                <a:latin typeface="Calibri"/>
              </a:defRPr>
            </a:pPr>
            <a:r>
              <a:t>F1 Score = balance between catching all correct matches and avoiding false matches (1.0 = perfect, 0.0 = never correct)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Administrative Services:  0.79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Natural Resources:  0.82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Public Safety:  0.75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 Trades &amp; Operations:  0.71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Strong performance on well-represented classes;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class imbalance limits underrepresented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LLM / AI Language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Teaching computers to read and classify job descriptions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AGENT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LangChain multi-agent 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8 components total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3 Specialized Agents: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Pay Matcher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Orchestrator Agent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Orchestrator delegates tasks to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specialized sub-agents in sequence.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LLM: Google Gemini 2.5 Flash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848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TOOL ECOSYSTEM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708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5 integrated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3 Custom Tools: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search_career_groups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search_roles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match_pay_band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2 External APIs: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CareerOneStop API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(salary benchmarks)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Tavily web search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(supplemental research)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3247" y="1188720"/>
            <a:ext cx="3474720" cy="43891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AGENTIC ELEMENTS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1847" y="1828800"/>
            <a:ext cx="3017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Analyzes duties against DHRM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compensable factors (Complexity,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Results, Accountability)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Tool Use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Queries DHRM database, external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APIs for classification evidence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Reflection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Generates explanation narratives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with caveats and confidence scores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2D2D"/>
                </a:solidFill>
                <a:latin typeface="Calibri"/>
              </a:defRPr>
            </a:pPr>
            <a:r>
              <a:t>Dual-Method:  ML predicts occupational family (instant, local)  |  Gemini AI provides specific role matching with explainable rationale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99700"/>
                </a:solidFill>
                <a:latin typeface="Calibri"/>
              </a:defRPr>
            </a:pPr>
            <a:r>
              <a:t>Fast Mode (ML only)  and  Full Analysis (ML + AI)  give users control over speed vs. 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What Drives Classification?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Which features of a job description most influence how the model classifies it?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114800" cy="5029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3500" cy="4754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11680"/>
            <a:ext cx="3611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facilities_keywords and research_keywords are the strongest signals — PDs mentioning these terms are most clearly distinguished between job families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text_length matters — longer, more detailed position descriptions give the model more information to work with</a:t>
            </a:r>
          </a:p>
          <a:p>
            <a:pPr algn="l">
              <a:spcBef>
                <a:spcPts val="600"/>
              </a:spcBef>
              <a:spcAft>
                <a:spcPts val="8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•  budget_mentioned and supervision_count have minimal impact — these appear across many job families and don’t help differentiate</a:t>
            </a:r>
          </a:p>
          <a:p>
            <a:pPr algn="l">
              <a:spcBef>
                <a:spcPts val="600"/>
              </a:spcBef>
              <a:spcAft>
                <a:spcPts val="400"/>
              </a:spcAft>
              <a:defRPr sz="1100" b="0">
                <a:solidFill>
                  <a:srgbClr val="5A5A5A"/>
                </a:solidFill>
                <a:latin typeface="Calibri"/>
              </a:defRPr>
            </a:pPr>
            <a:r>
              <a:t>•  Each color represents one of the 7 occupational families. The total bar length shows overall influence — longer bars mean the model relies more heavily on that feature when making its classification decision.</a:t>
            </a:r>
          </a:p>
        </p:txBody>
      </p:sp>
      <p:pic>
        <p:nvPicPr>
          <p:cNvPr id="9" name="Picture 8" descr="cell19_outpu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3042" y="1417320"/>
            <a:ext cx="5369010" cy="5029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SHAP — How One Classification Was Made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A5A5A"/>
                </a:solidFill>
                <a:latin typeface="Calibri"/>
              </a:defRPr>
            </a:pPr>
            <a:r>
              <a:t>Tracing the model’s reasoning for a single Administrative Services position</a:t>
            </a:r>
          </a:p>
        </p:txBody>
      </p:sp>
      <p:pic>
        <p:nvPicPr>
          <p:cNvPr id="5" name="Picture 4" descr="cell20_outpu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417320"/>
            <a:ext cx="10058400" cy="21293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526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Starting Confidence: 55%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10247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Final Confidence: 71%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66682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003842"/>
            <a:ext cx="63500" cy="2468880"/>
          </a:xfrm>
          <a:prstGeom prst="rect">
            <a:avLst/>
          </a:prstGeom>
          <a:solidFill>
            <a:srgbClr val="1157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3842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3882"/>
            <a:ext cx="10545775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Think of this as a debate between features arguing FOR and AGAINST classifying this position as ‘Administrative Services.’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Red features argue IN FAVOR — healthcare_keywords = 0 (no healthcare terms supports Admin), supervises_staff = 1 (supervision duties are common in Admin roles). These push the confidence UP from 55% toward 71%.</a:t>
            </a:r>
          </a:p>
          <a:p>
            <a:pPr algn="l">
              <a:spcBef>
                <a:spcPts val="400"/>
              </a:spcBef>
              <a:spcAft>
                <a:spcPts val="6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Blue features argue AGAINST — finance_keywords and receives_supervision suggest this could be Financial Services instead. These push the confidence DOWN.</a:t>
            </a:r>
          </a:p>
          <a:p>
            <a:pPr algn="l">
              <a:spcBef>
                <a:spcPts val="400"/>
              </a:spcBef>
              <a:spcAft>
                <a:spcPts val="400"/>
              </a:spcAft>
              <a:defRPr sz="1100" b="0">
                <a:solidFill>
                  <a:srgbClr val="2D2D2D"/>
                </a:solidFill>
                <a:latin typeface="Calibri"/>
              </a:defRPr>
            </a:pPr>
            <a:r>
              <a:t>The final verdict: 71% confidence in Administrative Services — the ‘for’ arguments outweigh the ‘against.’ This is explainable AI: every classification traces back to specific, auditable features.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Streamlit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200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LIVE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Tested with 4–5 live W&amp;M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position descriptions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Fast Mode: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Instant ML prediction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Zero API cost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model runs locally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AI confidence scores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Explainable reasoning narrative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CLASSIFICATION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Both modes return: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Career group recommendation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W&amp;M pay grade estimate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Salary range from DHRM bands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Full Analysis adds: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3 ranked role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scores +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career group match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Data explorer sidebar: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Browse 56 groups, 294 roles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411480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recommends, HR decides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The tool never auto-submits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classifications or writes to any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system.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HR professionals evaluate: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Confidence percentage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Classification reasoning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Alternative matches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AI augments HR expertise —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it does not replace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Tested with Live W&amp;M Positions  |  Fast Mode (ML only, zero cost)  |  Full Analysis (ML + AI, ranked matches)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Findings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0944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04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KEY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04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Model Selection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400" b="1">
                <a:solidFill>
                  <a:srgbClr val="115740"/>
                </a:solidFill>
                <a:latin typeface="Calibri"/>
              </a:defRPr>
            </a:pPr>
            <a:r>
              <a:t>80 models evaluated  →  GBM best performer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Accuracy Tiers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500" b="1">
                <a:solidFill>
                  <a:srgbClr val="115740"/>
                </a:solidFill>
                <a:latin typeface="Calibri"/>
              </a:defRPr>
            </a:pPr>
            <a:r>
              <a:t>69% Top-1   |   86% Top-2   |   90% Top-3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spcAft>
                <a:spcPts val="200"/>
              </a:spcAft>
              <a:defRPr sz="1400" b="1">
                <a:solidFill>
                  <a:srgbClr val="1A7A5A"/>
                </a:solidFill>
                <a:latin typeface="Calibri"/>
              </a:defRPr>
            </a:pPr>
            <a:r>
              <a:t>Macro F1: 0.54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Strong:  Admin Services (0.79)  |  Natural Resources (0.82)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C0392B"/>
                </a:solidFill>
                <a:latin typeface="Calibri"/>
              </a:defRPr>
            </a:pPr>
            <a:r>
              <a:t>Weak:  Engineering (0.00 — only 4 training examples)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188720"/>
            <a:ext cx="53035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07327" y="13716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7327" y="182880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5A5A"/>
                </a:solidFill>
                <a:latin typeface="Calibri"/>
              </a:defRPr>
            </a:pPr>
            <a:r>
              <a:t>Real-World Testing Observations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ML and AI sometimes disagree — by design.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Disagreement flags boundary positions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warranting human review.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Salary estimates can exceed posted salary —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may indicate positions undersold relative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to DHRM band midpoints.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Correct classification consistently in top 3.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2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• H2O runs locally (zero API cost); Gemini</a:t>
            </a:r>
          </a:p>
          <a:p>
            <a:pPr algn="l">
              <a:spcBef>
                <a:spcPts val="100"/>
              </a:spcBef>
              <a:spcAft>
                <a:spcPts val="200"/>
              </a:spcAft>
              <a:defRPr sz="1200" b="0">
                <a:solidFill>
                  <a:srgbClr val="2D2D2D"/>
                </a:solidFill>
                <a:latin typeface="Calibri"/>
              </a:defRPr>
            </a:pPr>
            <a:r>
              <a:t>  adds role-specific detail when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394960"/>
            <a:ext cx="11094415" cy="82296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905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15740"/>
                </a:solidFill>
                <a:latin typeface="Calibri"/>
              </a:defRPr>
            </a:pPr>
            <a:r>
              <a:t>COURSE TOOLS FEATURED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76072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2D2D"/>
                </a:solidFill>
                <a:latin typeface="Calibri"/>
              </a:defRPr>
            </a:pPr>
            <a:r>
              <a:t>H2O AutoML   |   LangChain   |   Gemini API   |   CareerOneStop REST API   |   BeautifulSoup   |   SQLAlchemy   |   Streamlit   |   SHAP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Entering a Position Description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029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404410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1 Prom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38612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5113954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1: Paste position description and select classification mode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12727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2 - Top Result with Recommen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39443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19712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Step 2: Top-ranked match with AI confidence and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Ranked Alternatives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572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31096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3 -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9267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179525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Alternative roles ranked by confidence for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430949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4 - Role 2 - Top 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41266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5379343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Second position: different career group identified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Live Demo — Multi-Position &amp;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54864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46607" y="1051560"/>
            <a:ext cx="5212080" cy="29677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icture 5 - Role 2 second and thi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143000"/>
            <a:ext cx="5029200" cy="2784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6607" y="403758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Ranked alternatives for second position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051560"/>
            <a:ext cx="5212080" cy="25100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cture 6 Clos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143000"/>
            <a:ext cx="5029200" cy="232718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007" y="3579917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A5A5A"/>
                </a:solidFill>
                <a:latin typeface="Calibri"/>
              </a:defRPr>
            </a:pPr>
            <a:r>
              <a:t>Dual-Method Classification: ML + AI transparency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Ethical Reflection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660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1. PUBLIC DATA ETHICS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660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Rate-limited scraping (1.5s delays) of public</a:t>
            </a:r>
            <a:br/>
            <a:r>
              <a:t>government DHRM data. Cached locally so each</a:t>
            </a:r>
            <a:br/>
            <a:r>
              <a:t>URL fetched at most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136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2. CLASSIFICATION BIAS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6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103 PDs with heavy class imbalance acknowledged.</a:t>
            </a:r>
            <a:br/>
            <a:r>
              <a:t>Stratified CV preserves proportions.</a:t>
            </a:r>
            <a:br/>
            <a:r>
              <a:t>Model framed as advisory, not deterministic.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4300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6127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3. HUMAN-IN-THE-LOOP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6127" y="164592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AI recommends, HR decides. Never auto-submits.</a:t>
            </a:r>
            <a:br/>
            <a:r>
              <a:t>Confidence scores + reasoning narratives</a:t>
            </a:r>
            <a:br/>
            <a:r>
              <a:t>enable informed professional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60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7A5A"/>
                </a:solidFill>
                <a:latin typeface="Calibri"/>
              </a:defRPr>
            </a:pPr>
            <a:r>
              <a:t>4. LLM TRANSPARENCY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660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Step-by-step reasoning narratives, not black-box.</a:t>
            </a:r>
            <a:br/>
            <a:r>
              <a:t>Auditable 8-component agent pipeline.</a:t>
            </a:r>
            <a:br/>
            <a:r>
              <a:t>Every classification is explainable.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848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136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99700"/>
                </a:solidFill>
                <a:latin typeface="Calibri"/>
              </a:defRPr>
            </a:pPr>
            <a:r>
              <a:t>5. DATA PRIVACY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136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Censoring pipeline removes all PII, JP codes,</a:t>
            </a:r>
            <a:br/>
            <a:r>
              <a:t>comp grades, salary data before ML training.</a:t>
            </a:r>
            <a:br/>
            <a:r>
              <a:t>No personally identifiable information in pipeline.</a:t>
            </a:r>
            <a:br/>
            <a:r>
              <a:t>Since we do not have current PDs, future training</a:t>
            </a:r>
            <a:br/>
            <a:r>
              <a:t>data MUST be sanitized before being provided.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3247" y="3337560"/>
            <a:ext cx="3474720" cy="201168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270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3474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15740"/>
                </a:solidFill>
                <a:latin typeface="Calibri"/>
              </a:defRPr>
            </a:pPr>
            <a:r>
              <a:t>6. API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38404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t>.env excluded from git via .gitignore.</a:t>
            </a:r>
            <a:br/>
            <a:r>
              <a:t>Credentials loaded via python-dotenv.</a:t>
            </a:r>
            <a:br/>
            <a:r>
              <a:t>No API keys hardcoded in source files.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99700"/>
                </a:solidFill>
                <a:latin typeface="Calibri"/>
              </a:defRPr>
            </a:pPr>
            <a:r>
              <a:t>Ethics integrated as engineering decisions — not a separate compliance exercise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2860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372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32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15740"/>
                </a:solidFill>
                <a:latin typeface="Calibri"/>
              </a:defRPr>
            </a:pPr>
            <a:r>
              <a:t>GCP Cloud SQL Deployment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Deployment-ready schema exists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SQLAlchemy ORM migration path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Local SQLite → Cloud SQL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Performance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Cloud deployment eliminates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H2O JVM startup time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First-run performance gain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15740"/>
                </a:solidFill>
                <a:latin typeface="Calibri"/>
              </a:defRPr>
            </a:pPr>
            <a:r>
              <a:t>Production Readiness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Containerized deployment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848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708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99700"/>
                </a:solidFill>
                <a:latin typeface="Calibri"/>
              </a:defRPr>
            </a:pPr>
            <a:r>
              <a:t>DATA EXPANSION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8708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9700"/>
                </a:solidFill>
                <a:latin typeface="Calibri"/>
              </a:defRPr>
            </a:pPr>
            <a:r>
              <a:t>Proprietary Data Integration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Connect to W&amp;M HR systems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departments' PDs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 beyond 103 training rows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C99700"/>
                </a:solidFill>
                <a:latin typeface="Calibri"/>
              </a:defRPr>
            </a:pPr>
            <a:r>
              <a:t>Class Imbalance Mitigation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H2O counterbalance weights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More PDs for underrepresented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career 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3247" y="1188720"/>
            <a:ext cx="3474720" cy="39319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1847" y="13716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7A5A"/>
                </a:solidFill>
                <a:latin typeface="Calibri"/>
              </a:defRPr>
            </a:pPr>
            <a:r>
              <a:t>AGENT REFINEMENT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1828800"/>
            <a:ext cx="30175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A5A"/>
                </a:solidFill>
                <a:latin typeface="Calibri"/>
              </a:defRPr>
            </a:pPr>
            <a:r>
              <a:t>Enhanced Tool Ecosystem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Additional classification tools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Conversation memory for multi-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  turn classification sessions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1">
                <a:solidFill>
                  <a:srgbClr val="1A7A5A"/>
                </a:solidFill>
                <a:latin typeface="Calibri"/>
              </a:defRPr>
            </a:pPr>
            <a:r>
              <a:t>Model Improvements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Fine-tuned embeddings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Expanded training corpora</a:t>
            </a:r>
          </a:p>
          <a:p>
            <a:pPr algn="l"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• Ensemble ML + LLM scoring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7A5A"/>
                </a:solidFill>
                <a:latin typeface="Calibri"/>
              </a:defRPr>
            </a:pPr>
            <a:r>
              <a:t>GCP Cloud SQL deployment-ready  —  schema exists, migration path defined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5760720"/>
            <a:ext cx="4876495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9788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115740"/>
                </a:solidFill>
                <a:latin typeface="Calibri"/>
              </a:defRPr>
            </a:pPr>
            <a:r>
              <a:t>Thank You  |  Team 7  |  BUAD 5722 Big Data Analytics  |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5740"/>
                </a:solidFill>
                <a:latin typeface="Calibri"/>
              </a:defRPr>
            </a:pPr>
            <a:r>
              <a:t>References &amp; Data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4114800" cy="25400"/>
          </a:xfrm>
          <a:prstGeom prst="rect">
            <a:avLst/>
          </a:prstGeom>
          <a:solidFill>
            <a:srgbClr val="C99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1887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3258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DATA SOURCES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Virginia DHRM  —  dhrm.virginia.gov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56 career group pages, public government data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William &amp; Mary Workday  —  williammary.wd12.myworkdayjobs.com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150 public job postings, no authentication required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CareerOneStop API  —  careeronestop.org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U.S. DOL/ETA salary benchmarks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188720"/>
            <a:ext cx="5303520" cy="219456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3258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TECHNOLOGIES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6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H2O AutoML  —  docs.h2o.ai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Automated machine learning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LangChain  —  python.langchain.com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Multi-agent orchestration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Google Gemini API  —  ai.google.dev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LLM classification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SHAP  —  shap.readthedocs.io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ML explainability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Streamlit  —  streamlit.io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Web application framework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300" b="1">
                <a:solidFill>
                  <a:srgbClr val="2D2D2D"/>
                </a:solidFill>
                <a:latin typeface="Calibri"/>
              </a:defRPr>
            </a:pPr>
            <a:r>
              <a:t>SQLAlchemy  —  sqlalchemy.org</a:t>
            </a:r>
          </a:p>
          <a:p>
            <a:pPr algn="l">
              <a:spcBef>
                <a:spcPts val="0"/>
              </a:spcBef>
              <a:spcAft>
                <a:spcPts val="100"/>
              </a:spcAft>
              <a:defRPr sz="1200" b="0">
                <a:solidFill>
                  <a:srgbClr val="5A5A5A"/>
                </a:solidFill>
                <a:latin typeface="Calibri"/>
              </a:defRPr>
            </a:pPr>
            <a:r>
              <a:t>Database 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10972800" cy="1188720"/>
          </a:xfrm>
          <a:prstGeom prst="roundRect">
            <a:avLst>
              <a:gd name="adj" fmla="val 5000"/>
            </a:avLst>
          </a:prstGeom>
          <a:solidFill>
            <a:srgbClr val="E8F2EE"/>
          </a:solidFill>
          <a:ln w="12700">
            <a:solidFill>
              <a:srgbClr val="1157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794760"/>
            <a:ext cx="10424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REQUIRED ATTRIBUTION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2D2D"/>
                </a:solidFill>
                <a:latin typeface="Calibri"/>
              </a:defRPr>
            </a:pPr>
            <a:r>
              <a:t>Salary benchmarking data provided by CareerOneStop, sponsored by the U.S. Department of Labor, Employment and Training Administration (USDOL/ETA). This project does not reflect the official position of USDOL/ETA.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74920"/>
            <a:ext cx="10972800" cy="731520"/>
          </a:xfrm>
          <a:prstGeom prst="roundRect">
            <a:avLst>
              <a:gd name="adj" fmla="val 5000"/>
            </a:avLst>
          </a:prstGeom>
          <a:solidFill>
            <a:srgbClr val="F5F3EE"/>
          </a:solidFill>
          <a:ln w="19050">
            <a:solidFill>
              <a:srgbClr val="E0DB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18464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5740"/>
                </a:solidFill>
                <a:latin typeface="Calibri"/>
              </a:defRPr>
            </a:pPr>
            <a:r>
              <a:t>RESEARCH PAPER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5A5A5A"/>
                </a:solidFill>
                <a:latin typeface="Calibri"/>
              </a:defRPr>
            </a:pPr>
            <a:r>
              <a:t>[Team will add citation]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5A5A"/>
                </a:solidFill>
                <a:latin typeface="Calibri"/>
              </a:defRPr>
            </a:pPr>
            <a: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