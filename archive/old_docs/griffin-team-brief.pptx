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48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371600" y="3200400"/>
            <a:ext cx="1828800" cy="54864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GRIFFIN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17A2B8"/>
                </a:solidFill>
                <a:latin typeface="Segoe UI"/>
              </a:defRPr>
            </a:pPr>
            <a:r>
              <a:t>Internal Team Brief -- Session 2/3 Update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Segoe UI"/>
              </a:defRPr>
            </a:pPr>
            <a:r>
              <a:t>W&amp;M HR Position Classification &amp; Pay Matching Tool</a:t>
            </a:r>
            <a:br/>
            <a:r>
              <a:t>BUAD 5742 (AI) + BUAD 5722 (Big Data) --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Segoe UI"/>
              </a:defRPr>
            </a:pPr>
            <a:r>
              <a:t>March 31, 2026 | Prepared by Steven Alvarado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What is GRIFFIN?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213E"/>
                </a:solidFill>
                <a:latin typeface="Segoe UI"/>
              </a:defRPr>
            </a:pPr>
            <a:r>
              <a:t>The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GRIFFIN = Government Role Identification and Financial</a:t>
            </a:r>
            <a:br/>
            <a:r>
              <a:t>Framework Integration Network</a:t>
            </a:r>
            <a:br/>
            <a:br/>
            <a:r>
              <a:t>A tool for W&amp;M Human Resources. An HR professional</a:t>
            </a:r>
            <a:br/>
            <a:r>
              <a:t>pastes a stale position description, and the tool returns:</a:t>
            </a:r>
            <a:br/>
            <a:r>
              <a:t>  1. Classification -- which DHRM career group / role level</a:t>
            </a:r>
            <a:br/>
            <a:r>
              <a:t>  2. Pay recommendation -- W&amp;M salary grade (e.g. S15)</a:t>
            </a:r>
            <a:br/>
            <a:r>
              <a:t>  3. Explanation -- narrative reasoning for the match</a:t>
            </a:r>
            <a:br/>
            <a:br/>
            <a:r>
              <a:t>Works with any LLM (Copilot, Gemini, Claude). We provide</a:t>
            </a:r>
            <a:br/>
            <a:r>
              <a:t>the data, prompts, and a Streamlit web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213E"/>
                </a:solidFill>
                <a:latin typeface="Segoe UI"/>
              </a:defRPr>
            </a:pPr>
            <a:r>
              <a:t>Who Cares About This?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7A2B8"/>
                </a:solidFill>
                <a:latin typeface="Segoe UI"/>
              </a:defRPr>
            </a:pPr>
            <a:r>
              <a:t>W&amp;M HR (Chas Ritinski)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The client. Gets Excel files, prompts,</a:t>
            </a:r>
            <a:br/>
            <a:r>
              <a:t>web app, user guide. No coding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7A2B8"/>
                </a:solidFill>
                <a:latin typeface="Segoe UI"/>
              </a:defRPr>
            </a:pPr>
            <a:r>
              <a:t>Prof. Chung -- AI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8803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BUAD 5742. Wants: GitHub repo, poster,</a:t>
            </a:r>
            <a:br/>
            <a:r>
              <a:t>agentic AI demo, research paper.</a:t>
            </a:r>
            <a:br/>
            <a:r>
              <a:t>POSTER: April 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657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7A2B8"/>
                </a:solidFill>
                <a:latin typeface="Segoe UI"/>
              </a:defRPr>
            </a:pPr>
            <a:r>
              <a:t>Prof. Castellanos -- Big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9319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BUAD 5722. Wants: Jupyter pipeline,</a:t>
            </a:r>
            <a:br/>
            <a:r>
              <a:t>Cloud SQL, visualizations, slide deck.</a:t>
            </a:r>
            <a:br/>
            <a:r>
              <a:t>DECK: April 17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572000"/>
            <a:ext cx="1051560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663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C3545"/>
                </a:solidFill>
                <a:latin typeface="Segoe UI"/>
              </a:defRPr>
            </a:pPr>
            <a:r>
              <a:t>MVP vs. Full Scope --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MVP (what we promised the client):</a:t>
            </a:r>
            <a:br/>
            <a:r>
              <a:t>A prompt-based tool like a Gemini Gem.</a:t>
            </a:r>
            <a:br/>
            <a:r>
              <a:t>HR pastes PD -&gt; gets classification + pay + reasoning.</a:t>
            </a:r>
            <a:br/>
            <a:r>
              <a:t>This works TODAY with our reference data + prompt.</a:t>
            </a:r>
            <a:br/>
            <a:r>
              <a:t>NO ML model required.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50292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Full Scope (for course credit):</a:t>
            </a:r>
            <a:br/>
            <a:r>
              <a:t>Three-stage ML+LLM hybrid architecture.</a:t>
            </a:r>
            <a:br/>
            <a:r>
              <a:t>H2O AutoML, SHAP, LangChain multi-agent system.</a:t>
            </a:r>
            <a:br/>
            <a:r>
              <a:t>If timeline forces cuts, we cut from bottom up --</a:t>
            </a:r>
            <a:br/>
            <a:r>
              <a:t>NEVER from the MVP. Client deliverable is sacred.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Where We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286000" cy="10058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Tasks Done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188720"/>
            <a:ext cx="2286000" cy="100584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91840" y="1325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In Progress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88720"/>
            <a:ext cx="2286000" cy="10058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160" y="1325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1188720"/>
            <a:ext cx="2286000" cy="100584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0" y="1325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Blocked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213E"/>
                </a:solidFill>
                <a:latin typeface="Segoe UI"/>
              </a:defRPr>
            </a:pPr>
            <a:r>
              <a:t>What Steven Has Done (Sessions 1-3)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88036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Segoe UI"/>
              </a:defRPr>
            </a:pPr>
            <a:r>
              <a:t>•  WS1 (Session 1) -- Scraped ALL 56 DHRM career groups (50 HTML + 6 PDF). Built SQLite DB + 7 Excel files for client.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Segoe UI"/>
              </a:defRPr>
            </a:pPr>
            <a:r>
              <a:t>•  A1 -- Environment Setup: Conda env "griffin" created (Python 3.11, 16 packages). This is our standard -- use it.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Segoe UI"/>
              </a:defRPr>
            </a:pPr>
            <a:r>
              <a:t>•  A2 -- Workday Scrape: 150 W&amp;M postings fetched via JSON API, 103 staff retained, 47 faculty excluded per client.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Segoe UI"/>
              </a:defRPr>
            </a:pPr>
            <a:r>
              <a:t>•  A3 -- Label Stripping: Classification info removed from PD text. Zero label leakage (7-pattern scan, 15 spot-checks).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Segoe UI"/>
              </a:defRPr>
            </a:pPr>
            <a:r>
              <a:t>•  Quality Control: CQM Three-Phase process on the scrape -- 4 checkpoints, 36 criteria, all passed.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Segoe UI"/>
              </a:defRPr>
            </a:pPr>
            <a:r>
              <a:t>•  Project docs: Kanban, Gantt, task tracker, briefing portal, README, professor email draft (NOT sent yet).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Architecture: Three-Stage ML+LLM Hybrid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291840" cy="201168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Stage 1: ML Shortlist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H2O AutoML on tabular features</a:t>
            </a:r>
            <a:br/>
            <a:r>
              <a:t>Predicts occupational family (7 classes)</a:t>
            </a:r>
            <a:br/>
            <a:r>
              <a:t>Provides quantitative "second opinion"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3400" y="1188720"/>
            <a:ext cx="3291840" cy="20116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Stage 2: LLM Classifier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69164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LangChain agent reads full PD text</a:t>
            </a:r>
            <a:br/>
            <a:r>
              <a:t>Nuanced understanding of duties</a:t>
            </a:r>
            <a:br/>
            <a:r>
              <a:t>LLM-agnostic via init_chat_model()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1188720"/>
            <a:ext cx="3291840" cy="20116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Stage 3: Confidence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69164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Agreement check: ML + LLM agree = high confidence</a:t>
            </a:r>
            <a:br/>
            <a:r>
              <a:t>Disagreement = flag for human review</a:t>
            </a:r>
            <a:br/>
            <a:r>
              <a:t>Fairness guard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3380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33333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5260" y="192024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333333"/>
                </a:solidFill>
                <a:latin typeface="Segoe UI"/>
              </a:defRPr>
            </a:pPr>
            <a: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213E"/>
                </a:solidFill>
                <a:latin typeface="Segoe UI"/>
              </a:defRPr>
            </a:pPr>
            <a:r>
              <a:t>Why both ML and LLM?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Segoe UI"/>
              </a:defRPr>
            </a:pPr>
            <a:r>
              <a:t>Different failure modes. ML fails on novel roles (out-of-distribution). LLMs fail on hallucination and inconsistency. When they agree = high confidence. When they disagree = flag for human review. This covers both blind spots.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846320"/>
            <a:ext cx="1051560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493776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KEY DECISIONS</a:t>
            </a:r>
            <a:br/>
            <a:r>
              <a:t>•  LangChain confirmed as production framework (Prof. Chung, verbal, Mar 30)</a:t>
            </a:r>
            <a:br/>
            <a:r>
              <a:t>•  Assignment 5 integrated as GRIFFIN milestone -- same LangChain backend for PoC + Streamlit</a:t>
            </a:r>
            <a:br/>
            <a:r>
              <a:t>•  Predict family (7 classes) not career group (56) -- better class balance for 103 samples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Three-Stage "Trust But Verify"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1005840"/>
            <a:ext cx="3931920" cy="685800"/>
          </a:xfrm>
          <a:prstGeom prst="roundRect">
            <a:avLst/>
          </a:prstGeom>
          <a:solidFill>
            <a:srgbClr val="4A55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0" y="102412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Position Description (Input)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3258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BD5E0"/>
                </a:solidFill>
                <a:latin typeface="Segoe UI"/>
              </a:defRPr>
            </a:pPr>
            <a:r>
              <a:t>Raw text from HR or W&amp;M Workday posting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691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920240"/>
            <a:ext cx="6309360" cy="594360"/>
          </a:xfrm>
          <a:prstGeom prst="roundRect">
            <a:avLst/>
          </a:prstGeom>
          <a:solidFill>
            <a:srgbClr val="C05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6080" y="1938528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Feature Extraction (LLM-Assisted)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194560"/>
            <a:ext cx="6309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Segoe UI"/>
              </a:defRPr>
            </a:pPr>
            <a:r>
              <a:t>Budget mentions | Supervision level | Domain keywords | Education | Decision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E44AD"/>
                </a:solidFill>
                <a:latin typeface="Segoe UI"/>
              </a:defRPr>
            </a:pPr>
            <a:r>
              <a:t>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5146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7A2B8"/>
                </a:solidFill>
                <a:latin typeface="Segoe UI"/>
              </a:defRPr>
            </a:pPr>
            <a:r>
              <a:t>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788920"/>
            <a:ext cx="5303520" cy="1828800"/>
          </a:xfrm>
          <a:prstGeom prst="round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STAGE 1: ML Shortlist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5303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DDCCEE"/>
                </a:solidFill>
                <a:latin typeface="Segoe UI"/>
              </a:defRPr>
            </a:pPr>
            <a:r>
              <a:t>(Feature-based -- like a credit score pre-screen)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429000"/>
            <a:ext cx="1645920" cy="502920"/>
          </a:xfrm>
          <a:prstGeom prst="roundRect">
            <a:avLst/>
          </a:prstGeom>
          <a:solidFill>
            <a:srgbClr val="553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44728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H2O AutoML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3931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BBEE"/>
                </a:solidFill>
                <a:latin typeface="Segoe UI"/>
              </a:defRPr>
            </a:pPr>
            <a:r>
              <a:t>GBM / RF / Stacking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3429000"/>
            <a:ext cx="2834640" cy="502920"/>
          </a:xfrm>
          <a:prstGeom prst="roundRect">
            <a:avLst/>
          </a:prstGeom>
          <a:solidFill>
            <a:srgbClr val="553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26080" y="34472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Output: Top 3-5 candidate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6393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BBEE"/>
                </a:solidFill>
                <a:latin typeface="Segoe UI"/>
              </a:defRPr>
            </a:pPr>
            <a:r>
              <a:t>career groups + probabilities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4023360"/>
            <a:ext cx="4754880" cy="502920"/>
          </a:xfrm>
          <a:prstGeom prst="roundRect">
            <a:avLst/>
          </a:prstGeom>
          <a:solidFill>
            <a:srgbClr val="553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041648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Interpretability: SHAP (global + local), PDP, Var. Importance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51960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BBEE"/>
                </a:solidFill>
                <a:latin typeface="Segoe UI"/>
              </a:defRPr>
            </a:pPr>
            <a:r>
              <a:t>"Budget responsibility and supervision level drive this shortlist"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788920"/>
            <a:ext cx="5029200" cy="1828800"/>
          </a:xfrm>
          <a:prstGeom prst="round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0" y="2834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STAGE 2: LLM Classification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1089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EEEE"/>
                </a:solidFill>
                <a:latin typeface="Segoe UI"/>
              </a:defRPr>
            </a:pPr>
            <a:r>
              <a:t>(Text-based -- like an underwriter review)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3429000"/>
            <a:ext cx="1371600" cy="5029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5120" y="3447288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LLM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63931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AAAAA"/>
                </a:solidFill>
                <a:latin typeface="Segoe UI"/>
              </a:defRPr>
            </a:pPr>
            <a:r>
              <a:t>Any provider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429000"/>
            <a:ext cx="2834640" cy="502920"/>
          </a:xfrm>
          <a:prstGeom prst="roundRect">
            <a:avLst/>
          </a:prstGeom>
          <a:solidFill>
            <a:srgbClr val="1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21040" y="34472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Output: Classification 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6393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EEEE"/>
                </a:solidFill>
                <a:latin typeface="Segoe UI"/>
              </a:defRPr>
            </a:pPr>
            <a:r>
              <a:t>duty mapping + explanation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0" y="4023360"/>
            <a:ext cx="4480560" cy="502920"/>
          </a:xfrm>
          <a:prstGeom prst="roundRect">
            <a:avLst/>
          </a:prstGeom>
          <a:solidFill>
            <a:srgbClr val="1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5120" y="4041648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Agentic Design: Reasoning -&gt; Tool Use -&gt; Reflection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251960"/>
            <a:ext cx="4480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EEEE"/>
                </a:solidFill>
                <a:latin typeface="Segoe UI"/>
              </a:defRPr>
            </a:pPr>
            <a:r>
              <a:t>"Analyzed 6 duties, mapped to compensable factors, selected best fit"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4617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7A2B8"/>
                </a:solidFill>
                <a:latin typeface="Segoe UI"/>
              </a:defRPr>
            </a:pPr>
            <a:r>
              <a:t>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617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17A2B8"/>
                </a:solidFill>
                <a:latin typeface="Segoe UI"/>
              </a:defRPr>
            </a:pPr>
            <a:r>
              <a:t>▿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28800" y="4846320"/>
            <a:ext cx="8503920" cy="1188720"/>
          </a:xfrm>
          <a:prstGeom prst="roundRect">
            <a:avLst/>
          </a:prstGeom>
          <a:solidFill>
            <a:srgbClr val="2C7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828800" y="487375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STAGE 3: Confidence Scoring + Fairness Check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102352"/>
            <a:ext cx="8503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CCEEEE"/>
                </a:solidFill>
                <a:latin typeface="Segoe UI"/>
              </a:defRPr>
            </a:pPr>
            <a:r>
              <a:t>(Audit layer -- like a compliance review)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286000" y="5349240"/>
            <a:ext cx="2286000" cy="594360"/>
          </a:xfrm>
          <a:prstGeom prst="roundRect">
            <a:avLst/>
          </a:prstGeom>
          <a:solidFill>
            <a:srgbClr val="235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86000" y="536752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Agreement 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55595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EEEE"/>
                </a:solidFill>
                <a:latin typeface="Segoe UI"/>
              </a:defRPr>
            </a:pPr>
            <a:r>
              <a:t>ML shortlist contains</a:t>
            </a:r>
            <a:br/>
            <a:r>
              <a:t>LLM pick? -&gt; confidence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0" y="5349240"/>
            <a:ext cx="2286000" cy="594360"/>
          </a:xfrm>
          <a:prstGeom prst="roundRect">
            <a:avLst/>
          </a:prstGeom>
          <a:solidFill>
            <a:srgbClr val="235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0" y="536752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SHAP Local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0" y="55595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EEEE"/>
                </a:solidFill>
                <a:latin typeface="Segoe UI"/>
              </a:defRPr>
            </a:pPr>
            <a:r>
              <a:t>Per-classification</a:t>
            </a:r>
            <a:br/>
            <a:r>
              <a:t>explanation waterfall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72400" y="5349240"/>
            <a:ext cx="2286000" cy="594360"/>
          </a:xfrm>
          <a:prstGeom prst="roundRect">
            <a:avLst/>
          </a:prstGeom>
          <a:solidFill>
            <a:srgbClr val="235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0" y="536752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Fairness Guard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555955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CCEEEE"/>
                </a:solidFill>
                <a:latin typeface="Segoe UI"/>
              </a:defRPr>
            </a:pPr>
            <a:r>
              <a:t>Protected class check</a:t>
            </a:r>
            <a:br/>
            <a:r>
              <a:t>Missing data != penalty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28800" y="6126480"/>
            <a:ext cx="8503920" cy="365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828800" y="6144768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OUTPUT: Classification + Confidence (HIGH/MEDIUM/LOW) + Explanation + Fairness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egoe UI"/>
              </a:defRPr>
            </a:pPr>
            <a:r>
              <a:t>Why Predict Family (7) Not Career Group (56)?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213E"/>
                </a:solidFill>
                <a:latin typeface="Segoe UI"/>
              </a:defRPr>
            </a:pPr>
            <a:r>
              <a:t>The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25880"/>
            <a:ext cx="5029200" cy="105156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3533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545"/>
                </a:solidFill>
                <a:latin typeface="Segoe UI"/>
              </a:defRPr>
            </a:pPr>
            <a:r>
              <a:t>56 Career Groups (too granular)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103 samples / 56 classes = ~1.8 per class</a:t>
            </a:r>
            <a:br/>
            <a:r>
              <a:t>Many groups have 0-2 examples -- model memorizes, not generalizes.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68880"/>
            <a:ext cx="5029200" cy="105156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2496312"/>
            <a:ext cx="4754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Segoe UI"/>
              </a:defRPr>
            </a:pPr>
            <a:r>
              <a:t>7 Occupational Families (right granularity)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Consolas"/>
              </a:defRPr>
            </a:pPr>
            <a:r>
              <a:t>103 samples / 7 classes = ~14.7 per class</a:t>
            </a:r>
            <a:br/>
            <a:r>
              <a:t>GBM / Random Forest find real patterns at this level.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213E"/>
                </a:solidFill>
                <a:latin typeface="Segoe UI"/>
              </a:defRPr>
            </a:pPr>
            <a:r>
              <a:t>The Strategy: Hierarchical Prediction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325880"/>
            <a:ext cx="5029200" cy="7772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35331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Stage 1: ML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57276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Segoe UI"/>
              </a:defRPr>
            </a:pPr>
            <a:r>
              <a:t>Predicts occupational FAMILY (7 classes)</a:t>
            </a:r>
            <a:br/>
            <a:r>
              <a:t>Reliable with 103 training samples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10312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31720"/>
            <a:ext cx="5029200" cy="77724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235915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Stage 2: LLM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57860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Segoe UI"/>
              </a:defRPr>
            </a:pPr>
            <a:r>
              <a:t>Predicts career GROUP within that family</a:t>
            </a:r>
            <a:br/>
            <a:r>
              <a:t>Only ~5-10 options, not 56. LLM excels here.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10896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337560"/>
            <a:ext cx="5029200" cy="7772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3364992"/>
            <a:ext cx="4754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Stage 3: Confidence Check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584448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Segoe UI"/>
              </a:defRPr>
            </a:pPr>
            <a:r>
              <a:t>Agree = high confidence. Disagree = flag for human review.</a:t>
            </a:r>
            <a:br/>
            <a:r>
              <a:t>Different failure modes = complementary.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434840"/>
            <a:ext cx="10515600" cy="20116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5262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KEY INSIGHT: Bias-Variance Tradeoff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89204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Segoe UI"/>
              </a:defRPr>
            </a:pPr>
            <a:r>
              <a:t>More classes = more granular (lower bias)</a:t>
            </a:r>
            <a:br/>
            <a:r>
              <a:t>but less data per class (higher variance).</a:t>
            </a:r>
            <a:br/>
            <a:br/>
            <a:r>
              <a:t>With 103 samples, 7 classes is the sweet spot.</a:t>
            </a:r>
            <a:br/>
            <a:r>
              <a:t>56 classes would memorize training examples</a:t>
            </a:r>
            <a:br/>
            <a:r>
              <a:t>rather than learn generalizable patterns.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89204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The hybrid architecture is built around this:</a:t>
            </a:r>
            <a:br/>
            <a:br/>
            <a:r>
              <a:t>  ML  = coarse filter (reliable, 7 classes)</a:t>
            </a:r>
            <a:br/>
            <a:r>
              <a:t>  LLM = fine-grained (nuanced, text-based)</a:t>
            </a:r>
            <a:br/>
            <a:br/>
            <a:r>
              <a:t>Each stage does what it is best at.</a:t>
            </a:r>
            <a:br/>
            <a:r>
              <a:t>Neither alone solves the full problem.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Workday Data: What We Scraped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100584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Total Postings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2286000" cy="10058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Staff Retained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286000" cy="100584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Faculty Excluded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61120" y="1097280"/>
            <a:ext cx="2286000" cy="100584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123444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737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Segoe UI"/>
              </a:defRPr>
            </a:pPr>
            <a:r>
              <a:t>Label Leaks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213E"/>
                </a:solidFill>
                <a:latin typeface="Segoe UI"/>
              </a:defRPr>
            </a:pPr>
            <a:r>
              <a:t>Label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onsolas"/>
              </a:defRPr>
            </a:pPr>
            <a:r>
              <a:t>  compensation_grade        100%</a:t>
            </a:r>
            <a:br/>
            <a:r>
              <a:t>  job_profile_code          95%</a:t>
            </a:r>
            <a:br/>
            <a:r>
              <a:t>  job_family                97%</a:t>
            </a:r>
            <a:br/>
            <a:r>
              <a:t>  exempt_status             99%</a:t>
            </a:r>
            <a:br/>
            <a:r>
              <a:t>  pay_type                 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6213E"/>
                </a:solidFill>
                <a:latin typeface="Segoe UI"/>
              </a:defRPr>
            </a:pPr>
            <a:r>
              <a:t>Top Job Families (30 total)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78892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  Admin &amp; Office Support          14</a:t>
            </a:r>
            <a:br/>
            <a:r>
              <a:t>  Career Services                  9</a:t>
            </a:r>
            <a:br/>
            <a:r>
              <a:t>  Academic Program Admin           8</a:t>
            </a:r>
            <a:br/>
            <a:r>
              <a:t>  Communications                   7</a:t>
            </a:r>
            <a:br/>
            <a:r>
              <a:t>  Lab &amp; Research Support           7</a:t>
            </a:r>
            <a:br/>
            <a:r>
              <a:t>  Fiscal Administration            6</a:t>
            </a:r>
            <a:br/>
            <a:r>
              <a:t>  Building Services                4</a:t>
            </a:r>
            <a:br/>
            <a:r>
              <a:t>  Giving: Annual/Major/Planned     4</a:t>
            </a:r>
            <a:br/>
            <a:r>
              <a:t>  Maintenance                      4</a:t>
            </a:r>
            <a:br/>
            <a:r>
              <a:t>  (21 more families)              40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074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213E"/>
                </a:solidFill>
                <a:latin typeface="Segoe UI"/>
              </a:defRPr>
            </a:pPr>
            <a:r>
              <a:t>Sample Censored PD (all classification info stripped):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394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onsolas"/>
              </a:defRPr>
            </a:pPr>
            <a:r>
              <a:t>"Shellfish Aquaculture Research Farm Intern -- Department: VIMS | RADV | Natural Resources. The mission of William &amp; Mary's Batten School of Coastal &amp; Marine Sciences..."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Critical Path Forward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64008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Feature Engineering  (Apr 1-5)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17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Extract structured signals from 103 censored PDs:</a:t>
            </a:r>
            <a:br/>
            <a:r>
              <a:t>budget authority, supervision level, education,</a:t>
            </a:r>
            <a:br/>
            <a:r>
              <a:t>experience years, domain keywords, decision scope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109728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11430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423160"/>
            <a:ext cx="640080" cy="45720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4688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A5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23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H2O AutoML  (Apr 5-8)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432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Train on tabular features. Predict occupational</a:t>
            </a:r>
            <a:br/>
            <a:r>
              <a:t>family (7 classes). Leaderboard, SHAP, PDP.</a:t>
            </a:r>
            <a:br/>
            <a:r>
              <a:t>Needs Java JDK 11+ installed.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468880"/>
            <a:ext cx="1097280" cy="32004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4688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BLOCKED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49040"/>
            <a:ext cx="640080" cy="45720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B1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7490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LangChain PoC  (Apr 9-11)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06908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Multi-agent system with 8 components.</a:t>
            </a:r>
            <a:br/>
            <a:r>
              <a:t>Assignment 5 deliverable. Validates three-stage</a:t>
            </a:r>
            <a:br/>
            <a:r>
              <a:t>architecture before Streamlit.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794760"/>
            <a:ext cx="109728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37947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074920"/>
            <a:ext cx="640080" cy="45720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Streamlit App  (Apr 11-14)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3949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Segoe UI"/>
              </a:defRPr>
            </a:pPr>
            <a:r>
              <a:t>Wraps LangChain agents. Paste PD, get</a:t>
            </a:r>
            <a:br/>
            <a:r>
              <a:t>classification + pay + explanation.</a:t>
            </a:r>
            <a:br/>
            <a:r>
              <a:t>Must demo agentic design.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5120640"/>
            <a:ext cx="1097280" cy="3200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17920" y="5120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1097280"/>
            <a:ext cx="3657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Dependency Flow:</a:t>
            </a:r>
            <a:br/>
            <a:br/>
            <a:r>
              <a:t>A4 (features) → A5 (H2O model)</a:t>
            </a:r>
            <a:br/>
            <a:r>
              <a:t>         ↓</a:t>
            </a:r>
            <a:br/>
            <a:r>
              <a:t>B1 (LangChain PoC = Assignment 5)</a:t>
            </a:r>
            <a:br/>
            <a:r>
              <a:t>         ↓</a:t>
            </a:r>
            <a:br/>
            <a:r>
              <a:t>Streamlit App (wraps LangChain)</a:t>
            </a:r>
            <a:br/>
            <a:r>
              <a:t>         ↓</a:t>
            </a:r>
            <a:br/>
            <a:r>
              <a:t>Poster (Apr 15) + Deck (Apr 17)</a:t>
            </a:r>
            <a:br/>
            <a:br/>
            <a:r>
              <a:t>BLOCKER: Java JDK 11+ needed</a:t>
            </a:r>
            <a:br/>
            <a:r>
              <a:t>for H2O. Install via:</a:t>
            </a:r>
            <a:br/>
            <a:r>
              <a:t>conda install -n griffin</a:t>
            </a:r>
            <a:br/>
            <a:r>
              <a:t>  -c h2oai -c conda-forge</a:t>
            </a:r>
            <a:br/>
            <a:r>
              <a:t>  h2o openjdk=11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egoe UI"/>
              </a:defRPr>
            </a:pPr>
            <a:r>
              <a:t>Team Domains -- Who Does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5486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033272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Infrastructure Lead</a:t>
            </a:r>
            <a:r>
              <a:rPr lang="en-US" dirty="0"/>
              <a:t> - Anmol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#2 GitHub Projects kanban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#11 Folder restructure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#7 Cloud SQL migration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#1 GitHub README draft -- START NOW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005840"/>
            <a:ext cx="548640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72200" y="1033272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Research + Content Lead</a:t>
            </a:r>
            <a:r>
              <a:rPr lang="en-US" dirty="0"/>
              <a:t> - Brynn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172200" y="14173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#5 Research paper search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#6 Responsible AI section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#10 Ethical reflection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#13 Validate 2-3 positions -- START NOW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91840"/>
            <a:ext cx="5486400" cy="36576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319272"/>
            <a:ext cx="5486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Design + Delivery Lead</a:t>
            </a:r>
            <a:r>
              <a:rPr lang="en-US" dirty="0"/>
              <a:t> - JR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85800" y="37033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#4 Poster layout/template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#9 Big Data deck outline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Rehearsal plan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#13 Validate 2-3 positions -- START NOW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3291840"/>
            <a:ext cx="5486400" cy="36576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72200" y="331927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Technical Lead -- Steven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7033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A4 Feature engineering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#12 Pay estimation prompt -- START NOW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A5 H2O AutoML (after A4 + Java)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B1 LangChain PoC (after A5)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#3 Streamlit app (after B1)</a:t>
            </a:r>
          </a:p>
          <a:p>
            <a:pPr>
              <a:spcAft>
                <a:spcPts val="300"/>
              </a:spcAft>
              <a:defRPr sz="1000">
                <a:solidFill>
                  <a:srgbClr val="333333"/>
                </a:solidFill>
                <a:latin typeface="Segoe UI"/>
              </a:defRPr>
            </a:pPr>
            <a:r>
              <a:t>•  #8 Visualizations (after A5)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577840"/>
            <a:ext cx="11064240" cy="82296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56235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213E"/>
                </a:solidFill>
                <a:latin typeface="Segoe UI"/>
              </a:defRPr>
            </a:pPr>
            <a:r>
              <a:t>EVERYONE (all 4 domains):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Segoe UI"/>
              </a:defRPr>
            </a:pPr>
            <a:r>
              <a:t>#13 Validate 10+ positions (each person tests 2-3 with MVP prompt)  |  After validation: #14 Data dictionary, #15 SOP, #16 Validation report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19" y="137160"/>
            <a:ext cx="1083406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rPr dirty="0"/>
              <a:t>Timeline &amp; Deadlines</a:t>
            </a:r>
            <a:r>
              <a:rPr lang="en-US" dirty="0"/>
              <a:t>- We can and should move this earlier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011680" cy="41148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247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Mar 31 (today)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1247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545"/>
                </a:solidFill>
                <a:latin typeface="Segoe UI"/>
              </a:defRPr>
            </a:pPr>
            <a:r>
              <a:t>Team brief distributed. Docs updated. A1-A3 done.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190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Segoe UI"/>
              </a:defRPr>
            </a:pPr>
            <a:r>
              <a:t>Apr 1-5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7190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Feature engineering (A4). Quick wins: research paper search, folder restructure.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134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Segoe UI"/>
              </a:defRPr>
            </a:pPr>
            <a:r>
              <a:t>Apr 5-8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313432"/>
            <a:ext cx="8229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rPr dirty="0"/>
              <a:t>H2O </a:t>
            </a:r>
            <a:r>
              <a:rPr dirty="0" err="1"/>
              <a:t>AutoML</a:t>
            </a:r>
            <a:r>
              <a:rPr dirty="0"/>
              <a:t> training (A5)</a:t>
            </a:r>
            <a:r>
              <a:rPr lang="en-US" dirty="0"/>
              <a:t> to your environment (read the one from the latest Big Data Lab to install do not follow the one in the environment setup lab. I have had time to fix it)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731520" y="29077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7A2B8"/>
                </a:solidFill>
                <a:latin typeface="Segoe UI"/>
              </a:defRPr>
            </a:pPr>
            <a:r>
              <a:t>Apr 9-11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90779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LangChain PoC (B1 = Assignment 5). Streamlit dev starts.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021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7A2B8"/>
                </a:solidFill>
                <a:latin typeface="Segoe UI"/>
              </a:defRPr>
            </a:pPr>
            <a:r>
              <a:t>Apr 11-14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502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Streamlit app. Position validation (#13). Poster draft. SHAP plots.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69080"/>
            <a:ext cx="201168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09651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APRIL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09651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545"/>
                </a:solidFill>
                <a:latin typeface="Segoe UI"/>
              </a:defRPr>
            </a:pPr>
            <a:r>
              <a:t>AI COURSE POSTER 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908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8E44AD"/>
                </a:solidFill>
                <a:latin typeface="Segoe UI"/>
              </a:defRPr>
            </a:pPr>
            <a:r>
              <a:t>Apr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69087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Big Data slide deck finalized.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257800"/>
            <a:ext cx="2011680" cy="41148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2852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APRIL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2852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DC3545"/>
                </a:solidFill>
                <a:latin typeface="Segoe UI"/>
              </a:defRPr>
            </a:pPr>
            <a:r>
              <a:t>BIG DATA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79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Segoe UI"/>
              </a:defRPr>
            </a:pPr>
            <a:r>
              <a:t>Apr 18+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587959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Segoe UI"/>
              </a:defRPr>
            </a:pPr>
            <a:r>
              <a:t>HR handoff package: data dictionary, SOP, validation report.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00800"/>
            <a:ext cx="4572000" cy="32004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15 DAYS TO AI POSTER  |  17 DAYS TO BIG DATA DECK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What You Can Start RIGHT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457200" cy="4114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1247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972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Clone the repo + set up conda env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417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onsolas"/>
              </a:defRPr>
            </a:pPr>
            <a:r>
              <a:t>conda create -n griffin python=3.11 -y &amp;&amp; conda activate griffin</a:t>
            </a:r>
            <a:br/>
            <a:r>
              <a:t>See griffin_environment_setup.ipynb for full package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457200" cy="4114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762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1488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Read 00_START_HERE.html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onsolas"/>
              </a:defRPr>
            </a:pPr>
            <a:r>
              <a:t>Interactive briefing portal with 6 tabs. Covers orient, situation,</a:t>
            </a:r>
            <a:br/>
            <a:r>
              <a:t>mission, challenges, execution,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200400"/>
            <a:ext cx="457200" cy="4114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2278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004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Browse the data files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204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onsolas"/>
              </a:defRPr>
            </a:pPr>
            <a:r>
              <a:t>workday_training.csv (103 censored PDs) | workday_postings.csv (full)</a:t>
            </a:r>
            <a:br/>
            <a:r>
              <a:t>hr_handoff/ (7 Excel files for the client)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251960"/>
            <a:ext cx="457200" cy="4114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42793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51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Pick a task from docs/TASKS.md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5720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onsolas"/>
              </a:defRPr>
            </a:pPr>
            <a:r>
              <a:t>Research paper search, folder restructure, README draft -- all unblocked.</a:t>
            </a:r>
            <a:br/>
            <a:r>
              <a:t>Claim it and tell the team.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457200" cy="411480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53309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303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213E"/>
                </a:solidFill>
                <a:latin typeface="Segoe UI"/>
              </a:defRPr>
            </a:pPr>
            <a:r>
              <a:t>Test the MVP prompt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6235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6666"/>
                </a:solidFill>
                <a:latin typeface="Consolas"/>
              </a:defRPr>
            </a:pPr>
            <a:r>
              <a:t>Open any LLM. Paste classification_prompt_template_v1.md + Excel files.</a:t>
            </a:r>
            <a:br/>
            <a:r>
              <a:t>Paste a Workday PD. See if classification makes sense.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Environment &amp; Key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213E"/>
                </a:solidFill>
                <a:latin typeface="Segoe UI"/>
              </a:defRPr>
            </a:pPr>
            <a:r>
              <a:t>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Conda env: griffin (via Anaconda, NOT venv or Miniconda)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Python 3.11 with 16+ packages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Kernel name: "GRIFFIN (conda)"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Java JDK 11+ needed for H2O (not yet installed)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All tools are course-approved: BeautifulSoup, pandas,</a:t>
            </a:r>
            <a:br/>
            <a:r>
              <a:t>  pdfplumber, sqlalchemy, H2O, streamlit, LangChain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Approved LLMs for client: Copilot and Gemini</a:t>
            </a:r>
            <a:br/>
            <a:r>
              <a:t>  (LangChain makes us agnostic)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6213E"/>
                </a:solidFill>
                <a:latin typeface="Segoe UI"/>
              </a:defRPr>
            </a:pPr>
            <a:r>
              <a:t>Decisions Made (Team Should Know)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LangChain = production framework</a:t>
            </a:r>
            <a:br/>
            <a:r>
              <a:t>  (Prof. Chung confirmed verbal, Mar 30)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Assignment 5 = GRIFFIN milestone</a:t>
            </a:r>
            <a:br/>
            <a:r>
              <a:t>  (same codebase as Streamlit app)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Workday scrape is DONE -- never re-run</a:t>
            </a:r>
            <a:br/>
            <a:r>
              <a:t>  (raw JSON cached in raw_workday/)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Faculty excluded from training data</a:t>
            </a:r>
            <a:br/>
            <a:r>
              <a:t>  (47 removed, per client direction)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MVP always takes priority over academic scope</a:t>
            </a:r>
            <a:br/>
            <a:r>
              <a:t>  (cut from bottom up, never the MVP)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Segoe UI"/>
              </a:defRPr>
            </a:pPr>
            <a:r>
              <a:t>•  Professor update email drafted but NOT SENT</a:t>
            </a:r>
            <a:br/>
            <a:r>
              <a:t>  (Steven will review + send)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5029200"/>
            <a:ext cx="1051560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6213E"/>
                </a:solidFill>
                <a:latin typeface="Segoe UI"/>
              </a:defRPr>
            </a:pPr>
            <a:r>
              <a:t>Key Files: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394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onsolas"/>
              </a:defRPr>
            </a:pPr>
            <a:r>
              <a:t>00_START_HERE.html (team portal)  |  docs/TASKS.md (task list)  |  docs/griffin-kanban.html (board)</a:t>
            </a:r>
            <a:br/>
            <a:r>
              <a:t>griffin_workday_scrape.ipynb (scrape notebook)  |  workday_training.csv (ML input)  |  hr_handoff/ (client files)</a:t>
            </a:r>
            <a:br/>
            <a:r>
              <a:t>classification_prompt_template_v1.md (MVP prompt)  |  Course References/ (rubrics, specs)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egoe UI"/>
              </a:defRPr>
            </a:pPr>
            <a:r>
              <a:t>Requirements: AI Course (BUAD 5742) -- April 15 Poster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784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97840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9784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GRIFFIN Deliverable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9784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07592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325880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Code demo: Technically challenging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325880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32588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Notebooks + H2O + LangChain PoC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32720" y="1362456"/>
            <a:ext cx="1188720" cy="228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20" y="13624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700784"/>
            <a:ext cx="1124712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8640" y="1719072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Website demo: Vibe coding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1719072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719072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Streamlit app (agentic AI)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1755648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32720" y="175564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093976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2112264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Poster: Visually effective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2112264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2112264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Conference poster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2148840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332720" y="21488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487168"/>
            <a:ext cx="1124712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2505456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GitHub repo: Organized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2505456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2505456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README + visuals + bios + refs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2542032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332720" y="254203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880360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898648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GitHub kanban 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2898648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2898648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Migrate kanban to GitHub Projects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32720" y="2935224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332720" y="293522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273552"/>
            <a:ext cx="1124712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3291840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Research paper: Well chosen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3291840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0" y="329184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1+ paper &lt; 3 yrs on LLM/AI/HR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20" y="3328416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332720" y="332841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3666744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" y="3685032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References: Cited properly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0560" y="3685032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3685032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Reference list in README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32720" y="3721608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332720" y="372160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059936"/>
            <a:ext cx="1124712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48640" y="4078224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Problem statement to judges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4078224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0" y="4078224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Poster opening + verbal pitch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20" y="4114800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0332720" y="41148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453128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48640" y="4471416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Business opportunities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0560" y="4471416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4471416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Why hybrid ML+LLM for HR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4507992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332720" y="450799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846320"/>
            <a:ext cx="1124712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48640" y="4864608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Technical for non-technical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480560" y="4864608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864608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Architecture diagram + analogy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332720" y="4901184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0332720" y="490118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5239512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548640" y="5257800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Taught judges new AI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80560" y="5257800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0" y="525780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Hybrid failure modes, SHAP local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332720" y="5294376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10332720" y="529437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200" y="5632704"/>
            <a:ext cx="11247120" cy="3749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48640" y="5650992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Creativity in approach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5650992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0" y="5650992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"Trust But Verify", credit analogy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332720" y="5687568"/>
            <a:ext cx="1188720" cy="228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0332720" y="56875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DESIGNED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" y="6025896"/>
            <a:ext cx="11247120" cy="374904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48640" y="6044184"/>
            <a:ext cx="38404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Team collaboration in Q&amp;A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6044184"/>
            <a:ext cx="54864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7%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0" y="6044184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All members present + answer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332720" y="6080760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0332720" y="60807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57200" y="6510528"/>
            <a:ext cx="11247120" cy="594360"/>
          </a:xfrm>
          <a:prstGeom prst="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40080" y="6556248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E44AD"/>
                </a:solidFill>
                <a:latin typeface="Segoe UI"/>
              </a:defRPr>
            </a:pPr>
            <a:r>
              <a:t>Assignment 5 (integrated): 8 LangChain components -- (1) LLM init, (2) agents, (3) messages, (4) streaming, (5) custom tools, (6) external API, (7) memory, (8) orchestration. Plus skill.md + 1-page report.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Segoe UI"/>
              </a:defRPr>
            </a:pPr>
            <a:r>
              <a:t>Requirements: Big Data (BUAD 5722) -- April 17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9784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Segoe UI"/>
              </a:defRPr>
            </a:pPr>
            <a: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784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Segoe UI"/>
              </a:defRPr>
            </a:pPr>
            <a:r>
              <a:t>GRIFFIN Deliverable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9784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07592"/>
            <a:ext cx="11247120" cy="411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1. Project Overview: Domain, problem, ethics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25880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Batch analytics for W&amp;M HR classification. Public data, no PII.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0" y="1362456"/>
            <a:ext cx="1188720" cy="228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332720" y="136245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1755648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2. Data Acquisition: Sources, ingestion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755648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DHRM scrape (56 pages) + Workday JSON API (103 postings). Cached.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0" y="1792224"/>
            <a:ext cx="1188720" cy="2286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332720" y="179222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DONE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67128"/>
            <a:ext cx="11247120" cy="411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2185416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3. Technology &amp; Architecture: Tools, diagram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185416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BS4, pdfplumber, pandas, sqlalchemy, H2O, LangChain, Streamlit.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32720" y="2221992"/>
            <a:ext cx="1188720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332720" y="222199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96896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2615184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4a. Exploratory Analysis: Clean, transform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615184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Feature engineering: regex extraction, class balance, distributions.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32720" y="2651760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332720" y="265176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026664"/>
            <a:ext cx="11247120" cy="411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3044952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4b. Visualization: Charts, plots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044952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matplotlib/seaborn/plotly: family dist, pay heatmap, SHAP plots.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3081528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332720" y="308152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3474720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4c. ML: Classification + explainability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74720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H2O AutoML: GBM, RF, XGBoost. SHAP global+local, PDP.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3511296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332720" y="351129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886200"/>
            <a:ext cx="11247120" cy="411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48640" y="3904488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4d. NLP / LLM Integration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3904488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LLM feature extraction + Stage 2 classification + LangChain agents.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32720" y="3941064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332720" y="394106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315968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8640" y="4334256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5. Findings: Metrics, ethics, next steps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4334256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Macro F1, confusion matrix, top-3 accuracy. Fairness guard.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32720" y="4370832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332720" y="4370832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745736"/>
            <a:ext cx="11247120" cy="411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48640" y="4764024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6a. Slide deck presentation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4880" y="4764024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April 17: problem, architecture, demo, findings, ethics.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32720" y="4800600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0332720" y="480060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175504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48640" y="5193792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6b. Code in Jupyter notebook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0" y="5193792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4 notebooks: DHRM, Workday, feature eng, H2O.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32720" y="5230368"/>
            <a:ext cx="1188720" cy="2286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332720" y="5230368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PARTIAL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605272"/>
            <a:ext cx="11247120" cy="4114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48640" y="5623560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6c. Organized folder structure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5623560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Reorganize into data/, notebooks/, reports/, ppt/.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332720" y="5660136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0332720" y="5660136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603504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48640" y="6053328"/>
            <a:ext cx="41148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Cloud deployment (GCP)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54880" y="6053328"/>
            <a:ext cx="53035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333333"/>
                </a:solidFill>
                <a:latin typeface="Segoe UI"/>
              </a:defRPr>
            </a:pPr>
            <a:r>
              <a:t>Migrate SQLite to Google Cloud SQL (MySQL).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332720" y="6089904"/>
            <a:ext cx="1188720" cy="228600"/>
          </a:xfrm>
          <a:prstGeom prst="rect">
            <a:avLst/>
          </a:prstGeom>
          <a:solidFill>
            <a:srgbClr val="DC3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332720" y="6089904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7200" y="6556248"/>
            <a:ext cx="11247120" cy="457200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40080" y="660196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3545"/>
                </a:solidFill>
                <a:latin typeface="Segoe UI"/>
              </a:defRPr>
            </a:pPr>
            <a:r>
              <a:t>SHARED BLOCKER: Java JDK 11+ (H2O) + Feature Engineering (A4). Once A4+A5 done, remaining work is presentation and polish.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371600" y="3474720"/>
            <a:ext cx="1828800" cy="54864"/>
          </a:xfrm>
          <a:prstGeom prst="rect">
            <a:avLst/>
          </a:prstGeom>
          <a:solidFill>
            <a:srgbClr val="17A2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Segoe U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Segoe UI"/>
              </a:defRPr>
            </a:pPr>
            <a:r>
              <a:t>Next Steps:</a:t>
            </a:r>
            <a:br/>
            <a:r>
              <a:t>1. Clone repo + set up conda env</a:t>
            </a:r>
            <a:br/>
            <a:r>
              <a:t>2. Read 00_START_HERE.html</a:t>
            </a:r>
            <a:br/>
            <a:r>
              <a:t>3. Pick a task from TASKS.md</a:t>
            </a:r>
            <a:br/>
            <a:r>
              <a:t>4. Tell the team what you claimed</a:t>
            </a:r>
            <a:br/>
            <a:br/>
            <a:r>
              <a:t>Steven will send professor update email after team reviews.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2996</Words>
  <Application>Microsoft Office PowerPoint</Application>
  <PresentationFormat>Widescreen</PresentationFormat>
  <Paragraphs>310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Alvarado, Steven</cp:lastModifiedBy>
  <cp:revision>5</cp:revision>
  <dcterms:created xsi:type="dcterms:W3CDTF">2013-01-27T09:14:16Z</dcterms:created>
  <dcterms:modified xsi:type="dcterms:W3CDTF">2026-04-12T22:14:24Z</dcterms:modified>
  <cp:category/>
</cp:coreProperties>
</file>