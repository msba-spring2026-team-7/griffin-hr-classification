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20"/>
    <p:sldId id="271" r:id="rId21"/>
    <p:sldId id="272" r:id="rId22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8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GRIFFIN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99700"/>
                </a:solidFill>
                <a:latin typeface="Calibri"/>
              </a:defRPr>
            </a:pPr>
            <a:r>
              <a:t>Technical Transition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291840"/>
            <a:ext cx="2743200" cy="27432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5F3EE"/>
                </a:solidFill>
                <a:latin typeface="Calibri"/>
              </a:defRPr>
            </a:pPr>
            <a:r>
              <a:t>Government Role Identification and Financial Framework Integration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F2EE"/>
                </a:solidFill>
                <a:latin typeface="Calibri"/>
              </a:defRPr>
            </a:pPr>
            <a:r>
              <a:t>William &amp; Mary  |  Raymond A. Mason School of Business  |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F2EE"/>
                </a:solidFill>
                <a:latin typeface="Calibri"/>
              </a:defRPr>
            </a:pPr>
            <a:r>
              <a:t>Team 7: Steven Alvarado, Anmol Motwani, Brynn Vetrano, Jhei-R Jones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8F2EE"/>
                </a:solidFill>
                <a:latin typeface="Calibri"/>
              </a:defRPr>
            </a:pPr>
            <a:r>
              <a:t>April 16,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is GRIFFIN?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An agentic AI system that classifies unstructured position descriptions against Virginia's DHRM career-group taxonomy and recommends an appropriate pay band -- turning hours of manual HR work into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0848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5740"/>
                </a:solidFill>
                <a:latin typeface="Calibri"/>
              </a:defRPr>
            </a:pPr>
            <a: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957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Career Groups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01168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8920" y="20848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5740"/>
                </a:solidFill>
                <a:latin typeface="Calibri"/>
              </a:defRPr>
            </a:pPr>
            <a:r>
              <a:t>~294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3957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DHRM Roles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01168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20848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5740"/>
                </a:solidFill>
                <a:latin typeface="Calibri"/>
              </a:defRPr>
            </a:pPr>
            <a:r>
              <a:t>103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3957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Training PDs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01168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95160" y="20848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5740"/>
                </a:solidFill>
                <a:latin typeface="Calibri"/>
              </a:defRPr>
            </a:pPr>
            <a:r>
              <a:t>~90%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3957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Top-3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9184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C99700"/>
                </a:solidFill>
                <a:latin typeface="Calibri"/>
              </a:rPr>
              <a:t>▸ </a:t>
            </a:r>
            <a:r>
              <a:rPr sz="1200" b="1">
                <a:solidFill>
                  <a:srgbClr val="115740"/>
                </a:solidFill>
                <a:latin typeface="Calibri"/>
              </a:rPr>
              <a:t>Live: </a:t>
            </a:r>
            <a:r>
              <a:rPr sz="1200">
                <a:solidFill>
                  <a:srgbClr val="2D2D2D"/>
                </a:solidFill>
                <a:latin typeface="Calibri"/>
              </a:rPr>
              <a:t>https://griffin-hr-classifier.streamlit.app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99700"/>
                </a:solidFill>
                <a:latin typeface="Calibri"/>
              </a:rPr>
              <a:t>▸ </a:t>
            </a:r>
            <a:r>
              <a:rPr sz="1200" b="1">
                <a:solidFill>
                  <a:srgbClr val="115740"/>
                </a:solidFill>
                <a:latin typeface="Calibri"/>
              </a:rPr>
              <a:t>LLM: </a:t>
            </a:r>
            <a:r>
              <a:rPr sz="1200">
                <a:solidFill>
                  <a:srgbClr val="2D2D2D"/>
                </a:solidFill>
                <a:latin typeface="Calibri"/>
              </a:rPr>
              <a:t>Google Gemini 2.5 Flash via LangChain agents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99700"/>
                </a:solidFill>
                <a:latin typeface="Calibri"/>
              </a:rPr>
              <a:t>▸ </a:t>
            </a:r>
            <a:r>
              <a:rPr sz="1200" b="1">
                <a:solidFill>
                  <a:srgbClr val="115740"/>
                </a:solidFill>
                <a:latin typeface="Calibri"/>
              </a:rPr>
              <a:t>ML: </a:t>
            </a:r>
            <a:r>
              <a:rPr sz="1200">
                <a:solidFill>
                  <a:srgbClr val="2D2D2D"/>
                </a:solidFill>
                <a:latin typeface="Calibri"/>
              </a:rPr>
              <a:t>H2O AutoML GBM (primary) + sklearn GBM (always-on fallback)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99700"/>
                </a:solidFill>
                <a:latin typeface="Calibri"/>
              </a:rPr>
              <a:t>▸ </a:t>
            </a:r>
            <a:r>
              <a:rPr sz="1200" b="1">
                <a:solidFill>
                  <a:srgbClr val="115740"/>
                </a:solidFill>
                <a:latin typeface="Calibri"/>
              </a:rPr>
              <a:t>Modes: </a:t>
            </a:r>
            <a:r>
              <a:rPr sz="1200">
                <a:solidFill>
                  <a:srgbClr val="2D2D2D"/>
                </a:solidFill>
                <a:latin typeface="Calibri"/>
              </a:rPr>
              <a:t>Fast Mode (&lt;1 sec, ML only) | Full Analysis (15-30 sec, ML + AI agents)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99700"/>
                </a:solidFill>
                <a:latin typeface="Calibri"/>
              </a:rPr>
              <a:t>▸ </a:t>
            </a:r>
            <a:r>
              <a:rPr sz="1200" b="1">
                <a:solidFill>
                  <a:srgbClr val="115740"/>
                </a:solidFill>
                <a:latin typeface="Calibri"/>
              </a:rPr>
              <a:t>Export: </a:t>
            </a:r>
            <a:r>
              <a:rPr sz="1200">
                <a:solidFill>
                  <a:srgbClr val="2D2D2D"/>
                </a:solidFill>
                <a:latin typeface="Calibri"/>
              </a:rPr>
              <a:t>Professional Word document (.docx) with dual confidence scores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99700"/>
                </a:solidFill>
                <a:latin typeface="Calibri"/>
              </a:rPr>
              <a:t>▸ </a:t>
            </a:r>
            <a:r>
              <a:rPr sz="1200" b="1">
                <a:solidFill>
                  <a:srgbClr val="115740"/>
                </a:solidFill>
                <a:latin typeface="Calibri"/>
              </a:rPr>
              <a:t>Advisory: </a:t>
            </a:r>
            <a:r>
              <a:rPr sz="1200">
                <a:solidFill>
                  <a:srgbClr val="2D2D2D"/>
                </a:solidFill>
                <a:latin typeface="Calibri"/>
              </a:rPr>
              <a:t>Human-in-the-loop -- HR professional reviews every recommendation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E8F2EE"/>
          </a:solidFill>
          <a:ln w="12700">
            <a:solidFill>
              <a:srgbClr val="115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7955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5740"/>
                </a:solidFill>
                <a:latin typeface="Calibri"/>
              </a:defRPr>
            </a:pPr>
            <a:r>
              <a:t>Layer 1: 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35608"/>
            <a:ext cx="7955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Notebooks 1-5 | 7 reference .xlsx files | 103 censored PDs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928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970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15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267712"/>
            <a:ext cx="7955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5740"/>
                </a:solidFill>
                <a:latin typeface="Calibri"/>
              </a:defRPr>
            </a:pPr>
            <a:r>
              <a:t>Layer 2: ML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78608"/>
            <a:ext cx="7955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H2O AutoML GBM (primary) | sklearn GBM (fallback) | 15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358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970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37560"/>
            <a:ext cx="8229600" cy="822960"/>
          </a:xfrm>
          <a:prstGeom prst="rect">
            <a:avLst/>
          </a:prstGeom>
          <a:solidFill>
            <a:srgbClr val="E8F2EE"/>
          </a:solidFill>
          <a:ln w="12700">
            <a:solidFill>
              <a:srgbClr val="115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410712"/>
            <a:ext cx="7955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5740"/>
                </a:solidFill>
                <a:latin typeface="Calibri"/>
              </a:defRPr>
            </a:pPr>
            <a:r>
              <a:t>Layer 3: LangChain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21608"/>
            <a:ext cx="7955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3 agents | 5 tools | Gemini 2.5 Flash | InMemorySaver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1788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970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8056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15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553712"/>
            <a:ext cx="7955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5740"/>
                </a:solidFill>
                <a:latin typeface="Calibri"/>
              </a:defRPr>
            </a:pPr>
            <a:r>
              <a:t>Layer 4: Streamlit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64608"/>
            <a:ext cx="7955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Two modes | 3-card triangulation | Word export | Dual 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52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Each layer is independently testable. The ML and agent layers run in parallel during Full Analysis, providing two independent classification signals.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8412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Web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Streamlit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UI, deployment, secrets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LLM Provider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Google Gemini 2.5 Flash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Agentic classification and rationale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Agent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LangChain + LangGraph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3-agent orchestrator-worker 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ML (Primary)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H2O AutoML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80-model tournament, GBM with lr annealing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ML (Fallback)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Always-on GBM, ~50 MB, no JVM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Explainability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SHAP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Global + per-prediction feature importance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Data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pandas, openpyxl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Excel I/O, DataFrame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Document Export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python-docx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Classification report .docx generation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SQLAlchemy + PyMySQL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GCP Cloud SQL with SQLite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Secrets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python-dotenv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Local .env | Streamlit Secrets (cloud)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Files and Their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app/streamlit_app.py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Main web app (UI, classification flow, export)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app/agent_classifier.py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Bridge: LangChain agents &lt;-&gt; Streamlit UI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app/griffin_langchain_agents.py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3 agents, 5 tools, 8 LangChain components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app/ml_classifier.py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H2O primary + sklearn fallback classifier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app/feature_extraction.py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15 regex/keyword features from PD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app/export_report.py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Word document report generation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app/cloud_sql_config.py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GCP Cloud SQL + SQLite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notebooks/1-5_*.ipynb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Data pipeline: scrape -&gt; censor -&gt; featurize -&gt; train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data/reference/*.xlsx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7 files: career groups, roles, pay bands, crosswalk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data/schema/*.sql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9-table MySQL schema with views and sample data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requirements.txt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Cloud pip deps | environment-local.yml = full local conda env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Classification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3931920" cy="2560320"/>
          </a:xfrm>
          <a:prstGeom prst="rect">
            <a:avLst/>
          </a:prstGeom>
          <a:solidFill>
            <a:srgbClr val="E8F2EE"/>
          </a:solidFill>
          <a:ln w="12700">
            <a:solidFill>
              <a:srgbClr val="115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24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5740"/>
                </a:solidFill>
                <a:latin typeface="Calibri"/>
              </a:defRPr>
            </a:pPr>
            <a:r>
              <a:t>Fast Mode (&lt;1 second)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356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1. User pastes position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2. extract_features() -&gt; 15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3. sklearn GBM -&gt; top-3 occupational families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842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4. Display ML probability for each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671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3500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No API key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328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No internet connection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157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Always available (fallback path)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051560"/>
            <a:ext cx="3931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15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83480" y="1124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5740"/>
                </a:solidFill>
                <a:latin typeface="Calibri"/>
              </a:defRPr>
            </a:pPr>
            <a:r>
              <a:t>Full Analysis (15-30 seconds)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4356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1. User pastes position description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6184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2. ML: extract_features() + sklearn/H2O GBM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18013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3. AI: Orchestrator -&gt; Classifier -&gt; Pay Matcher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19842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4. Parse JSON from LLM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1671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5. Merge ML + AI into 3-card display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3500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6. Dual confidence: ML Prob + AI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5328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Requires GEMINI_API_KEY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7157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Word report export available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5740"/>
                </a:solidFill>
                <a:latin typeface="Calibri"/>
              </a:defRPr>
            </a:pPr>
            <a:r>
              <a:t>Output: Three-Card Triangulation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9768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9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3708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5740"/>
                </a:solidFill>
                <a:latin typeface="Calibri"/>
              </a:defRPr>
            </a:pPr>
            <a:r>
              <a:t>Best 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6817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Top-ranked DHRM career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646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group + role + pay band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429768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9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29000" y="43708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5740"/>
                </a:solidFill>
                <a:latin typeface="Calibri"/>
              </a:defRPr>
            </a:pPr>
            <a:r>
              <a:t>Alternative Role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6817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Second-best role 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8646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the same career group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29768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9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43708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5740"/>
                </a:solidFill>
                <a:latin typeface="Calibri"/>
              </a:defRPr>
            </a:pPr>
            <a:r>
              <a:t>Alternative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68172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Best role in a different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86460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career group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4864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Each card shows: career group, role, DHRM pay band, W&amp;M pay grade, salary range, confidence score, and expandable rationale.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65960" y="1051560"/>
            <a:ext cx="5212080" cy="868680"/>
          </a:xfrm>
          <a:prstGeom prst="rect">
            <a:avLst/>
          </a:prstGeom>
          <a:solidFill>
            <a:srgbClr val="E8F2EE"/>
          </a:solidFill>
          <a:ln w="12700">
            <a:solidFill>
              <a:srgbClr val="115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Agent Pipeline: 3 Agents, 5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1124712"/>
            <a:ext cx="4297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5740"/>
                </a:solidFill>
                <a:latin typeface="Calibri"/>
              </a:defRPr>
            </a:pPr>
            <a:r>
              <a:rPr dirty="0"/>
              <a:t>Orchestrator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1435608"/>
            <a:ext cx="4297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Calibri"/>
              </a:defRPr>
            </a:pPr>
            <a:r>
              <a:rPr dirty="0"/>
              <a:t>Coordinates end-to-end: classify -&gt; pay match -&gt; synthesize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618488"/>
            <a:ext cx="4297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D2D2D"/>
                </a:solidFill>
                <a:latin typeface="Calibri"/>
              </a:defRPr>
            </a:pPr>
            <a:r>
              <a:rPr dirty="0"/>
              <a:t>Tools: </a:t>
            </a:r>
            <a:r>
              <a:rPr dirty="0" err="1"/>
              <a:t>call_classifier</a:t>
            </a:r>
            <a:r>
              <a:rPr dirty="0"/>
              <a:t>, </a:t>
            </a:r>
            <a:r>
              <a:rPr dirty="0" err="1"/>
              <a:t>call_pay_matcher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965960" y="193979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9700"/>
                </a:solidFill>
                <a:latin typeface="Calibri"/>
              </a:defRPr>
            </a:pPr>
            <a:r>
              <a:rPr dirty="0"/>
              <a:t>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938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9700"/>
                </a:solidFill>
                <a:latin typeface="Calibri"/>
              </a:defRPr>
            </a:pPr>
            <a:r>
              <a:rPr dirty="0"/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411480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115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359152"/>
            <a:ext cx="3840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5740"/>
                </a:solidFill>
                <a:latin typeface="Calibri"/>
              </a:defRPr>
            </a:pPr>
            <a:r>
              <a:rPr dirty="0"/>
              <a:t>Classifier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7004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Maps PD to DHRM career group +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Evaluates Complexity, Results, Accountability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3580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21868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Tools: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0156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search_career_groups (Excel lookup)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58444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search_roles (Excel lookup)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6732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web_search (Tavily fallback)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2286000"/>
            <a:ext cx="402336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115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92040" y="2359152"/>
            <a:ext cx="3749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15740"/>
                </a:solidFill>
                <a:latin typeface="Calibri"/>
              </a:defRPr>
            </a:pPr>
            <a:r>
              <a:rPr dirty="0"/>
              <a:t>Pay Matcher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670048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Maps classified position to pay band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2852928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Returns DHRM band + W&amp;M grade + salary 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035808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3218688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Tools: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401568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match_pay_band (DHRM-W&amp;M crosswalk)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584448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rPr dirty="0"/>
              <a:t>  </a:t>
            </a:r>
            <a:r>
              <a:rPr dirty="0" err="1"/>
              <a:t>get_virginia_salary</a:t>
            </a:r>
            <a:r>
              <a:rPr dirty="0"/>
              <a:t> (</a:t>
            </a:r>
            <a:r>
              <a:rPr dirty="0" err="1"/>
              <a:t>CareerOneStop</a:t>
            </a:r>
            <a:r>
              <a:rPr dirty="0"/>
              <a:t> API)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206240"/>
            <a:ext cx="8412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C99700"/>
                </a:solidFill>
                <a:latin typeface="Calibri"/>
              </a:rPr>
              <a:t>▸ </a:t>
            </a:r>
            <a:r>
              <a:rPr sz="1100" b="1">
                <a:solidFill>
                  <a:srgbClr val="115740"/>
                </a:solidFill>
                <a:latin typeface="Calibri"/>
              </a:rPr>
              <a:t>LLM: </a:t>
            </a:r>
            <a:r>
              <a:rPr sz="1100">
                <a:solidFill>
                  <a:srgbClr val="2D2D2D"/>
                </a:solidFill>
                <a:latin typeface="Calibri"/>
              </a:rPr>
              <a:t>Google Gemini 2.5 Flash (via LangChain init_chat_model, temperature=0)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99700"/>
                </a:solidFill>
                <a:latin typeface="Calibri"/>
              </a:rPr>
              <a:t>▸ </a:t>
            </a:r>
            <a:r>
              <a:rPr sz="1100" b="1">
                <a:solidFill>
                  <a:srgbClr val="115740"/>
                </a:solidFill>
                <a:latin typeface="Calibri"/>
              </a:rPr>
              <a:t>Memory: </a:t>
            </a:r>
            <a:r>
              <a:rPr sz="1100">
                <a:solidFill>
                  <a:srgbClr val="2D2D2D"/>
                </a:solidFill>
                <a:latin typeface="Calibri"/>
              </a:rPr>
              <a:t>InMemorySaver per agent -- each classification session has its own conversational context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99700"/>
                </a:solidFill>
                <a:latin typeface="Calibri"/>
              </a:rPr>
              <a:t>▸ </a:t>
            </a:r>
            <a:r>
              <a:rPr sz="1100" b="1">
                <a:solidFill>
                  <a:srgbClr val="115740"/>
                </a:solidFill>
                <a:latin typeface="Calibri"/>
              </a:rPr>
              <a:t>Pattern: </a:t>
            </a:r>
            <a:r>
              <a:rPr sz="1100">
                <a:solidFill>
                  <a:srgbClr val="2D2D2D"/>
                </a:solidFill>
                <a:latin typeface="Calibri"/>
              </a:rPr>
              <a:t>Orchestrator-worker from BUAD 5742 class Colab -- sub-agents wrapped as @tool callables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99700"/>
                </a:solidFill>
                <a:latin typeface="Calibri"/>
              </a:rPr>
              <a:t>▸ </a:t>
            </a:r>
            <a:r>
              <a:rPr sz="1100" b="1">
                <a:solidFill>
                  <a:srgbClr val="115740"/>
                </a:solidFill>
                <a:latin typeface="Calibri"/>
              </a:rPr>
              <a:t>Parsing: </a:t>
            </a:r>
            <a:r>
              <a:rPr sz="1100">
                <a:solidFill>
                  <a:srgbClr val="2D2D2D"/>
                </a:solidFill>
                <a:latin typeface="Calibri"/>
              </a:rPr>
              <a:t>4-strategy JSON parser (```json block -&gt; generic block -&gt; outermost {} -&gt; regex fallback)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C99700"/>
                </a:solidFill>
                <a:latin typeface="Calibri"/>
              </a:rPr>
              <a:t>▸ </a:t>
            </a:r>
            <a:r>
              <a:rPr sz="1100" b="1">
                <a:solidFill>
                  <a:srgbClr val="115740"/>
                </a:solidFill>
                <a:latin typeface="Calibri"/>
              </a:rPr>
              <a:t>Blend detection: </a:t>
            </a:r>
            <a:r>
              <a:rPr sz="1100">
                <a:solidFill>
                  <a:srgbClr val="2D2D2D"/>
                </a:solidFill>
                <a:latin typeface="Calibri"/>
              </a:rPr>
              <a:t>30% secondary threshold. SINGLE vs BLENDED classification with weighted salary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5740"/>
                </a:solidFill>
                <a:latin typeface="Calibri"/>
              </a:defRPr>
            </a:pPr>
            <a:r>
              <a:t>7 Reference Files (data/reference/)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4389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career_groups.xlsx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56 career groups + concept_of_work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roles.xlsx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~294 roles + compensable factors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dhrm_pay_bands.xlsx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State salary structure (Bands 1-9)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crosswalk.xlsx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DHRM-to-W&amp;M pay grade mapping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wm_pay_grades.xlsx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W&amp;M grades (S01-S23, H01-H23)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soc_codes.xlsx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BLS SOC code crosswalk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historical_titles.xlsx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Legacy title -&gt; current role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937760" y="960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5740"/>
                </a:solidFill>
                <a:latin typeface="Calibri"/>
              </a:defRPr>
            </a:pPr>
            <a:r>
              <a:t>Training Pipeline (5 Notebooks)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46320" y="1280160"/>
          <a:ext cx="4023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NB1: Env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NB2: DHRM Scrape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7 reference .xlsx files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NB3: Workday Scrape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103 censored PDs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NB4: Feature Eng.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15-feature matrix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NB5: H2O AutoML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Models + SHAP plots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SQL Schema: 9 tables, 4 views, validated sample data (wm_hr_classification_schema.sql)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0749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Consolas"/>
              </a:defRPr>
            </a:pPr>
            <a:r>
              <a:t>career_groups -&gt; roles -&gt; historical_titles -&gt; soc_codes -&gt; dhrm_pay_bands -&gt; wm_pay_grades -&gt; position_descriptions -&gt; classification_results -&gt; duty_mappings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Deployment: Local vs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3931920" cy="2926080"/>
          </a:xfrm>
          <a:prstGeom prst="rect">
            <a:avLst/>
          </a:prstGeom>
          <a:solidFill>
            <a:srgbClr val="E8F2EE"/>
          </a:solidFill>
          <a:ln w="12700">
            <a:solidFill>
              <a:srgbClr val="115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24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5740"/>
                </a:solidFill>
                <a:latin typeface="Calibri"/>
              </a:defRPr>
            </a:pPr>
            <a:r>
              <a:t>Local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356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Environment: conda (environment-local.yml)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Python: 3.11 + OpenJDK 11 for H2O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Secrets: .env file (python-dotenv)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842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H2O: Full ML reference model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671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sklearn: Always-on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500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Notebooks: Full pipeline reproducible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328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7157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3 commands to run: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986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conda activate griffin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81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cd HR_Classification_Project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644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streamlit run app/streamlit_app.py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1051560"/>
            <a:ext cx="3931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15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3480" y="1124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5740"/>
                </a:solidFill>
                <a:latin typeface="Calibri"/>
              </a:defRPr>
            </a:pPr>
            <a:r>
              <a:t>Streamlit Community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14356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Build source: requirements.txt (pip)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16184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Python: 3.11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18013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Secrets: Streamlit Secrets UI (TOML)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19842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H2O: Cannot run (1 GB RAM limit)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1671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sklearn: Serves all classifications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3500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Auto-deploy: Push to main triggers rebuild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25328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83480" y="27157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Live URL: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28986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  griffin-hr-classifier.streamlit.app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081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83480" y="32644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Build time: 2-5 min (cached)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Key difference: environment-local.yml (not environment.yml) is used intentionally -- Streamlit Cloud auto-detects environment.yml and uses conda, which silently skips the pip subsection. The deployed app builds from requirements.txt instead.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5740"/>
                </a:solidFill>
                <a:latin typeface="Calibri"/>
              </a:defRPr>
            </a:pPr>
            <a:r>
              <a:t>API Keys Required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74320" y="5257800"/>
          <a:ext cx="4572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Key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Required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GEMINI_API_KEY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Google AI Studio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TAVILY_API_KEY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Tavily (web search)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CAREERONESTOP_TOKEN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USDOL/ETA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Confidence Metrics: ML vs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3931920" cy="2286000"/>
          </a:xfrm>
          <a:prstGeom prst="rect">
            <a:avLst/>
          </a:prstGeom>
          <a:solidFill>
            <a:srgbClr val="E8F2EE"/>
          </a:solidFill>
          <a:ln w="12700">
            <a:solidFill>
              <a:srgbClr val="115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5740"/>
                </a:solidFill>
                <a:latin typeface="Calibri"/>
              </a:defRPr>
            </a:pPr>
            <a:r>
              <a:t>ML Probability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Source: sklearn or H2O GBM 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Type: Calibrated class probabilities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Range: 0-100% per occupational family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299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Basis: 15 engineered features from PD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3957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Trained on 103 PDs with 5-fold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stratified cross-validation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614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Top-1: ~69%  |  Top-3: ~90%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097280"/>
            <a:ext cx="3931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5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83480" y="1170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15740"/>
                </a:solidFill>
                <a:latin typeface="Calibri"/>
              </a:defRPr>
            </a:pPr>
            <a:r>
              <a:t>AI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4813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Source: Gemini 2.5 Flash (LangChain agent)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6642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Type: LLM self-reported confidence (1-100)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18470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Range: 1-100 per match 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0299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Basis: Full PD text + DHRM taxonomy lookup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2128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83480" y="23957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Provides reasoning narrative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5786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Maps duties to compensable factors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7614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Calibri"/>
              </a:defRPr>
            </a:pPr>
            <a:r>
              <a:t>Not a calibrated probability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65760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5740"/>
                </a:solidFill>
                <a:latin typeface="Calibri"/>
              </a:defRPr>
            </a:pPr>
            <a:r>
              <a:t>Interpretation Guide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74320" y="4023360"/>
          <a:ext cx="8595359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ML high + AI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Strong agreement between methods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High confidence -- proceed with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ML high + AI low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Statistical match but weak LLM reasoning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Review LLM rationale for edge cases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ML low + AI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LLM sees patterns features miss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Consider context not captured by 15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ML low + AI low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Both methods uncertain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Flag for manual HR review -- likely unusual PD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SWOT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4206240" cy="384048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Dual ML+AI counterbalance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3-card triangulation for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5740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Transparent confidence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7744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Professional Word 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Graceful degradation at every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9601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960120"/>
            <a:ext cx="4206240" cy="384048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98755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Weaknesses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41732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103 training PDs (small, imbalanced)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73736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H2O blocked on free tier (1 GB)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05740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LLM confidence not calibrated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37744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No live SHAP in deployed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69748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Single-taxonomy (VA DHRM only)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9476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3794760"/>
            <a:ext cx="4206240" cy="384048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82219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25196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Expand to 500+ training PDs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57200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Multi-model support (Claude, GPT)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89204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GCP Cloud SQL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21208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Batch CSV classification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53212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HRIS integration (Workday)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379476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63440" y="3794760"/>
            <a:ext cx="4206240" cy="384048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0" y="382219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Threats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425196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Gemini API pricing/deprecation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57200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DHRM annual taxonomy updates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489204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Model drift without data refresh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521208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LLM hallucination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5532120"/>
            <a:ext cx="39319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2D2D"/>
                </a:solidFill>
                <a:latin typeface="Calibri"/>
              </a:defRPr>
            </a:pPr>
            <a:r>
              <a:t>▸ Streamlit Cloud free tier limits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Future Development Taskers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7040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Tasker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Effort</a:t>
                      </a:r>
                    </a:p>
                  </a:txBody>
                  <a:tcPr>
                    <a:solidFill>
                      <a:srgbClr val="115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Dynamic SHAP integration in Streamlit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Multi-model support (Claude, GPT via LangChain)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Expanded training data (target: 500+ PDs)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GCP Cloud SQL deployment (schema ready)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Batch classification with CSV upload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HRIS integration (Workday API writeback)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Data freshness banner (FY effective date)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google.generativeai -&gt; google-genai SDK migration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Comprehensive validation report (10+ PD types)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2120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Priority based on impact to end-user experience and system reliability. Effort estimated for a team of 2-3 developers familiar with the stack.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5740"/>
                </a:solidFill>
                <a:latin typeface="Calibri"/>
              </a:defRPr>
            </a:pPr>
            <a:r>
              <a:t>Run the App (3 Commands)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365760" cy="36576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270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2704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onsolas"/>
              </a:defRPr>
            </a:pPr>
            <a:r>
              <a:t>conda activate griffin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65760" cy="36576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0299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299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onsolas"/>
              </a:defRPr>
            </a:pPr>
            <a:r>
              <a:t>cd HR_Classification_Project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5328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328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onsolas"/>
              </a:defRPr>
            </a:pPr>
            <a:r>
              <a:t>streamlit run app/streamlit_app.py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0040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5740"/>
                </a:solidFill>
                <a:latin typeface="Calibri"/>
              </a:defRPr>
            </a:pPr>
            <a:r>
              <a:t>First-Time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56616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C99700"/>
                </a:solidFill>
                <a:latin typeface="Calibri"/>
              </a:rPr>
              <a:t>▸ </a:t>
            </a:r>
            <a:r>
              <a:rPr sz="1200">
                <a:solidFill>
                  <a:srgbClr val="2D2D2D"/>
                </a:solidFill>
                <a:latin typeface="Calibri"/>
              </a:rPr>
              <a:t>Install: conda env create -f environment-local.yml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99700"/>
                </a:solidFill>
                <a:latin typeface="Calibri"/>
              </a:rPr>
              <a:t>▸ </a:t>
            </a:r>
            <a:r>
              <a:rPr sz="1200">
                <a:solidFill>
                  <a:srgbClr val="2D2D2D"/>
                </a:solidFill>
                <a:latin typeface="Calibri"/>
              </a:rPr>
              <a:t>Configure: copy .env.example .env, then add your GEMINI_API_KEY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99700"/>
                </a:solidFill>
                <a:latin typeface="Calibri"/>
              </a:rPr>
              <a:t>▸ </a:t>
            </a:r>
            <a:r>
              <a:rPr sz="1200">
                <a:solidFill>
                  <a:srgbClr val="2D2D2D"/>
                </a:solidFill>
                <a:latin typeface="Calibri"/>
              </a:rPr>
              <a:t>Get API key (free): https://aistudio.google.com/app/apikey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5740"/>
                </a:solidFill>
                <a:latin typeface="Calibri"/>
              </a:defRPr>
            </a:pPr>
            <a:r>
              <a:t>Validated Test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Paste the "Assistant Controller" position description and run Full Analysis.</a:t>
            </a:r>
            <a:br/>
            <a:r>
              <a:t>Expected: Financial Services Manager III, DHRM Band 7, W&amp;M Grade S18</a:t>
            </a:r>
            <a:br/>
            <a:r>
              <a:t>Salary range: $91,133 - $210,964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Contact &amp; Handoff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737360"/>
            <a:ext cx="2743200" cy="27432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103120"/>
          <a:ext cx="7315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Team Member</a:t>
                      </a:r>
                    </a:p>
                  </a:txBody>
                  <a:tcPr>
                    <a:solidFill>
                      <a:srgbClr val="0D44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0D44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GitHub</a:t>
                      </a:r>
                    </a:p>
                  </a:txBody>
                  <a:tcPr>
                    <a:solidFill>
                      <a:srgbClr val="0D44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Steven Alvarado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Pipeline, agents, CQM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@Steven-Alvarado7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Anmol Motwani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Streamlit app, deployment, UX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@anmolmotwani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Brynn Vetrano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Responsible AI, ethics,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@bvetrano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Jhei-R Jones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Presentation, poster, narrative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D2D2D"/>
                          </a:solidFill>
                          <a:latin typeface="Calibri"/>
                        </a:rPr>
                        <a:t>@Jheir1</a:t>
                      </a:r>
                    </a:p>
                  </a:txBody>
                  <a:tcPr>
                    <a:solidFill>
                      <a:srgbClr val="E8F2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420624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9700"/>
                </a:solidFill>
                <a:latin typeface="Calibri"/>
              </a:rPr>
              <a:t>Live App: </a:t>
            </a:r>
            <a:r>
              <a:rPr sz="1200">
                <a:solidFill>
                  <a:srgbClr val="FFFFFF"/>
                </a:solidFill>
                <a:latin typeface="Calibri"/>
              </a:rPr>
              <a:t>https://griffin-hr-classifier.streamlit.app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262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9700"/>
                </a:solidFill>
                <a:latin typeface="Calibri"/>
              </a:rPr>
              <a:t>Repository: </a:t>
            </a:r>
            <a:r>
              <a:rPr sz="1200">
                <a:solidFill>
                  <a:srgbClr val="FFFFFF"/>
                </a:solidFill>
                <a:latin typeface="Calibri"/>
              </a:rPr>
              <a:t>github.com/MSBA-Spring2026-Team-7/GRIFFIN-HR-Classification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9700"/>
                </a:solidFill>
                <a:latin typeface="Calibri"/>
              </a:rPr>
              <a:t>Deployment Runbook: </a:t>
            </a:r>
            <a:r>
              <a:rPr sz="1200">
                <a:solidFill>
                  <a:srgbClr val="FFFFFF"/>
                </a:solidFill>
                <a:latin typeface="Calibri"/>
              </a:rPr>
              <a:t>docs/DEPLOYMENT.md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66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99700"/>
                </a:solidFill>
                <a:latin typeface="Calibri"/>
              </a:rPr>
              <a:t>Lessons Learned: </a:t>
            </a:r>
            <a:r>
              <a:rPr sz="1200">
                <a:solidFill>
                  <a:srgbClr val="FFFFFF"/>
                </a:solidFill>
                <a:latin typeface="Calibri"/>
              </a:rPr>
              <a:t>docs/GRIFFIN-Lessons-Learned.md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F2EE"/>
                </a:solidFill>
                <a:latin typeface="Calibri"/>
              </a:defRPr>
            </a:pPr>
            <a:r>
              <a:t>BUAD 5742 AI  |  BUAD 5722 Big Data  |  William &amp; Mary  |  Spring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C9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Calibri"/>
              </a:rPr>
              <a:t>Data Maintenance Cycle</a:t>
            </a:r>
          </a:p>
        </p:txBody>
      </p:sp>
      <p:sp>
        <p:nvSpPr>
          <p:cNvPr id="10" name="Box DHRM"/>
          <p:cNvSpPr/>
          <p:nvPr/>
        </p:nvSpPr>
        <p:spPr>
          <a:xfrm>
            <a:off x="228600" y="99060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15740"/>
            </a:solidFill>
          </a:ln>
        </p:spPr>
        <p:txBody>
          <a:bodyPr wrap="square" lIns="137160" tIns="91440" rIns="137160" bIns="91440" anchor="t"/>
          <a:lstStyle/>
          <a:p>
            <a:pPr algn="l"/>
            <a:r>
              <a:rPr lang="en-US" sz="1400" b="1" dirty="0">
                <a:solidFill>
                  <a:srgbClr val="C99700"/>
                </a:solidFill>
                <a:latin typeface="Calibri"/>
              </a:rPr>
              <a:t>Annual DHRM Refresh (Notebook 2)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Re-scrape 50 HTML + 6 PDF pages when new FY rates publish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Verify: 56 career groups, ~294 roles, 7 occ families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Regenerates 7 reference .xlsx files in data/reference/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FY pay structure scrape captures new salary bands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Check DHRM page structure before scraping (Structure Inspection cells)</a:t>
            </a:r>
          </a:p>
        </p:txBody>
      </p:sp>
      <p:sp>
        <p:nvSpPr>
          <p:cNvPr id="11" name="Box Training"/>
          <p:cNvSpPr/>
          <p:nvPr/>
        </p:nvSpPr>
        <p:spPr>
          <a:xfrm>
            <a:off x="4800600" y="99060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15740"/>
            </a:solidFill>
          </a:ln>
        </p:spPr>
        <p:txBody>
          <a:bodyPr wrap="square" lIns="137160" tIns="91440" rIns="137160" bIns="91440" anchor="t"/>
          <a:lstStyle/>
          <a:p>
            <a:pPr algn="l"/>
            <a:r>
              <a:rPr lang="en-US" sz="1400" b="1" dirty="0">
                <a:solidFill>
                  <a:srgbClr val="C99700"/>
                </a:solidFill>
                <a:latin typeface="Calibri"/>
              </a:rPr>
              <a:t>Training Data Expansion (Notebooks 3-5)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Re-scrape Workday when new postings exist (NB3)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Target: expand from 103 to 500+ PDs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Priority: Engineering, Health, Public Safety career groups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Re-run feature engineering (NB4) + retrain model (NB5)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Highest-impact improvement for classification accuracy</a:t>
            </a:r>
          </a:p>
        </p:txBody>
      </p:sp>
      <p:sp>
        <p:nvSpPr>
          <p:cNvPr id="12" name="Box Pay"/>
          <p:cNvSpPr/>
          <p:nvPr/>
        </p:nvSpPr>
        <p:spPr>
          <a:xfrm>
            <a:off x="228600" y="342900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15740"/>
            </a:solidFill>
          </a:ln>
        </p:spPr>
        <p:txBody>
          <a:bodyPr wrap="square" lIns="137160" tIns="91440" rIns="137160" bIns="91440" anchor="t"/>
          <a:lstStyle/>
          <a:p>
            <a:pPr algn="l"/>
            <a:r>
              <a:rPr lang="en-US" sz="1400" b="1" dirty="0">
                <a:solidFill>
                  <a:srgbClr val="C99700"/>
                </a:solidFill>
                <a:latin typeface="Calibri"/>
              </a:rPr>
              <a:t>Pay Structure Update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DHRM pay bands update with each fiscal year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W&amp;M pay grades (S01-S23, H01-H23) update in parallel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Current: FY26, effective 6/10/2025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DHRM-to-W&amp;M crosswalk must be verified after rate changes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All salary data in crosswalk.xlsx and wm_pay_grades.xlsx</a:t>
            </a:r>
          </a:p>
        </p:txBody>
      </p:sp>
      <p:sp>
        <p:nvSpPr>
          <p:cNvPr id="13" name="Box SQL"/>
          <p:cNvSpPr/>
          <p:nvPr/>
        </p:nvSpPr>
        <p:spPr>
          <a:xfrm>
            <a:off x="4800600" y="342900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15740"/>
            </a:solidFill>
          </a:ln>
        </p:spPr>
        <p:txBody>
          <a:bodyPr wrap="square" lIns="137160" tIns="91440" rIns="137160" bIns="91440" anchor="t"/>
          <a:lstStyle/>
          <a:p>
            <a:pPr algn="l"/>
            <a:r>
              <a:rPr lang="en-US" sz="1400" b="1" dirty="0">
                <a:solidFill>
                  <a:srgbClr val="C99700"/>
                </a:solidFill>
                <a:latin typeface="Calibri"/>
              </a:rPr>
              <a:t>SQL Schema (Future: GCP Cloud SQL)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9-table schema with 4 views (wm_hr_classification_schema.sql)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Currently: reference doc. App uses flat .xlsx files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cloud_sql_config.py ready with graceful SQLite fallback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classification_results + duty_mappings tables for audit trail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228600" y="58674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>
                <a:solidFill>
                  <a:srgbClr val="666666"/>
                </a:solidFill>
                <a:latin typeface="Calibri"/>
              </a:rPr>
              <a:t>Recommended cycle: run once per fiscal year after DHRM publishes new rates. Delete data/cache/ to force fresh scrape. Training data expansion can happen independently at any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Calibri"/>
              </a:rPr>
              <a:t>Future Integration: CUPA</a:t>
            </a:r>
          </a:p>
        </p:txBody>
      </p:sp>
      <p:sp>
        <p:nvSpPr>
          <p:cNvPr id="10" name="Flow"/>
          <p:cNvSpPr/>
          <p:nvPr/>
        </p:nvSpPr>
        <p:spPr>
          <a:xfrm>
            <a:off x="228600" y="990600"/>
            <a:ext cx="8686800" cy="1143000"/>
          </a:xfrm>
          <a:prstGeom prst="roundRect">
            <a:avLst>
              <a:gd name="adj" fmla="val 5000"/>
            </a:avLst>
          </a:prstGeom>
          <a:solidFill>
            <a:srgbClr val="115740"/>
          </a:solidFill>
          <a:ln>
            <a:noFill/>
          </a:ln>
        </p:spPr>
        <p:txBody>
          <a:bodyPr wrap="square" lIns="182880" tIns="91440" rIns="182880" bIns="9144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/>
              </a:rPr>
              <a:t>DHRM Career Groups</a:t>
            </a:r>
            <a:r>
              <a:rPr lang="en-US" sz="1800" dirty="0">
                <a:solidFill>
                  <a:srgbClr val="C99700"/>
                </a:solidFill>
                <a:latin typeface="Calibri"/>
              </a:rPr>
              <a:t xml:space="preserve">  →  </a:t>
            </a:r>
            <a:r>
              <a:rPr lang="en-US" sz="1800" b="1" dirty="0">
                <a:solidFill>
                  <a:srgbClr val="C99700"/>
                </a:solidFill>
                <a:latin typeface="Calibri"/>
              </a:rPr>
              <a:t>SOC Codes (Bridge)</a:t>
            </a:r>
            <a:r>
              <a:rPr lang="en-US" sz="1800" dirty="0">
                <a:solidFill>
                  <a:srgbClr val="C99700"/>
                </a:solidFill>
                <a:latin typeface="Calibri"/>
              </a:rPr>
              <a:t xml:space="preserve">  →  </a:t>
            </a:r>
            <a:r>
              <a:rPr lang="en-US" sz="1800" b="1" dirty="0">
                <a:solidFill>
                  <a:srgbClr val="FFFFFF"/>
                </a:solidFill>
                <a:latin typeface="Calibri"/>
              </a:rPr>
              <a:t>CUPA Compensation Data</a:t>
            </a:r>
          </a:p>
          <a:p>
            <a:pPr algn="ctr"/>
            <a:r>
              <a:rPr lang="en-US" sz="1200" dirty="0">
                <a:solidFill>
                  <a:srgbClr val="CCCCCC"/>
                </a:solidFill>
                <a:latin typeface="Calibri"/>
              </a:rPr>
              <a:t>SOC codes in soc_codes.xlsx are the taxonomy key CUPA uses -- the mapping infrastructure is already built</a:t>
            </a:r>
          </a:p>
        </p:txBody>
      </p:sp>
      <p:sp>
        <p:nvSpPr>
          <p:cNvPr id="11" name="What CUPA Enables"/>
          <p:cNvSpPr/>
          <p:nvPr/>
        </p:nvSpPr>
        <p:spPr>
          <a:xfrm>
            <a:off x="228600" y="2362200"/>
            <a:ext cx="41148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15740"/>
            </a:solidFill>
          </a:ln>
        </p:spPr>
        <p:txBody>
          <a:bodyPr wrap="square" lIns="137160" tIns="91440" rIns="137160" bIns="91440" anchor="t"/>
          <a:lstStyle/>
          <a:p>
            <a:pPr algn="l"/>
            <a:r>
              <a:rPr lang="en-US" sz="1400" b="1" dirty="0">
                <a:solidFill>
                  <a:srgbClr val="C99700"/>
                </a:solidFill>
                <a:latin typeface="Calibri"/>
              </a:rPr>
              <a:t>What CUPA Enables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Market-rate comparisons alongside DHRM pay bands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Higher-ed-specific compensation benchmarking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Competitive salary analysis for recruitment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Third compensation data source for classification reports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Proprietary data -- requires institutional CUPA license</a:t>
            </a:r>
          </a:p>
        </p:txBody>
      </p:sp>
      <p:sp>
        <p:nvSpPr>
          <p:cNvPr id="12" name="Infrastructure Ready"/>
          <p:cNvSpPr/>
          <p:nvPr/>
        </p:nvSpPr>
        <p:spPr>
          <a:xfrm>
            <a:off x="4800600" y="2362200"/>
            <a:ext cx="41148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15740"/>
            </a:solidFill>
          </a:ln>
        </p:spPr>
        <p:txBody>
          <a:bodyPr wrap="square" lIns="137160" tIns="91440" rIns="137160" bIns="91440" anchor="t"/>
          <a:lstStyle/>
          <a:p>
            <a:pPr algn="l"/>
            <a:r>
              <a:rPr lang="en-US" sz="1400" b="1" dirty="0">
                <a:solidFill>
                  <a:srgbClr val="C99700"/>
                </a:solidFill>
                <a:latin typeface="Calibri"/>
              </a:rPr>
              <a:t>Infrastructure Ready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SOC codes already in reference data (soc_codes.xlsx)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SQL schema supports career-group + role-level SOC mapping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CareerOneStop API already provides BLS salary data by SOC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GCP Cloud SQL deployment centralizes all data sources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Remaining work: CUPA data ingestion + UI integration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228600" y="510540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>
                <a:solidFill>
                  <a:srgbClr val="666666"/>
                </a:solidFill>
                <a:latin typeface="Calibri"/>
              </a:rPr>
              <a:t>CUPA = College and University Professional Association for Human Resources. SOC = Standard Occupational Classification (BLS). CUPA data is proprietary and requires an institutional license -- the technical integration path is ready, pending data access.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574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Calibri"/>
              </a:rPr>
              <a:t>Longevity Checklist</a:t>
            </a:r>
          </a:p>
        </p:txBody>
      </p:sp>
      <p:sp>
        <p:nvSpPr>
          <p:cNvPr id="10" name="Annual Tasks"/>
          <p:cNvSpPr/>
          <p:nvPr/>
        </p:nvSpPr>
        <p:spPr>
          <a:xfrm>
            <a:off x="228600" y="990600"/>
            <a:ext cx="4114800" cy="480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15740"/>
            </a:solidFill>
          </a:ln>
        </p:spPr>
        <p:txBody>
          <a:bodyPr wrap="square" lIns="137160" tIns="91440" rIns="137160" bIns="91440" anchor="t"/>
          <a:lstStyle/>
          <a:p>
            <a:pPr algn="l"/>
            <a:r>
              <a:rPr lang="en-US" sz="1600" b="1" dirty="0">
                <a:solidFill>
                  <a:srgbClr val="C99700"/>
                </a:solidFill>
                <a:latin typeface="Calibri"/>
              </a:rPr>
              <a:t>Annual Tasks</a:t>
            </a:r>
          </a:p>
          <a:p>
            <a:pPr algn="l" marL="171450" indent="-171450">
              <a:buChar char="✓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Re-scrape DHRM reference data (Notebook 2)</a:t>
            </a:r>
          </a:p>
          <a:p>
            <a:pPr algn="l" marL="171450" indent="-171450">
              <a:buChar char="✓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Update FY pay structure (DHRM bands + W&amp;M grades)</a:t>
            </a:r>
          </a:p>
          <a:p>
            <a:pPr algn="l" marL="171450" indent="-171450">
              <a:buChar char="✓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Verify DHRM-to-W&amp;M crosswalk after rate changes</a:t>
            </a:r>
          </a:p>
          <a:p>
            <a:pPr algn="l" marL="171450" indent="-171450">
              <a:buChar char="✓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Expand training data from Workday (Notebook 3)</a:t>
            </a:r>
          </a:p>
          <a:p>
            <a:pPr algn="l" marL="171450" indent="-171450">
              <a:buChar char="✓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Re-run feature engineering (Notebook 4)</a:t>
            </a:r>
          </a:p>
          <a:p>
            <a:pPr algn="l" marL="171450" indent="-171450">
              <a:buChar char="✓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Retrain H2O AutoML model (Notebook 5)</a:t>
            </a:r>
          </a:p>
          <a:p>
            <a:pPr algn="l" marL="171450" indent="-171450">
              <a:buChar char="✓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Compare new leaderboard vs previous best model</a:t>
            </a:r>
          </a:p>
          <a:p>
            <a:pPr algn="l" marL="171450" indent="-171450">
              <a:buChar char="✓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Validate Assistant Controller test case still classifies correctly</a:t>
            </a:r>
          </a:p>
          <a:p>
            <a:pPr algn="l" marL="171450" indent="-171450">
              <a:buChar char="✓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Run requirements.txt update for Streamlit Cloud build</a:t>
            </a:r>
          </a:p>
        </p:txBody>
      </p:sp>
      <p:sp>
        <p:nvSpPr>
          <p:cNvPr id="11" name="Monitor"/>
          <p:cNvSpPr/>
          <p:nvPr/>
        </p:nvSpPr>
        <p:spPr>
          <a:xfrm>
            <a:off x="4800600" y="99060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9700"/>
            </a:solidFill>
          </a:ln>
        </p:spPr>
        <p:txBody>
          <a:bodyPr wrap="square" lIns="137160" tIns="91440" rIns="137160" bIns="91440" anchor="t"/>
          <a:lstStyle/>
          <a:p>
            <a:pPr algn="l"/>
            <a:r>
              <a:rPr lang="en-US" sz="1600" b="1" dirty="0">
                <a:solidFill>
                  <a:srgbClr val="C99700"/>
                </a:solidFill>
                <a:latin typeface="Calibri"/>
              </a:rPr>
              <a:t>What to Monitor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Gemini API deprecations (google-generativeai SDK)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Recommended: migrate to google-genai SDK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Streamlit Cloud free tier (pricing, 1 GB RAM cap)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DHRM page structure changes (may break scraper)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/>
              </a:rPr>
              <a:t>LangChain / LangGraph version compatibility</a:t>
            </a:r>
          </a:p>
        </p:txBody>
      </p:sp>
      <p:sp>
        <p:nvSpPr>
          <p:cNvPr id="12" name="Highest Impact"/>
          <p:cNvSpPr/>
          <p:nvPr/>
        </p:nvSpPr>
        <p:spPr>
          <a:xfrm>
            <a:off x="4800600" y="350520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115740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/>
            <a:r>
              <a:rPr lang="en-US" sz="1600" b="1" dirty="0">
                <a:solidFill>
                  <a:srgbClr val="C99700"/>
                </a:solidFill>
                <a:latin typeface="Calibri"/>
              </a:rPr>
              <a:t>Highest-Impact Improvement</a:t>
            </a:r>
          </a:p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</a:rPr>
              <a:t>Expand training data from 103 to 500+ PDs. The current macro-F1 of 0.54 is heavily penalized by minority classes with only 3-4 examples each.</a:t>
            </a:r>
          </a:p>
          <a:p>
            <a:pPr algn="l"/>
            <a:endParaRPr lang="en-US" sz="80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lang="en-US" sz="1200" b="1" dirty="0">
                <a:solidFill>
                  <a:srgbClr val="C99700"/>
                </a:solidFill>
                <a:latin typeface="Calibri"/>
              </a:rPr>
              <a:t>Priority career groups: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Engineering &amp; Technology (4 PDs)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Health &amp; Human Services (3 PDs)</a:t>
            </a:r>
          </a:p>
          <a:p>
            <a:pPr algn="l" marL="171450" indent="-171450"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/>
              </a:rPr>
              <a:t>Public Safety (5 PDs)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1996</Words>
  <Application>Microsoft Office PowerPoint</Application>
  <PresentationFormat>On-screen Show (4:3)</PresentationFormat>
  <Paragraphs>351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Alvarado, Steven</cp:lastModifiedBy>
  <cp:revision>6</cp:revision>
  <dcterms:created xsi:type="dcterms:W3CDTF">2013-01-27T09:14:16Z</dcterms:created>
  <dcterms:modified xsi:type="dcterms:W3CDTF">2026-04-16T20:49:43Z</dcterms:modified>
  <cp:category/>
</cp:coreProperties>
</file>