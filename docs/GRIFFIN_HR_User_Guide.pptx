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6" r:id="rId19"/>
    <p:sldId id="273" r:id="rId20"/>
    <p:sldId id="274" r:id="rId21"/>
    <p:sldId id="275"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330"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0003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4114800"/>
          </a:xfrm>
          <a:prstGeom prst="rect">
            <a:avLst/>
          </a:prstGeom>
          <a:solidFill>
            <a:srgbClr val="115740"/>
          </a:solidFill>
          <a:ln/>
        </p:spPr>
        <p:txBody>
          <a:bodyPr/>
          <a:lstStyle/>
          <a:p>
            <a:endParaRPr lang="en-US"/>
          </a:p>
        </p:txBody>
      </p:sp>
      <p:sp>
        <p:nvSpPr>
          <p:cNvPr id="3" name="Shape 1"/>
          <p:cNvSpPr/>
          <p:nvPr/>
        </p:nvSpPr>
        <p:spPr>
          <a:xfrm>
            <a:off x="0" y="4114800"/>
            <a:ext cx="12188952" cy="64008"/>
          </a:xfrm>
          <a:prstGeom prst="rect">
            <a:avLst/>
          </a:prstGeom>
          <a:solidFill>
            <a:srgbClr val="C99700"/>
          </a:solidFill>
          <a:ln/>
        </p:spPr>
        <p:txBody>
          <a:bodyPr/>
          <a:lstStyle/>
          <a:p>
            <a:endParaRPr lang="en-US"/>
          </a:p>
        </p:txBody>
      </p:sp>
      <p:sp>
        <p:nvSpPr>
          <p:cNvPr id="4" name="Text 2"/>
          <p:cNvSpPr/>
          <p:nvPr/>
        </p:nvSpPr>
        <p:spPr>
          <a:xfrm>
            <a:off x="914400" y="914400"/>
            <a:ext cx="10058400" cy="914400"/>
          </a:xfrm>
          <a:prstGeom prst="rect">
            <a:avLst/>
          </a:prstGeom>
          <a:noFill/>
          <a:ln/>
        </p:spPr>
        <p:txBody>
          <a:bodyPr wrap="square" lIns="0" tIns="0" rIns="0" bIns="0" rtlCol="0" anchor="ctr"/>
          <a:lstStyle/>
          <a:p>
            <a:pPr marL="0" indent="0">
              <a:buNone/>
            </a:pPr>
            <a:r>
              <a:rPr lang="en-US" sz="6000" b="1" dirty="0">
                <a:solidFill>
                  <a:srgbClr val="FFFFFF"/>
                </a:solidFill>
                <a:latin typeface="Calibri" pitchFamily="34" charset="0"/>
                <a:ea typeface="Calibri" pitchFamily="34" charset="-122"/>
                <a:cs typeface="Calibri" pitchFamily="34" charset="-120"/>
              </a:rPr>
              <a:t>GRIFFIN</a:t>
            </a:r>
            <a:endParaRPr lang="en-US" sz="6000" dirty="0"/>
          </a:p>
        </p:txBody>
      </p:sp>
      <p:sp>
        <p:nvSpPr>
          <p:cNvPr id="5" name="Text 3"/>
          <p:cNvSpPr/>
          <p:nvPr/>
        </p:nvSpPr>
        <p:spPr>
          <a:xfrm>
            <a:off x="914400" y="1920240"/>
            <a:ext cx="10058400" cy="457200"/>
          </a:xfrm>
          <a:prstGeom prst="rect">
            <a:avLst/>
          </a:prstGeom>
          <a:noFill/>
          <a:ln/>
        </p:spPr>
        <p:txBody>
          <a:bodyPr wrap="square" lIns="0" tIns="0" rIns="0" bIns="0" rtlCol="0" anchor="ctr"/>
          <a:lstStyle/>
          <a:p>
            <a:pPr marL="0" indent="0">
              <a:buNone/>
            </a:pPr>
            <a:r>
              <a:rPr lang="en-US" sz="3000" dirty="0">
                <a:solidFill>
                  <a:srgbClr val="F5F0E8"/>
                </a:solidFill>
                <a:latin typeface="Calibri" pitchFamily="34" charset="0"/>
                <a:ea typeface="Calibri" pitchFamily="34" charset="-122"/>
                <a:cs typeface="Calibri" pitchFamily="34" charset="-120"/>
              </a:rPr>
              <a:t>HR Position Classification &amp; Pay Tool</a:t>
            </a:r>
            <a:endParaRPr lang="en-US" sz="3000" dirty="0"/>
          </a:p>
        </p:txBody>
      </p:sp>
      <p:sp>
        <p:nvSpPr>
          <p:cNvPr id="6" name="Text 4"/>
          <p:cNvSpPr/>
          <p:nvPr/>
        </p:nvSpPr>
        <p:spPr>
          <a:xfrm>
            <a:off x="914400" y="2560320"/>
            <a:ext cx="10058400" cy="457200"/>
          </a:xfrm>
          <a:prstGeom prst="rect">
            <a:avLst/>
          </a:prstGeom>
          <a:noFill/>
          <a:ln/>
        </p:spPr>
        <p:txBody>
          <a:bodyPr wrap="square" lIns="0" tIns="0" rIns="0" bIns="0" rtlCol="0" anchor="ctr"/>
          <a:lstStyle/>
          <a:p>
            <a:pPr marL="0" indent="0">
              <a:buNone/>
            </a:pPr>
            <a:r>
              <a:rPr lang="en-US" sz="1600" kern="0" spc="300" dirty="0">
                <a:solidFill>
                  <a:srgbClr val="C99700"/>
                </a:solidFill>
                <a:latin typeface="Calibri" pitchFamily="34" charset="0"/>
                <a:ea typeface="Calibri" pitchFamily="34" charset="-122"/>
                <a:cs typeface="Calibri" pitchFamily="34" charset="-120"/>
              </a:rPr>
              <a:t>USER GUIDE  |  v1.0</a:t>
            </a:r>
            <a:endParaRPr lang="en-US" sz="1600" dirty="0"/>
          </a:p>
        </p:txBody>
      </p:sp>
      <p:sp>
        <p:nvSpPr>
          <p:cNvPr id="7" name="Text 5"/>
          <p:cNvSpPr/>
          <p:nvPr/>
        </p:nvSpPr>
        <p:spPr>
          <a:xfrm>
            <a:off x="914400" y="4754880"/>
            <a:ext cx="10058400" cy="365760"/>
          </a:xfrm>
          <a:prstGeom prst="rect">
            <a:avLst/>
          </a:prstGeom>
          <a:noFill/>
          <a:ln/>
        </p:spPr>
        <p:txBody>
          <a:bodyPr wrap="square" lIns="0" tIns="0" rIns="0" bIns="0" rtlCol="0" anchor="ctr"/>
          <a:lstStyle/>
          <a:p>
            <a:pPr marL="0" indent="0">
              <a:buNone/>
            </a:pPr>
            <a:r>
              <a:rPr lang="en-US" sz="1800" b="1" dirty="0">
                <a:solidFill>
                  <a:srgbClr val="115740"/>
                </a:solidFill>
                <a:latin typeface="Calibri" pitchFamily="34" charset="0"/>
                <a:ea typeface="Calibri" pitchFamily="34" charset="-122"/>
                <a:cs typeface="Calibri" pitchFamily="34" charset="-120"/>
              </a:rPr>
              <a:t>William &amp; Mary  |  Mason School of Business</a:t>
            </a:r>
            <a:endParaRPr lang="en-US" sz="1800" dirty="0"/>
          </a:p>
        </p:txBody>
      </p:sp>
      <p:sp>
        <p:nvSpPr>
          <p:cNvPr id="8" name="Text 6"/>
          <p:cNvSpPr/>
          <p:nvPr/>
        </p:nvSpPr>
        <p:spPr>
          <a:xfrm>
            <a:off x="914400" y="5212080"/>
            <a:ext cx="10058400" cy="457200"/>
          </a:xfrm>
          <a:prstGeom prst="rect">
            <a:avLst/>
          </a:prstGeom>
          <a:noFill/>
          <a:ln/>
        </p:spPr>
        <p:txBody>
          <a:bodyPr wrap="square" lIns="0" tIns="0" rIns="0" bIns="0" rtlCol="0" anchor="ctr"/>
          <a:lstStyle/>
          <a:p>
            <a:pPr marL="0" indent="0">
              <a:buNone/>
            </a:pPr>
            <a:r>
              <a:rPr lang="en-US" sz="1400" dirty="0">
                <a:solidFill>
                  <a:srgbClr val="666666"/>
                </a:solidFill>
                <a:latin typeface="Calibri" pitchFamily="34" charset="0"/>
                <a:ea typeface="Calibri" pitchFamily="34" charset="-122"/>
                <a:cs typeface="Calibri" pitchFamily="34" charset="-120"/>
              </a:rPr>
              <a:t>A step-by-step guide for classifying position descriptions</a:t>
            </a:r>
            <a:endParaRPr lang="en-US" sz="1400" dirty="0"/>
          </a:p>
          <a:p>
            <a:pPr marL="0" indent="0">
              <a:buNone/>
            </a:pPr>
            <a:r>
              <a:rPr lang="en-US" sz="1400" dirty="0">
                <a:solidFill>
                  <a:srgbClr val="666666"/>
                </a:solidFill>
                <a:latin typeface="Calibri" pitchFamily="34" charset="0"/>
                <a:ea typeface="Calibri" pitchFamily="34" charset="-122"/>
                <a:cs typeface="Calibri" pitchFamily="34" charset="-120"/>
              </a:rPr>
              <a:t>and understanding pay band recommendations</a:t>
            </a:r>
            <a:endParaRPr lang="en-US" sz="1400" dirty="0"/>
          </a:p>
        </p:txBody>
      </p:sp>
      <p:sp>
        <p:nvSpPr>
          <p:cNvPr id="9" name="Text 7"/>
          <p:cNvSpPr/>
          <p:nvPr/>
        </p:nvSpPr>
        <p:spPr>
          <a:xfrm>
            <a:off x="914400" y="5943600"/>
            <a:ext cx="10058400" cy="274320"/>
          </a:xfrm>
          <a:prstGeom prst="rect">
            <a:avLst/>
          </a:prstGeom>
          <a:noFill/>
          <a:ln/>
        </p:spPr>
        <p:txBody>
          <a:bodyPr wrap="square" lIns="0" tIns="0" rIns="0" bIns="0" rtlCol="0" anchor="ctr"/>
          <a:lstStyle/>
          <a:p>
            <a:pPr marL="0" indent="0">
              <a:buNone/>
            </a:pPr>
            <a:r>
              <a:rPr lang="en-US" sz="1100" dirty="0">
                <a:solidFill>
                  <a:srgbClr val="999999"/>
                </a:solidFill>
                <a:latin typeface="Calibri" pitchFamily="34" charset="0"/>
                <a:ea typeface="Calibri" pitchFamily="34" charset="-122"/>
                <a:cs typeface="Calibri" pitchFamily="34" charset="-120"/>
              </a:rPr>
              <a:t>Spring 2026  |  BUAD 5722 / BUAD 5742  |  Team 7</a:t>
            </a:r>
            <a:endParaRPr lang="en-US" sz="1100" dirty="0"/>
          </a:p>
        </p:txBody>
      </p:sp>
      <p:sp>
        <p:nvSpPr>
          <p:cNvPr id="10" name="Text 8"/>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1 / 20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What is GRIFFIN?</a:t>
            </a:r>
            <a:endParaRPr lang="en-US" sz="2800" dirty="0"/>
          </a:p>
        </p:txBody>
      </p:sp>
      <p:sp>
        <p:nvSpPr>
          <p:cNvPr id="5" name="Text 3"/>
          <p:cNvSpPr/>
          <p:nvPr/>
        </p:nvSpPr>
        <p:spPr>
          <a:xfrm>
            <a:off x="731520" y="1463040"/>
            <a:ext cx="10515600" cy="1097280"/>
          </a:xfrm>
          <a:prstGeom prst="rect">
            <a:avLst/>
          </a:prstGeom>
          <a:noFill/>
          <a:ln/>
        </p:spPr>
        <p:txBody>
          <a:bodyPr wrap="square" lIns="0" tIns="0" rIns="0" bIns="0" rtlCol="0" anchor="t"/>
          <a:lstStyle/>
          <a:p>
            <a:pPr marL="0" indent="0">
              <a:spcAft>
                <a:spcPts val="1200"/>
              </a:spcAft>
              <a:buNone/>
            </a:pPr>
            <a:r>
              <a:rPr lang="en-US" sz="2000" dirty="0">
                <a:solidFill>
                  <a:srgbClr val="2D2D2D"/>
                </a:solidFill>
                <a:latin typeface="Calibri" pitchFamily="34" charset="0"/>
                <a:ea typeface="Calibri" pitchFamily="34" charset="-122"/>
                <a:cs typeface="Calibri" pitchFamily="34" charset="-120"/>
              </a:rPr>
              <a:t>GRIFFIN is a web-based tool that helps HR professionals classify position descriptions into the correct career group and recommends appropriate pay bands.</a:t>
            </a:r>
            <a:endParaRPr lang="en-US" sz="2000" dirty="0"/>
          </a:p>
          <a:p>
            <a:pPr marL="0" indent="0">
              <a:buNone/>
            </a:pPr>
            <a:r>
              <a:rPr lang="en-US" sz="1600" dirty="0">
                <a:solidFill>
                  <a:srgbClr val="666666"/>
                </a:solidFill>
                <a:latin typeface="Calibri" pitchFamily="34" charset="0"/>
                <a:ea typeface="Calibri" pitchFamily="34" charset="-122"/>
                <a:cs typeface="Calibri" pitchFamily="34" charset="-120"/>
              </a:rPr>
              <a:t>Think of it as a knowledgeable colleague who reads a position description and says:</a:t>
            </a:r>
            <a:endParaRPr lang="en-US" sz="2000" dirty="0"/>
          </a:p>
        </p:txBody>
      </p:sp>
      <p:sp>
        <p:nvSpPr>
          <p:cNvPr id="6" name="Shape 4"/>
          <p:cNvSpPr/>
          <p:nvPr/>
        </p:nvSpPr>
        <p:spPr>
          <a:xfrm>
            <a:off x="1371600" y="2926080"/>
            <a:ext cx="9144000" cy="1005840"/>
          </a:xfrm>
          <a:prstGeom prst="rect">
            <a:avLst/>
          </a:prstGeom>
          <a:solidFill>
            <a:srgbClr val="E8F2EE"/>
          </a:solidFill>
          <a:ln w="12700">
            <a:solidFill>
              <a:srgbClr val="115740"/>
            </a:solidFill>
            <a:prstDash val="solid"/>
          </a:ln>
        </p:spPr>
        <p:txBody>
          <a:bodyPr/>
          <a:lstStyle/>
          <a:p>
            <a:endParaRPr lang="en-US"/>
          </a:p>
        </p:txBody>
      </p:sp>
      <p:sp>
        <p:nvSpPr>
          <p:cNvPr id="7" name="Text 5"/>
          <p:cNvSpPr/>
          <p:nvPr/>
        </p:nvSpPr>
        <p:spPr>
          <a:xfrm>
            <a:off x="1645920" y="3017520"/>
            <a:ext cx="8503920" cy="822960"/>
          </a:xfrm>
          <a:prstGeom prst="rect">
            <a:avLst/>
          </a:prstGeom>
          <a:noFill/>
          <a:ln/>
        </p:spPr>
        <p:txBody>
          <a:bodyPr wrap="square" lIns="0" tIns="0" rIns="0" bIns="0" rtlCol="0" anchor="ctr"/>
          <a:lstStyle/>
          <a:p>
            <a:pPr marL="0" indent="0">
              <a:buNone/>
            </a:pPr>
            <a:r>
              <a:rPr lang="en-US" sz="1700" dirty="0">
                <a:solidFill>
                  <a:srgbClr val="115740"/>
                </a:solidFill>
                <a:latin typeface="Calibri" pitchFamily="34" charset="0"/>
                <a:ea typeface="Calibri" pitchFamily="34" charset="-122"/>
                <a:cs typeface="Calibri" pitchFamily="34" charset="-120"/>
              </a:rPr>
              <a:t>"Based on these duties, this position best fits the Financial Services career group, Pay Band 5, with a salary range of $45,000 – $72,000."</a:t>
            </a:r>
            <a:endParaRPr lang="en-US" sz="1700" dirty="0"/>
          </a:p>
        </p:txBody>
      </p:sp>
      <p:sp>
        <p:nvSpPr>
          <p:cNvPr id="8" name="Text 6"/>
          <p:cNvSpPr/>
          <p:nvPr/>
        </p:nvSpPr>
        <p:spPr>
          <a:xfrm>
            <a:off x="731520" y="4297680"/>
            <a:ext cx="10515600" cy="1828800"/>
          </a:xfrm>
          <a:prstGeom prst="rect">
            <a:avLst/>
          </a:prstGeom>
          <a:noFill/>
          <a:ln/>
        </p:spPr>
        <p:txBody>
          <a:bodyPr wrap="square" rtlCol="0" anchor="ctr"/>
          <a:lstStyle/>
          <a:p>
            <a:pPr marL="342900" indent="-342900">
              <a:spcAft>
                <a:spcPts val="800"/>
              </a:spcAft>
              <a:buSzPct val="100000"/>
              <a:buChar char="•"/>
            </a:pPr>
            <a:r>
              <a:rPr lang="en-US" sz="1600" dirty="0">
                <a:solidFill>
                  <a:srgbClr val="2D2D2D"/>
                </a:solidFill>
                <a:latin typeface="Calibri" pitchFamily="34" charset="0"/>
                <a:ea typeface="Calibri" pitchFamily="34" charset="-122"/>
                <a:cs typeface="Calibri" pitchFamily="34" charset="-120"/>
              </a:rPr>
              <a:t>GRIFFIN is advisory — it provides recommendations, not final decisions.</a:t>
            </a:r>
            <a:endParaRPr lang="en-US" sz="1600" dirty="0"/>
          </a:p>
          <a:p>
            <a:pPr marL="342900" indent="-342900">
              <a:spcAft>
                <a:spcPts val="800"/>
              </a:spcAft>
              <a:buSzPct val="100000"/>
              <a:buChar char="•"/>
            </a:pPr>
            <a:r>
              <a:rPr lang="en-US" sz="1600" dirty="0">
                <a:solidFill>
                  <a:srgbClr val="2D2D2D"/>
                </a:solidFill>
                <a:latin typeface="Calibri" pitchFamily="34" charset="0"/>
                <a:ea typeface="Calibri" pitchFamily="34" charset="-122"/>
                <a:cs typeface="Calibri" pitchFamily="34" charset="-120"/>
              </a:rPr>
              <a:t>You are always the final authority on classification.</a:t>
            </a:r>
            <a:endParaRPr lang="en-US" sz="1600" dirty="0"/>
          </a:p>
          <a:p>
            <a:pPr marL="342900" indent="-342900">
              <a:buSzPct val="100000"/>
              <a:buChar char="•"/>
            </a:pPr>
            <a:r>
              <a:rPr lang="en-US" sz="1600" dirty="0">
                <a:solidFill>
                  <a:srgbClr val="2D2D2D"/>
                </a:solidFill>
                <a:latin typeface="Calibri" pitchFamily="34" charset="0"/>
                <a:ea typeface="Calibri" pitchFamily="34" charset="-122"/>
                <a:cs typeface="Calibri" pitchFamily="34" charset="-120"/>
              </a:rPr>
              <a:t>No installation required — runs in your web browser.</a:t>
            </a:r>
            <a:endParaRPr lang="en-US" sz="1600" dirty="0"/>
          </a:p>
        </p:txBody>
      </p:sp>
      <p:sp>
        <p:nvSpPr>
          <p:cNvPr id="9" name="Text 7"/>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2 / 20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When to Use GRIFFIN</a:t>
            </a:r>
            <a:endParaRPr lang="en-US" sz="2800" dirty="0"/>
          </a:p>
        </p:txBody>
      </p:sp>
      <p:sp>
        <p:nvSpPr>
          <p:cNvPr id="5" name="Shape 3"/>
          <p:cNvSpPr/>
          <p:nvPr/>
        </p:nvSpPr>
        <p:spPr>
          <a:xfrm>
            <a:off x="731520" y="1554480"/>
            <a:ext cx="5029200" cy="2011680"/>
          </a:xfrm>
          <a:prstGeom prst="rect">
            <a:avLst/>
          </a:prstGeom>
          <a:solidFill>
            <a:srgbClr val="FFFFFF"/>
          </a:solidFill>
          <a:ln w="12700">
            <a:solidFill>
              <a:srgbClr val="DDD8C8"/>
            </a:solidFill>
            <a:prstDash val="solid"/>
          </a:ln>
          <a:effectLst>
            <a:outerShdw blurRad="76200" dist="25400" dir="8100000" algn="bl" rotWithShape="0">
              <a:srgbClr val="000000">
                <a:alpha val="10000"/>
              </a:srgbClr>
            </a:outerShdw>
          </a:effectLst>
        </p:spPr>
        <p:txBody>
          <a:bodyPr/>
          <a:lstStyle/>
          <a:p>
            <a:endParaRPr lang="en-US"/>
          </a:p>
        </p:txBody>
      </p:sp>
      <p:sp>
        <p:nvSpPr>
          <p:cNvPr id="6" name="Shape 4"/>
          <p:cNvSpPr/>
          <p:nvPr/>
        </p:nvSpPr>
        <p:spPr>
          <a:xfrm>
            <a:off x="731520" y="1600200"/>
            <a:ext cx="54864" cy="1920240"/>
          </a:xfrm>
          <a:prstGeom prst="rect">
            <a:avLst/>
          </a:prstGeom>
          <a:solidFill>
            <a:srgbClr val="115740"/>
          </a:solidFill>
          <a:ln/>
        </p:spPr>
        <p:txBody>
          <a:bodyPr/>
          <a:lstStyle/>
          <a:p>
            <a:endParaRPr lang="en-US"/>
          </a:p>
        </p:txBody>
      </p:sp>
      <p:sp>
        <p:nvSpPr>
          <p:cNvPr id="7" name="Text 5"/>
          <p:cNvSpPr/>
          <p:nvPr/>
        </p:nvSpPr>
        <p:spPr>
          <a:xfrm>
            <a:off x="1005840" y="1691640"/>
            <a:ext cx="4572000" cy="320040"/>
          </a:xfrm>
          <a:prstGeom prst="rect">
            <a:avLst/>
          </a:prstGeom>
          <a:noFill/>
          <a:ln/>
        </p:spPr>
        <p:txBody>
          <a:bodyPr wrap="square" lIns="0" tIns="0" rIns="0" bIns="0" rtlCol="0" anchor="ctr"/>
          <a:lstStyle/>
          <a:p>
            <a:pPr marL="0" indent="0">
              <a:buNone/>
            </a:pPr>
            <a:r>
              <a:rPr lang="en-US" sz="1600" b="1" dirty="0">
                <a:solidFill>
                  <a:srgbClr val="115740"/>
                </a:solidFill>
                <a:latin typeface="Calibri" pitchFamily="34" charset="0"/>
                <a:ea typeface="Calibri" pitchFamily="34" charset="-122"/>
                <a:cs typeface="Calibri" pitchFamily="34" charset="-120"/>
              </a:rPr>
              <a:t>New Position Classification</a:t>
            </a:r>
            <a:endParaRPr lang="en-US" sz="1600" dirty="0"/>
          </a:p>
        </p:txBody>
      </p:sp>
      <p:sp>
        <p:nvSpPr>
          <p:cNvPr id="8" name="Text 6"/>
          <p:cNvSpPr/>
          <p:nvPr/>
        </p:nvSpPr>
        <p:spPr>
          <a:xfrm>
            <a:off x="1005840" y="2057400"/>
            <a:ext cx="4572000" cy="1371600"/>
          </a:xfrm>
          <a:prstGeom prst="rect">
            <a:avLst/>
          </a:prstGeom>
          <a:noFill/>
          <a:ln/>
        </p:spPr>
        <p:txBody>
          <a:bodyPr wrap="square" rtlCol="0" anchor="t"/>
          <a:lstStyle/>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A new position is being created and you need</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to determine the right career group and pay band.</a:t>
            </a:r>
            <a:endParaRPr lang="en-US" sz="1300" dirty="0"/>
          </a:p>
        </p:txBody>
      </p:sp>
      <p:sp>
        <p:nvSpPr>
          <p:cNvPr id="9" name="Shape 7"/>
          <p:cNvSpPr/>
          <p:nvPr/>
        </p:nvSpPr>
        <p:spPr>
          <a:xfrm>
            <a:off x="6217920" y="1554480"/>
            <a:ext cx="5029200" cy="2011680"/>
          </a:xfrm>
          <a:prstGeom prst="rect">
            <a:avLst/>
          </a:prstGeom>
          <a:solidFill>
            <a:srgbClr val="FFFFFF"/>
          </a:solidFill>
          <a:ln w="12700">
            <a:solidFill>
              <a:srgbClr val="DDD8C8"/>
            </a:solidFill>
            <a:prstDash val="solid"/>
          </a:ln>
          <a:effectLst>
            <a:outerShdw blurRad="76200" dist="25400" dir="8100000" algn="bl" rotWithShape="0">
              <a:srgbClr val="000000">
                <a:alpha val="10000"/>
              </a:srgbClr>
            </a:outerShdw>
          </a:effectLst>
        </p:spPr>
        <p:txBody>
          <a:bodyPr/>
          <a:lstStyle/>
          <a:p>
            <a:endParaRPr lang="en-US"/>
          </a:p>
        </p:txBody>
      </p:sp>
      <p:sp>
        <p:nvSpPr>
          <p:cNvPr id="10" name="Shape 8"/>
          <p:cNvSpPr/>
          <p:nvPr/>
        </p:nvSpPr>
        <p:spPr>
          <a:xfrm>
            <a:off x="6217920" y="1600200"/>
            <a:ext cx="54864" cy="1920240"/>
          </a:xfrm>
          <a:prstGeom prst="rect">
            <a:avLst/>
          </a:prstGeom>
          <a:solidFill>
            <a:srgbClr val="C99700"/>
          </a:solidFill>
          <a:ln/>
        </p:spPr>
        <p:txBody>
          <a:bodyPr/>
          <a:lstStyle/>
          <a:p>
            <a:endParaRPr lang="en-US"/>
          </a:p>
        </p:txBody>
      </p:sp>
      <p:sp>
        <p:nvSpPr>
          <p:cNvPr id="11" name="Text 9"/>
          <p:cNvSpPr/>
          <p:nvPr/>
        </p:nvSpPr>
        <p:spPr>
          <a:xfrm>
            <a:off x="6492240" y="1691640"/>
            <a:ext cx="4572000" cy="320040"/>
          </a:xfrm>
          <a:prstGeom prst="rect">
            <a:avLst/>
          </a:prstGeom>
          <a:noFill/>
          <a:ln/>
        </p:spPr>
        <p:txBody>
          <a:bodyPr wrap="square" lIns="0" tIns="0" rIns="0" bIns="0" rtlCol="0" anchor="ctr"/>
          <a:lstStyle/>
          <a:p>
            <a:pPr marL="0" indent="0">
              <a:buNone/>
            </a:pPr>
            <a:r>
              <a:rPr lang="en-US" sz="1600" b="1" dirty="0">
                <a:solidFill>
                  <a:srgbClr val="C99700"/>
                </a:solidFill>
                <a:latin typeface="Calibri" pitchFamily="34" charset="0"/>
                <a:ea typeface="Calibri" pitchFamily="34" charset="-122"/>
                <a:cs typeface="Calibri" pitchFamily="34" charset="-120"/>
              </a:rPr>
              <a:t>Reclassification Review</a:t>
            </a:r>
            <a:endParaRPr lang="en-US" sz="1600" dirty="0"/>
          </a:p>
        </p:txBody>
      </p:sp>
      <p:sp>
        <p:nvSpPr>
          <p:cNvPr id="12" name="Text 10"/>
          <p:cNvSpPr/>
          <p:nvPr/>
        </p:nvSpPr>
        <p:spPr>
          <a:xfrm>
            <a:off x="6492240" y="2057400"/>
            <a:ext cx="4572000" cy="1371600"/>
          </a:xfrm>
          <a:prstGeom prst="rect">
            <a:avLst/>
          </a:prstGeom>
          <a:noFill/>
          <a:ln/>
        </p:spPr>
        <p:txBody>
          <a:bodyPr wrap="square" rtlCol="0" anchor="t"/>
          <a:lstStyle/>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An existing position's duties have changed</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significantly and may need a new classification.</a:t>
            </a:r>
            <a:endParaRPr lang="en-US" sz="1300" dirty="0"/>
          </a:p>
        </p:txBody>
      </p:sp>
      <p:sp>
        <p:nvSpPr>
          <p:cNvPr id="13" name="Shape 11"/>
          <p:cNvSpPr/>
          <p:nvPr/>
        </p:nvSpPr>
        <p:spPr>
          <a:xfrm>
            <a:off x="731520" y="3931920"/>
            <a:ext cx="5029200" cy="2011680"/>
          </a:xfrm>
          <a:prstGeom prst="rect">
            <a:avLst/>
          </a:prstGeom>
          <a:solidFill>
            <a:srgbClr val="FFFFFF"/>
          </a:solidFill>
          <a:ln w="12700">
            <a:solidFill>
              <a:srgbClr val="DDD8C8"/>
            </a:solidFill>
            <a:prstDash val="solid"/>
          </a:ln>
          <a:effectLst>
            <a:outerShdw blurRad="76200" dist="25400" dir="8100000" algn="bl" rotWithShape="0">
              <a:srgbClr val="000000">
                <a:alpha val="10000"/>
              </a:srgbClr>
            </a:outerShdw>
          </a:effectLst>
        </p:spPr>
        <p:txBody>
          <a:bodyPr/>
          <a:lstStyle/>
          <a:p>
            <a:endParaRPr lang="en-US"/>
          </a:p>
        </p:txBody>
      </p:sp>
      <p:sp>
        <p:nvSpPr>
          <p:cNvPr id="14" name="Shape 12"/>
          <p:cNvSpPr/>
          <p:nvPr/>
        </p:nvSpPr>
        <p:spPr>
          <a:xfrm>
            <a:off x="731520" y="3977640"/>
            <a:ext cx="54864" cy="1920240"/>
          </a:xfrm>
          <a:prstGeom prst="rect">
            <a:avLst/>
          </a:prstGeom>
          <a:solidFill>
            <a:srgbClr val="115740"/>
          </a:solidFill>
          <a:ln/>
        </p:spPr>
        <p:txBody>
          <a:bodyPr/>
          <a:lstStyle/>
          <a:p>
            <a:endParaRPr lang="en-US"/>
          </a:p>
        </p:txBody>
      </p:sp>
      <p:sp>
        <p:nvSpPr>
          <p:cNvPr id="15" name="Text 13"/>
          <p:cNvSpPr/>
          <p:nvPr/>
        </p:nvSpPr>
        <p:spPr>
          <a:xfrm>
            <a:off x="1005840" y="4069080"/>
            <a:ext cx="4572000" cy="320040"/>
          </a:xfrm>
          <a:prstGeom prst="rect">
            <a:avLst/>
          </a:prstGeom>
          <a:noFill/>
          <a:ln/>
        </p:spPr>
        <p:txBody>
          <a:bodyPr wrap="square" lIns="0" tIns="0" rIns="0" bIns="0" rtlCol="0" anchor="ctr"/>
          <a:lstStyle/>
          <a:p>
            <a:pPr marL="0" indent="0">
              <a:buNone/>
            </a:pPr>
            <a:r>
              <a:rPr lang="en-US" sz="1600" b="1" dirty="0">
                <a:solidFill>
                  <a:srgbClr val="115740"/>
                </a:solidFill>
                <a:latin typeface="Calibri" pitchFamily="34" charset="0"/>
                <a:ea typeface="Calibri" pitchFamily="34" charset="-122"/>
                <a:cs typeface="Calibri" pitchFamily="34" charset="-120"/>
              </a:rPr>
              <a:t>Pay Band Verification</a:t>
            </a:r>
            <a:endParaRPr lang="en-US" sz="1600" dirty="0"/>
          </a:p>
        </p:txBody>
      </p:sp>
      <p:sp>
        <p:nvSpPr>
          <p:cNvPr id="16" name="Text 14"/>
          <p:cNvSpPr/>
          <p:nvPr/>
        </p:nvSpPr>
        <p:spPr>
          <a:xfrm>
            <a:off x="1005840" y="4434840"/>
            <a:ext cx="4572000" cy="1371600"/>
          </a:xfrm>
          <a:prstGeom prst="rect">
            <a:avLst/>
          </a:prstGeom>
          <a:noFill/>
          <a:ln/>
        </p:spPr>
        <p:txBody>
          <a:bodyPr wrap="square" rtlCol="0" anchor="t"/>
          <a:lstStyle/>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You want to confirm a position is in the right</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pay band or check salary range accuracy.</a:t>
            </a:r>
            <a:endParaRPr lang="en-US" sz="1300" dirty="0"/>
          </a:p>
        </p:txBody>
      </p:sp>
      <p:sp>
        <p:nvSpPr>
          <p:cNvPr id="17" name="Shape 15"/>
          <p:cNvSpPr/>
          <p:nvPr/>
        </p:nvSpPr>
        <p:spPr>
          <a:xfrm>
            <a:off x="6217920" y="3931920"/>
            <a:ext cx="5029200" cy="2011680"/>
          </a:xfrm>
          <a:prstGeom prst="rect">
            <a:avLst/>
          </a:prstGeom>
          <a:solidFill>
            <a:srgbClr val="FFFFFF"/>
          </a:solidFill>
          <a:ln w="12700">
            <a:solidFill>
              <a:srgbClr val="DDD8C8"/>
            </a:solidFill>
            <a:prstDash val="solid"/>
          </a:ln>
          <a:effectLst>
            <a:outerShdw blurRad="76200" dist="25400" dir="8100000" algn="bl" rotWithShape="0">
              <a:srgbClr val="000000">
                <a:alpha val="10000"/>
              </a:srgbClr>
            </a:outerShdw>
          </a:effectLst>
        </p:spPr>
        <p:txBody>
          <a:bodyPr/>
          <a:lstStyle/>
          <a:p>
            <a:endParaRPr lang="en-US"/>
          </a:p>
        </p:txBody>
      </p:sp>
      <p:sp>
        <p:nvSpPr>
          <p:cNvPr id="18" name="Shape 16"/>
          <p:cNvSpPr/>
          <p:nvPr/>
        </p:nvSpPr>
        <p:spPr>
          <a:xfrm>
            <a:off x="6217920" y="3977640"/>
            <a:ext cx="54864" cy="1920240"/>
          </a:xfrm>
          <a:prstGeom prst="rect">
            <a:avLst/>
          </a:prstGeom>
          <a:solidFill>
            <a:srgbClr val="C99700"/>
          </a:solidFill>
          <a:ln/>
        </p:spPr>
        <p:txBody>
          <a:bodyPr/>
          <a:lstStyle/>
          <a:p>
            <a:endParaRPr lang="en-US"/>
          </a:p>
        </p:txBody>
      </p:sp>
      <p:sp>
        <p:nvSpPr>
          <p:cNvPr id="19" name="Text 17"/>
          <p:cNvSpPr/>
          <p:nvPr/>
        </p:nvSpPr>
        <p:spPr>
          <a:xfrm>
            <a:off x="6492240" y="4069080"/>
            <a:ext cx="4572000" cy="320040"/>
          </a:xfrm>
          <a:prstGeom prst="rect">
            <a:avLst/>
          </a:prstGeom>
          <a:noFill/>
          <a:ln/>
        </p:spPr>
        <p:txBody>
          <a:bodyPr wrap="square" lIns="0" tIns="0" rIns="0" bIns="0" rtlCol="0" anchor="ctr"/>
          <a:lstStyle/>
          <a:p>
            <a:pPr marL="0" indent="0">
              <a:buNone/>
            </a:pPr>
            <a:r>
              <a:rPr lang="en-US" sz="1600" b="1" dirty="0">
                <a:solidFill>
                  <a:srgbClr val="C99700"/>
                </a:solidFill>
                <a:latin typeface="Calibri" pitchFamily="34" charset="0"/>
                <a:ea typeface="Calibri" pitchFamily="34" charset="-122"/>
                <a:cs typeface="Calibri" pitchFamily="34" charset="-120"/>
              </a:rPr>
              <a:t>Position Comparison</a:t>
            </a:r>
            <a:endParaRPr lang="en-US" sz="1600" dirty="0"/>
          </a:p>
        </p:txBody>
      </p:sp>
      <p:sp>
        <p:nvSpPr>
          <p:cNvPr id="20" name="Text 18"/>
          <p:cNvSpPr/>
          <p:nvPr/>
        </p:nvSpPr>
        <p:spPr>
          <a:xfrm>
            <a:off x="6492240" y="4434840"/>
            <a:ext cx="4572000" cy="1371600"/>
          </a:xfrm>
          <a:prstGeom prst="rect">
            <a:avLst/>
          </a:prstGeom>
          <a:noFill/>
          <a:ln/>
        </p:spPr>
        <p:txBody>
          <a:bodyPr wrap="square" rtlCol="0" anchor="t"/>
          <a:lstStyle/>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You are comparing similar positions to ensure</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consistent classification across the organization.</a:t>
            </a:r>
            <a:endParaRPr lang="en-US" sz="1300" dirty="0"/>
          </a:p>
        </p:txBody>
      </p:sp>
      <p:sp>
        <p:nvSpPr>
          <p:cNvPr id="21" name="Text 19"/>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3 / 20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Getting Started</a:t>
            </a:r>
            <a:endParaRPr lang="en-US" sz="2800" dirty="0"/>
          </a:p>
        </p:txBody>
      </p:sp>
      <p:sp>
        <p:nvSpPr>
          <p:cNvPr id="5" name="Text 3"/>
          <p:cNvSpPr/>
          <p:nvPr/>
        </p:nvSpPr>
        <p:spPr>
          <a:xfrm>
            <a:off x="640080" y="621792"/>
            <a:ext cx="10515600" cy="320040"/>
          </a:xfrm>
          <a:prstGeom prst="rect">
            <a:avLst/>
          </a:prstGeom>
          <a:noFill/>
          <a:ln/>
        </p:spPr>
        <p:txBody>
          <a:bodyPr wrap="square" lIns="0" tIns="0" rIns="0" bIns="0" rtlCol="0" anchor="ctr"/>
          <a:lstStyle/>
          <a:p>
            <a:pPr marL="0" indent="0">
              <a:buNone/>
            </a:pPr>
            <a:r>
              <a:rPr lang="en-US" sz="1300" dirty="0">
                <a:solidFill>
                  <a:srgbClr val="C99700"/>
                </a:solidFill>
                <a:latin typeface="Calibri" pitchFamily="34" charset="0"/>
                <a:ea typeface="Calibri" pitchFamily="34" charset="-122"/>
                <a:cs typeface="Calibri" pitchFamily="34" charset="-120"/>
              </a:rPr>
              <a:t>No installation required</a:t>
            </a:r>
            <a:endParaRPr lang="en-US" sz="1300" dirty="0"/>
          </a:p>
        </p:txBody>
      </p:sp>
      <p:sp>
        <p:nvSpPr>
          <p:cNvPr id="6" name="Text 4"/>
          <p:cNvSpPr/>
          <p:nvPr/>
        </p:nvSpPr>
        <p:spPr>
          <a:xfrm>
            <a:off x="731520" y="1463040"/>
            <a:ext cx="10515600" cy="2286000"/>
          </a:xfrm>
          <a:prstGeom prst="rect">
            <a:avLst/>
          </a:prstGeom>
          <a:noFill/>
          <a:ln/>
        </p:spPr>
        <p:txBody>
          <a:bodyPr wrap="square" lIns="0" tIns="0" rIns="0" bIns="0" rtlCol="0" anchor="t"/>
          <a:lstStyle/>
          <a:p>
            <a:pPr marL="0" indent="0">
              <a:spcAft>
                <a:spcPts val="1400"/>
              </a:spcAft>
              <a:buNone/>
            </a:pPr>
            <a:r>
              <a:rPr lang="en-US" sz="1800" b="1" dirty="0">
                <a:solidFill>
                  <a:srgbClr val="2D2D2D"/>
                </a:solidFill>
                <a:latin typeface="Calibri" pitchFamily="34" charset="0"/>
                <a:ea typeface="Calibri" pitchFamily="34" charset="-122"/>
                <a:cs typeface="Calibri" pitchFamily="34" charset="-120"/>
              </a:rPr>
              <a:t>Step 1:  Open your web browser (Chrome, Edge, Firefox, or Safari)</a:t>
            </a:r>
            <a:endParaRPr lang="en-US" sz="1800" dirty="0"/>
          </a:p>
          <a:p>
            <a:pPr marL="0" indent="0">
              <a:spcAft>
                <a:spcPts val="800"/>
              </a:spcAft>
              <a:buNone/>
            </a:pPr>
            <a:r>
              <a:rPr lang="en-US" sz="1800" b="1" dirty="0">
                <a:solidFill>
                  <a:srgbClr val="2D2D2D"/>
                </a:solidFill>
                <a:latin typeface="Calibri" pitchFamily="34" charset="0"/>
                <a:ea typeface="Calibri" pitchFamily="34" charset="-122"/>
                <a:cs typeface="Calibri" pitchFamily="34" charset="-120"/>
              </a:rPr>
              <a:t>Step 2:  Go to the GRIFFIN website:</a:t>
            </a:r>
            <a:endParaRPr lang="en-US" sz="1800" dirty="0"/>
          </a:p>
          <a:p>
            <a:pPr marL="0" indent="0">
              <a:spcAft>
                <a:spcPts val="2000"/>
              </a:spcAft>
              <a:buNone/>
            </a:pPr>
            <a:r>
              <a:rPr lang="en-US" sz="2000" b="1" dirty="0">
                <a:solidFill>
                  <a:srgbClr val="115740"/>
                </a:solidFill>
                <a:latin typeface="Calibri" pitchFamily="34" charset="0"/>
                <a:ea typeface="Calibri" pitchFamily="34" charset="-122"/>
                <a:cs typeface="Calibri" pitchFamily="34" charset="-120"/>
              </a:rPr>
              <a:t>              https://griffin-hr-classifier.streamlit.app</a:t>
            </a:r>
            <a:endParaRPr lang="en-US" sz="1800" dirty="0"/>
          </a:p>
          <a:p>
            <a:pPr marL="0" indent="0">
              <a:buNone/>
            </a:pPr>
            <a:r>
              <a:rPr lang="en-US" sz="1800" b="1" dirty="0">
                <a:solidFill>
                  <a:srgbClr val="2D2D2D"/>
                </a:solidFill>
                <a:latin typeface="Calibri" pitchFamily="34" charset="0"/>
                <a:ea typeface="Calibri" pitchFamily="34" charset="-122"/>
                <a:cs typeface="Calibri" pitchFamily="34" charset="-120"/>
              </a:rPr>
              <a:t>Step 3:  That's it! You're ready to classify.</a:t>
            </a:r>
            <a:endParaRPr lang="en-US" sz="1800" dirty="0"/>
          </a:p>
        </p:txBody>
      </p:sp>
      <p:sp>
        <p:nvSpPr>
          <p:cNvPr id="7" name="Shape 5"/>
          <p:cNvSpPr/>
          <p:nvPr/>
        </p:nvSpPr>
        <p:spPr>
          <a:xfrm>
            <a:off x="731520" y="3840480"/>
            <a:ext cx="10515600" cy="2103120"/>
          </a:xfrm>
          <a:prstGeom prst="rect">
            <a:avLst/>
          </a:prstGeom>
          <a:solidFill>
            <a:srgbClr val="E8F2EE"/>
          </a:solidFill>
          <a:ln w="12700">
            <a:solidFill>
              <a:srgbClr val="115740"/>
            </a:solidFill>
            <a:prstDash val="solid"/>
          </a:ln>
        </p:spPr>
        <p:txBody>
          <a:bodyPr/>
          <a:lstStyle/>
          <a:p>
            <a:endParaRPr lang="en-US"/>
          </a:p>
        </p:txBody>
      </p:sp>
      <p:sp>
        <p:nvSpPr>
          <p:cNvPr id="8" name="Text 6"/>
          <p:cNvSpPr/>
          <p:nvPr/>
        </p:nvSpPr>
        <p:spPr>
          <a:xfrm>
            <a:off x="1097280" y="3977640"/>
            <a:ext cx="9144000" cy="274320"/>
          </a:xfrm>
          <a:prstGeom prst="rect">
            <a:avLst/>
          </a:prstGeom>
          <a:noFill/>
          <a:ln/>
        </p:spPr>
        <p:txBody>
          <a:bodyPr wrap="square" lIns="0" tIns="0" rIns="0" bIns="0" rtlCol="0" anchor="ctr"/>
          <a:lstStyle/>
          <a:p>
            <a:pPr marL="0" indent="0">
              <a:buNone/>
            </a:pPr>
            <a:r>
              <a:rPr lang="en-US" sz="1600" b="1" dirty="0">
                <a:solidFill>
                  <a:srgbClr val="115740"/>
                </a:solidFill>
                <a:latin typeface="Calibri" pitchFamily="34" charset="0"/>
                <a:ea typeface="Calibri" pitchFamily="34" charset="-122"/>
                <a:cs typeface="Calibri" pitchFamily="34" charset="-120"/>
              </a:rPr>
              <a:t>Good to Know</a:t>
            </a:r>
            <a:endParaRPr lang="en-US" sz="1600" dirty="0"/>
          </a:p>
        </p:txBody>
      </p:sp>
      <p:sp>
        <p:nvSpPr>
          <p:cNvPr id="9" name="Text 7"/>
          <p:cNvSpPr/>
          <p:nvPr/>
        </p:nvSpPr>
        <p:spPr>
          <a:xfrm>
            <a:off x="1097280" y="4343400"/>
            <a:ext cx="9601200" cy="1463040"/>
          </a:xfrm>
          <a:prstGeom prst="rect">
            <a:avLst/>
          </a:prstGeom>
          <a:noFill/>
          <a:ln/>
        </p:spPr>
        <p:txBody>
          <a:bodyPr wrap="square" rtlCol="0" anchor="ctr"/>
          <a:lstStyle/>
          <a:p>
            <a:pPr marL="342900" indent="-342900">
              <a:spcAft>
                <a:spcPts val="400"/>
              </a:spcAft>
              <a:buSzPct val="100000"/>
              <a:buChar char="•"/>
            </a:pPr>
            <a:r>
              <a:rPr lang="en-US" sz="1400" dirty="0">
                <a:solidFill>
                  <a:srgbClr val="2D2D2D"/>
                </a:solidFill>
                <a:latin typeface="Calibri" pitchFamily="34" charset="0"/>
                <a:ea typeface="Calibri" pitchFamily="34" charset="-122"/>
                <a:cs typeface="Calibri" pitchFamily="34" charset="-120"/>
              </a:rPr>
              <a:t>No software to install or update</a:t>
            </a:r>
            <a:endParaRPr lang="en-US" sz="1400" dirty="0"/>
          </a:p>
          <a:p>
            <a:pPr marL="342900" indent="-342900">
              <a:spcAft>
                <a:spcPts val="400"/>
              </a:spcAft>
              <a:buSzPct val="100000"/>
              <a:buChar char="•"/>
            </a:pPr>
            <a:r>
              <a:rPr lang="en-US" sz="1400" dirty="0">
                <a:solidFill>
                  <a:srgbClr val="2D2D2D"/>
                </a:solidFill>
                <a:latin typeface="Calibri" pitchFamily="34" charset="0"/>
                <a:ea typeface="Calibri" pitchFamily="34" charset="-122"/>
                <a:cs typeface="Calibri" pitchFamily="34" charset="-120"/>
              </a:rPr>
              <a:t>No login or password required</a:t>
            </a:r>
            <a:endParaRPr lang="en-US" sz="1400" dirty="0"/>
          </a:p>
          <a:p>
            <a:pPr marL="342900" indent="-342900">
              <a:spcAft>
                <a:spcPts val="400"/>
              </a:spcAft>
              <a:buSzPct val="100000"/>
              <a:buChar char="•"/>
            </a:pPr>
            <a:r>
              <a:rPr lang="en-US" sz="1400" dirty="0">
                <a:solidFill>
                  <a:srgbClr val="2D2D2D"/>
                </a:solidFill>
                <a:latin typeface="Calibri" pitchFamily="34" charset="0"/>
                <a:ea typeface="Calibri" pitchFamily="34" charset="-122"/>
                <a:cs typeface="Calibri" pitchFamily="34" charset="-120"/>
              </a:rPr>
              <a:t>Works on any computer, tablet, or phone with a web browser</a:t>
            </a:r>
            <a:endParaRPr lang="en-US" sz="1400" dirty="0"/>
          </a:p>
          <a:p>
            <a:pPr marL="342900" indent="-342900">
              <a:buSzPct val="100000"/>
              <a:buChar char="•"/>
            </a:pPr>
            <a:r>
              <a:rPr lang="en-US" sz="1400" dirty="0">
                <a:solidFill>
                  <a:srgbClr val="2D2D2D"/>
                </a:solidFill>
                <a:latin typeface="Calibri" pitchFamily="34" charset="0"/>
                <a:ea typeface="Calibri" pitchFamily="34" charset="-122"/>
                <a:cs typeface="Calibri" pitchFamily="34" charset="-120"/>
              </a:rPr>
              <a:t>Your data is processed in real time and is not stored by the system</a:t>
            </a:r>
            <a:endParaRPr lang="en-US" sz="1400" dirty="0"/>
          </a:p>
        </p:txBody>
      </p:sp>
      <p:sp>
        <p:nvSpPr>
          <p:cNvPr id="10" name="Text 8"/>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4 / 20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Step 1: Paste a Position Description</a:t>
            </a:r>
            <a:endParaRPr lang="en-US" sz="2800" dirty="0"/>
          </a:p>
        </p:txBody>
      </p:sp>
      <p:sp>
        <p:nvSpPr>
          <p:cNvPr id="5" name="Text 3"/>
          <p:cNvSpPr/>
          <p:nvPr/>
        </p:nvSpPr>
        <p:spPr>
          <a:xfrm>
            <a:off x="731520" y="1463040"/>
            <a:ext cx="6400800" cy="4572000"/>
          </a:xfrm>
          <a:prstGeom prst="rect">
            <a:avLst/>
          </a:prstGeom>
          <a:noFill/>
          <a:ln/>
        </p:spPr>
        <p:txBody>
          <a:bodyPr wrap="square" lIns="0" tIns="0" rIns="0" bIns="0" rtlCol="0" anchor="t"/>
          <a:lstStyle/>
          <a:p>
            <a:pPr marL="0" indent="0">
              <a:spcAft>
                <a:spcPts val="1400"/>
              </a:spcAft>
              <a:buNone/>
            </a:pPr>
            <a:r>
              <a:rPr lang="en-US" sz="1800" dirty="0">
                <a:solidFill>
                  <a:srgbClr val="2D2D2D"/>
                </a:solidFill>
                <a:latin typeface="Calibri" pitchFamily="34" charset="0"/>
                <a:ea typeface="Calibri" pitchFamily="34" charset="-122"/>
                <a:cs typeface="Calibri" pitchFamily="34" charset="-120"/>
              </a:rPr>
              <a:t>Copy the full position description text from:</a:t>
            </a:r>
            <a:endParaRPr lang="en-US" sz="1600" dirty="0"/>
          </a:p>
          <a:p>
            <a:pPr marL="342900" indent="-342900">
              <a:spcAft>
                <a:spcPts val="600"/>
              </a:spcAft>
              <a:buSzPct val="100000"/>
              <a:buChar char="•"/>
            </a:pPr>
            <a:r>
              <a:rPr lang="en-US" sz="1600" dirty="0">
                <a:solidFill>
                  <a:srgbClr val="2D2D2D"/>
                </a:solidFill>
                <a:latin typeface="Calibri" pitchFamily="34" charset="0"/>
                <a:ea typeface="Calibri" pitchFamily="34" charset="-122"/>
                <a:cs typeface="Calibri" pitchFamily="34" charset="-120"/>
              </a:rPr>
              <a:t>Workday or your HR system</a:t>
            </a:r>
            <a:endParaRPr lang="en-US" sz="1600" dirty="0"/>
          </a:p>
          <a:p>
            <a:pPr marL="342900" indent="-342900">
              <a:spcAft>
                <a:spcPts val="600"/>
              </a:spcAft>
              <a:buSzPct val="100000"/>
              <a:buChar char="•"/>
            </a:pPr>
            <a:r>
              <a:rPr lang="en-US" sz="1600" dirty="0">
                <a:solidFill>
                  <a:srgbClr val="2D2D2D"/>
                </a:solidFill>
                <a:latin typeface="Calibri" pitchFamily="34" charset="0"/>
                <a:ea typeface="Calibri" pitchFamily="34" charset="-122"/>
                <a:cs typeface="Calibri" pitchFamily="34" charset="-120"/>
              </a:rPr>
              <a:t>An email or document from a manager</a:t>
            </a:r>
            <a:endParaRPr lang="en-US" sz="1600" dirty="0"/>
          </a:p>
          <a:p>
            <a:pPr marL="342900" indent="-342900">
              <a:spcAft>
                <a:spcPts val="2000"/>
              </a:spcAft>
              <a:buSzPct val="100000"/>
              <a:buChar char="•"/>
            </a:pPr>
            <a:r>
              <a:rPr lang="en-US" sz="1600" dirty="0">
                <a:solidFill>
                  <a:srgbClr val="2D2D2D"/>
                </a:solidFill>
                <a:latin typeface="Calibri" pitchFamily="34" charset="0"/>
                <a:ea typeface="Calibri" pitchFamily="34" charset="-122"/>
                <a:cs typeface="Calibri" pitchFamily="34" charset="-120"/>
              </a:rPr>
              <a:t>A Word document or PDF</a:t>
            </a:r>
            <a:endParaRPr lang="en-US" sz="1600" dirty="0"/>
          </a:p>
          <a:p>
            <a:pPr marL="0" indent="0">
              <a:spcAft>
                <a:spcPts val="2000"/>
              </a:spcAft>
              <a:buNone/>
            </a:pPr>
            <a:r>
              <a:rPr lang="en-US" sz="1800" dirty="0">
                <a:solidFill>
                  <a:srgbClr val="2D2D2D"/>
                </a:solidFill>
                <a:latin typeface="Calibri" pitchFamily="34" charset="0"/>
                <a:ea typeface="Calibri" pitchFamily="34" charset="-122"/>
                <a:cs typeface="Calibri" pitchFamily="34" charset="-120"/>
              </a:rPr>
              <a:t>Then paste it into the large text box on the GRIFFIN page.</a:t>
            </a:r>
            <a:endParaRPr lang="en-US" sz="1600" dirty="0"/>
          </a:p>
          <a:p>
            <a:pPr marL="0" indent="0">
              <a:spcAft>
                <a:spcPts val="600"/>
              </a:spcAft>
              <a:buNone/>
            </a:pPr>
            <a:r>
              <a:rPr lang="en-US" sz="1600" b="1" dirty="0">
                <a:solidFill>
                  <a:srgbClr val="115740"/>
                </a:solidFill>
                <a:latin typeface="Calibri" pitchFamily="34" charset="0"/>
                <a:ea typeface="Calibri" pitchFamily="34" charset="-122"/>
                <a:cs typeface="Calibri" pitchFamily="34" charset="-120"/>
              </a:rPr>
              <a:t>Tip: Include the FULL description, not just the job title.</a:t>
            </a:r>
            <a:endParaRPr lang="en-US" sz="1600" dirty="0"/>
          </a:p>
          <a:p>
            <a:pPr marL="0" indent="0">
              <a:buNone/>
            </a:pPr>
            <a:r>
              <a:rPr lang="en-US" sz="1300" dirty="0">
                <a:solidFill>
                  <a:srgbClr val="666666"/>
                </a:solidFill>
                <a:latin typeface="Calibri" pitchFamily="34" charset="0"/>
                <a:ea typeface="Calibri" pitchFamily="34" charset="-122"/>
                <a:cs typeface="Calibri" pitchFamily="34" charset="-120"/>
              </a:rPr>
              <a:t>The more detail you include (duties, percentages, qualifications, reporting relationships), the better GRIFFIN can match the </a:t>
            </a:r>
            <a:r>
              <a:rPr lang="en-US" sz="1300">
                <a:solidFill>
                  <a:srgbClr val="666666"/>
                </a:solidFill>
                <a:latin typeface="Calibri" pitchFamily="34" charset="0"/>
                <a:ea typeface="Calibri" pitchFamily="34" charset="-122"/>
                <a:cs typeface="Calibri" pitchFamily="34" charset="-120"/>
              </a:rPr>
              <a:t>position.</a:t>
            </a:r>
          </a:p>
          <a:p>
            <a:pPr marL="0" indent="0">
              <a:buNone/>
            </a:pPr>
            <a:endParaRPr lang="en-US" sz="1600" dirty="0"/>
          </a:p>
          <a:p>
            <a:pPr marL="0" indent="0">
              <a:spcAft>
                <a:spcPts val="600"/>
              </a:spcAft>
              <a:buNone/>
            </a:pPr>
            <a:r>
              <a:rPr lang="en-US" sz="1600" b="1" dirty="0">
                <a:solidFill>
                  <a:srgbClr val="115740"/>
                </a:solidFill>
                <a:latin typeface="Calibri" pitchFamily="34" charset="0"/>
                <a:ea typeface="Calibri" pitchFamily="34" charset="-122"/>
                <a:cs typeface="Calibri" pitchFamily="34" charset="-120"/>
              </a:rPr>
              <a:t>Tip: When using a current Workday posting as a test, remove existing salary, pay band, and classification codes first — these can bias the results.</a:t>
            </a:r>
            <a:endParaRPr lang="en-US" sz="1600" dirty="0"/>
          </a:p>
          <a:p>
            <a:pPr marL="0" indent="0">
              <a:buNone/>
            </a:pPr>
            <a:r>
              <a:rPr lang="en-US" sz="1300" dirty="0">
                <a:solidFill>
                  <a:srgbClr val="666666"/>
                </a:solidFill>
                <a:latin typeface="Calibri" pitchFamily="34" charset="0"/>
                <a:ea typeface="Calibri" pitchFamily="34" charset="-122"/>
                <a:cs typeface="Calibri" pitchFamily="34" charset="-120"/>
              </a:rPr>
              <a:t>Classification takes 15–30 seconds per position description in Full Analysis mode. Fast Mode is instant.</a:t>
            </a:r>
            <a:endParaRPr lang="en-US" sz="1600" dirty="0"/>
          </a:p>
        </p:txBody>
      </p:sp>
      <p:sp>
        <p:nvSpPr>
          <p:cNvPr id="6" name="Shape 4"/>
          <p:cNvSpPr/>
          <p:nvPr/>
        </p:nvSpPr>
        <p:spPr>
          <a:xfrm>
            <a:off x="7498080" y="1463040"/>
            <a:ext cx="4114800" cy="4114800"/>
          </a:xfrm>
          <a:prstGeom prst="rect">
            <a:avLst/>
          </a:prstGeom>
          <a:solidFill>
            <a:srgbClr val="FFFFFF"/>
          </a:solidFill>
          <a:ln w="12700">
            <a:solidFill>
              <a:srgbClr val="DDD8C8"/>
            </a:solidFill>
            <a:prstDash val="solid"/>
          </a:ln>
          <a:effectLst>
            <a:outerShdw blurRad="76200" dist="25400" dir="8100000" algn="bl" rotWithShape="0">
              <a:srgbClr val="000000">
                <a:alpha val="10000"/>
              </a:srgbClr>
            </a:outerShdw>
          </a:effectLst>
        </p:spPr>
        <p:txBody>
          <a:bodyPr/>
          <a:lstStyle/>
          <a:p>
            <a:endParaRPr lang="en-US"/>
          </a:p>
        </p:txBody>
      </p:sp>
      <p:sp>
        <p:nvSpPr>
          <p:cNvPr id="7" name="Text 5"/>
          <p:cNvSpPr/>
          <p:nvPr/>
        </p:nvSpPr>
        <p:spPr>
          <a:xfrm>
            <a:off x="7680960" y="1600200"/>
            <a:ext cx="3657600" cy="274320"/>
          </a:xfrm>
          <a:prstGeom prst="rect">
            <a:avLst/>
          </a:prstGeom>
          <a:noFill/>
          <a:ln/>
        </p:spPr>
        <p:txBody>
          <a:bodyPr wrap="square" lIns="0" tIns="0" rIns="0" bIns="0" rtlCol="0" anchor="ctr"/>
          <a:lstStyle/>
          <a:p>
            <a:pPr marL="0" indent="0">
              <a:buNone/>
            </a:pPr>
            <a:r>
              <a:rPr lang="en-US" sz="1000" b="1" dirty="0">
                <a:solidFill>
                  <a:srgbClr val="115740"/>
                </a:solidFill>
                <a:latin typeface="Calibri" pitchFamily="34" charset="0"/>
                <a:ea typeface="Calibri" pitchFamily="34" charset="-122"/>
                <a:cs typeface="Calibri" pitchFamily="34" charset="-120"/>
              </a:rPr>
              <a:t>STEP 1 — Paste Position Description</a:t>
            </a:r>
            <a:endParaRPr lang="en-US" sz="1000" dirty="0"/>
          </a:p>
        </p:txBody>
      </p:sp>
      <p:sp>
        <p:nvSpPr>
          <p:cNvPr id="8" name="Text 6"/>
          <p:cNvSpPr/>
          <p:nvPr/>
        </p:nvSpPr>
        <p:spPr>
          <a:xfrm>
            <a:off x="7680960" y="2011680"/>
            <a:ext cx="3657600" cy="3200400"/>
          </a:xfrm>
          <a:prstGeom prst="rect">
            <a:avLst/>
          </a:prstGeom>
          <a:noFill/>
          <a:ln/>
        </p:spPr>
        <p:txBody>
          <a:bodyPr wrap="square" lIns="0" tIns="0" rIns="0" bIns="0" rtlCol="0" anchor="t"/>
          <a:lstStyle/>
          <a:p>
            <a:pPr marL="0" indent="0">
              <a:spcAft>
                <a:spcPts val="1200"/>
              </a:spcAft>
              <a:buNone/>
            </a:pPr>
            <a:r>
              <a:rPr lang="en-US" sz="1200" dirty="0">
                <a:solidFill>
                  <a:srgbClr val="999999"/>
                </a:solidFill>
                <a:latin typeface="Calibri" pitchFamily="34" charset="0"/>
                <a:ea typeface="Calibri" pitchFamily="34" charset="-122"/>
                <a:cs typeface="Calibri" pitchFamily="34" charset="-120"/>
              </a:rPr>
              <a:t>Paste a position description here...</a:t>
            </a:r>
            <a:endParaRPr lang="en-US" sz="1200" dirty="0"/>
          </a:p>
          <a:p>
            <a:pPr marL="0" indent="0">
              <a:spcAft>
                <a:spcPts val="200"/>
              </a:spcAft>
              <a:buNone/>
            </a:pPr>
            <a:r>
              <a:rPr lang="en-US" sz="1200" dirty="0">
                <a:solidFill>
                  <a:srgbClr val="999999"/>
                </a:solidFill>
                <a:latin typeface="Calibri" pitchFamily="34" charset="0"/>
                <a:ea typeface="Calibri" pitchFamily="34" charset="-122"/>
                <a:cs typeface="Calibri" pitchFamily="34" charset="-120"/>
              </a:rPr>
              <a:t>Example: Finance manager responsible for</a:t>
            </a:r>
            <a:endParaRPr lang="en-US" sz="1200" dirty="0"/>
          </a:p>
          <a:p>
            <a:pPr marL="0" indent="0">
              <a:spcAft>
                <a:spcPts val="200"/>
              </a:spcAft>
              <a:buNone/>
            </a:pPr>
            <a:r>
              <a:rPr lang="en-US" sz="1200" dirty="0">
                <a:solidFill>
                  <a:srgbClr val="999999"/>
                </a:solidFill>
                <a:latin typeface="Calibri" pitchFamily="34" charset="0"/>
                <a:ea typeface="Calibri" pitchFamily="34" charset="-122"/>
                <a:cs typeface="Calibri" pitchFamily="34" charset="-120"/>
              </a:rPr>
              <a:t>budget planning, financial reporting, general</a:t>
            </a:r>
            <a:endParaRPr lang="en-US" sz="1200" dirty="0"/>
          </a:p>
          <a:p>
            <a:pPr marL="0" indent="0">
              <a:spcAft>
                <a:spcPts val="200"/>
              </a:spcAft>
              <a:buNone/>
            </a:pPr>
            <a:r>
              <a:rPr lang="en-US" sz="1200" dirty="0">
                <a:solidFill>
                  <a:srgbClr val="999999"/>
                </a:solidFill>
                <a:latin typeface="Calibri" pitchFamily="34" charset="0"/>
                <a:ea typeface="Calibri" pitchFamily="34" charset="-122"/>
                <a:cs typeface="Calibri" pitchFamily="34" charset="-120"/>
              </a:rPr>
              <a:t>ledger management, accounts payable</a:t>
            </a:r>
            <a:endParaRPr lang="en-US" sz="1200" dirty="0"/>
          </a:p>
          <a:p>
            <a:pPr marL="0" indent="0">
              <a:buNone/>
            </a:pPr>
            <a:r>
              <a:rPr lang="en-US" sz="1200" dirty="0">
                <a:solidFill>
                  <a:srgbClr val="999999"/>
                </a:solidFill>
                <a:latin typeface="Calibri" pitchFamily="34" charset="0"/>
                <a:ea typeface="Calibri" pitchFamily="34" charset="-122"/>
                <a:cs typeface="Calibri" pitchFamily="34" charset="-120"/>
              </a:rPr>
              <a:t>oversight, and internal audit compliance.</a:t>
            </a:r>
            <a:endParaRPr lang="en-US" sz="1200" dirty="0"/>
          </a:p>
        </p:txBody>
      </p:sp>
      <p:sp>
        <p:nvSpPr>
          <p:cNvPr id="9" name="Text 7"/>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5 / 20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Step 2: Choose Your Classification Mode</a:t>
            </a:r>
            <a:endParaRPr lang="en-US" sz="2800" dirty="0"/>
          </a:p>
        </p:txBody>
      </p:sp>
      <p:sp>
        <p:nvSpPr>
          <p:cNvPr id="5" name="Shape 3"/>
          <p:cNvSpPr/>
          <p:nvPr/>
        </p:nvSpPr>
        <p:spPr>
          <a:xfrm>
            <a:off x="731520" y="1554480"/>
            <a:ext cx="5029200" cy="4114800"/>
          </a:xfrm>
          <a:prstGeom prst="rect">
            <a:avLst/>
          </a:prstGeom>
          <a:solidFill>
            <a:srgbClr val="FFFFFF"/>
          </a:solidFill>
          <a:ln w="12700">
            <a:solidFill>
              <a:srgbClr val="DDD8C8"/>
            </a:solidFill>
            <a:prstDash val="solid"/>
          </a:ln>
          <a:effectLst>
            <a:outerShdw blurRad="76200" dist="25400" dir="8100000" algn="bl" rotWithShape="0">
              <a:srgbClr val="000000">
                <a:alpha val="10000"/>
              </a:srgbClr>
            </a:outerShdw>
          </a:effectLst>
        </p:spPr>
        <p:txBody>
          <a:bodyPr/>
          <a:lstStyle/>
          <a:p>
            <a:endParaRPr lang="en-US"/>
          </a:p>
        </p:txBody>
      </p:sp>
      <p:sp>
        <p:nvSpPr>
          <p:cNvPr id="6" name="Shape 4"/>
          <p:cNvSpPr/>
          <p:nvPr/>
        </p:nvSpPr>
        <p:spPr>
          <a:xfrm>
            <a:off x="731520" y="1600200"/>
            <a:ext cx="54864" cy="4023360"/>
          </a:xfrm>
          <a:prstGeom prst="rect">
            <a:avLst/>
          </a:prstGeom>
          <a:solidFill>
            <a:srgbClr val="C99700"/>
          </a:solidFill>
          <a:ln/>
        </p:spPr>
        <p:txBody>
          <a:bodyPr/>
          <a:lstStyle/>
          <a:p>
            <a:endParaRPr lang="en-US"/>
          </a:p>
        </p:txBody>
      </p:sp>
      <p:sp>
        <p:nvSpPr>
          <p:cNvPr id="7" name="Text 5"/>
          <p:cNvSpPr/>
          <p:nvPr/>
        </p:nvSpPr>
        <p:spPr>
          <a:xfrm>
            <a:off x="1005840" y="1691640"/>
            <a:ext cx="4572000" cy="320040"/>
          </a:xfrm>
          <a:prstGeom prst="rect">
            <a:avLst/>
          </a:prstGeom>
          <a:noFill/>
          <a:ln/>
        </p:spPr>
        <p:txBody>
          <a:bodyPr wrap="square" lIns="0" tIns="0" rIns="0" bIns="0" rtlCol="0" anchor="ctr"/>
          <a:lstStyle/>
          <a:p>
            <a:pPr marL="0" indent="0">
              <a:buNone/>
            </a:pPr>
            <a:r>
              <a:rPr lang="en-US" sz="1600" b="1" dirty="0">
                <a:solidFill>
                  <a:srgbClr val="C99700"/>
                </a:solidFill>
                <a:latin typeface="Calibri" pitchFamily="34" charset="0"/>
                <a:ea typeface="Calibri" pitchFamily="34" charset="-122"/>
                <a:cs typeface="Calibri" pitchFamily="34" charset="-120"/>
              </a:rPr>
              <a:t>Fast Mode</a:t>
            </a:r>
            <a:endParaRPr lang="en-US" sz="1600" dirty="0"/>
          </a:p>
        </p:txBody>
      </p:sp>
      <p:sp>
        <p:nvSpPr>
          <p:cNvPr id="8" name="Text 6"/>
          <p:cNvSpPr/>
          <p:nvPr/>
        </p:nvSpPr>
        <p:spPr>
          <a:xfrm>
            <a:off x="1005840" y="2057400"/>
            <a:ext cx="4572000" cy="3474720"/>
          </a:xfrm>
          <a:prstGeom prst="rect">
            <a:avLst/>
          </a:prstGeom>
          <a:noFill/>
          <a:ln/>
        </p:spPr>
        <p:txBody>
          <a:bodyPr wrap="square" rtlCol="0" anchor="t"/>
          <a:lstStyle/>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Instant results (no wait time)</a:t>
            </a:r>
            <a:endParaRPr lang="en-US" sz="1300" dirty="0"/>
          </a:p>
          <a:p>
            <a:pPr marL="0" indent="0">
              <a:spcAft>
                <a:spcPts val="300"/>
              </a:spcAft>
              <a:buNone/>
            </a:pP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Uses statistical analysis only</a:t>
            </a:r>
            <a:endParaRPr lang="en-US" sz="1300" dirty="0"/>
          </a:p>
          <a:p>
            <a:pPr marL="0" indent="0">
              <a:spcAft>
                <a:spcPts val="300"/>
              </a:spcAft>
              <a:buNone/>
            </a:pP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Best for: quick checks, bulk screening,</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initial triage of multiple positions</a:t>
            </a:r>
            <a:endParaRPr lang="en-US" sz="1300" dirty="0"/>
          </a:p>
          <a:p>
            <a:pPr marL="0" indent="0">
              <a:spcAft>
                <a:spcPts val="300"/>
              </a:spcAft>
              <a:buNone/>
            </a:pP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Shows: occupational family prediction</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with probability scores</a:t>
            </a:r>
            <a:endParaRPr lang="en-US" sz="1300" dirty="0"/>
          </a:p>
          <a:p>
            <a:pPr marL="0" indent="0">
              <a:spcAft>
                <a:spcPts val="300"/>
              </a:spcAft>
              <a:buNone/>
            </a:pP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Limitation: does not provide specific</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role matches or written explanations</a:t>
            </a:r>
            <a:endParaRPr lang="en-US" sz="1300" dirty="0"/>
          </a:p>
        </p:txBody>
      </p:sp>
      <p:sp>
        <p:nvSpPr>
          <p:cNvPr id="9" name="Shape 7"/>
          <p:cNvSpPr/>
          <p:nvPr/>
        </p:nvSpPr>
        <p:spPr>
          <a:xfrm>
            <a:off x="6217920" y="1554480"/>
            <a:ext cx="5029200" cy="4114800"/>
          </a:xfrm>
          <a:prstGeom prst="rect">
            <a:avLst/>
          </a:prstGeom>
          <a:solidFill>
            <a:srgbClr val="FFFFFF"/>
          </a:solidFill>
          <a:ln w="12700">
            <a:solidFill>
              <a:srgbClr val="DDD8C8"/>
            </a:solidFill>
            <a:prstDash val="solid"/>
          </a:ln>
          <a:effectLst>
            <a:outerShdw blurRad="76200" dist="25400" dir="8100000" algn="bl" rotWithShape="0">
              <a:srgbClr val="000000">
                <a:alpha val="10000"/>
              </a:srgbClr>
            </a:outerShdw>
          </a:effectLst>
        </p:spPr>
        <p:txBody>
          <a:bodyPr/>
          <a:lstStyle/>
          <a:p>
            <a:endParaRPr lang="en-US"/>
          </a:p>
        </p:txBody>
      </p:sp>
      <p:sp>
        <p:nvSpPr>
          <p:cNvPr id="10" name="Shape 8"/>
          <p:cNvSpPr/>
          <p:nvPr/>
        </p:nvSpPr>
        <p:spPr>
          <a:xfrm>
            <a:off x="6217920" y="1600200"/>
            <a:ext cx="54864" cy="4023360"/>
          </a:xfrm>
          <a:prstGeom prst="rect">
            <a:avLst/>
          </a:prstGeom>
          <a:solidFill>
            <a:srgbClr val="115740"/>
          </a:solidFill>
          <a:ln/>
        </p:spPr>
        <p:txBody>
          <a:bodyPr/>
          <a:lstStyle/>
          <a:p>
            <a:endParaRPr lang="en-US"/>
          </a:p>
        </p:txBody>
      </p:sp>
      <p:sp>
        <p:nvSpPr>
          <p:cNvPr id="11" name="Text 9"/>
          <p:cNvSpPr/>
          <p:nvPr/>
        </p:nvSpPr>
        <p:spPr>
          <a:xfrm>
            <a:off x="6492240" y="1691640"/>
            <a:ext cx="4572000" cy="320040"/>
          </a:xfrm>
          <a:prstGeom prst="rect">
            <a:avLst/>
          </a:prstGeom>
          <a:noFill/>
          <a:ln/>
        </p:spPr>
        <p:txBody>
          <a:bodyPr wrap="square" lIns="0" tIns="0" rIns="0" bIns="0" rtlCol="0" anchor="ctr"/>
          <a:lstStyle/>
          <a:p>
            <a:pPr marL="0" indent="0">
              <a:buNone/>
            </a:pPr>
            <a:r>
              <a:rPr lang="en-US" sz="1600" b="1" dirty="0">
                <a:solidFill>
                  <a:srgbClr val="115740"/>
                </a:solidFill>
                <a:latin typeface="Calibri" pitchFamily="34" charset="0"/>
                <a:ea typeface="Calibri" pitchFamily="34" charset="-122"/>
                <a:cs typeface="Calibri" pitchFamily="34" charset="-120"/>
              </a:rPr>
              <a:t>Full Analysis  (Recommended)</a:t>
            </a:r>
            <a:endParaRPr lang="en-US" sz="1600" dirty="0"/>
          </a:p>
        </p:txBody>
      </p:sp>
      <p:sp>
        <p:nvSpPr>
          <p:cNvPr id="12" name="Text 10"/>
          <p:cNvSpPr/>
          <p:nvPr/>
        </p:nvSpPr>
        <p:spPr>
          <a:xfrm>
            <a:off x="6492240" y="2057400"/>
            <a:ext cx="4572000" cy="3474720"/>
          </a:xfrm>
          <a:prstGeom prst="rect">
            <a:avLst/>
          </a:prstGeom>
          <a:noFill/>
          <a:ln/>
        </p:spPr>
        <p:txBody>
          <a:bodyPr wrap="square" rtlCol="0" anchor="t"/>
          <a:lstStyle/>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Takes 15–30 seconds to process</a:t>
            </a:r>
            <a:endParaRPr lang="en-US" sz="1300" dirty="0"/>
          </a:p>
          <a:p>
            <a:pPr marL="0" indent="0">
              <a:spcAft>
                <a:spcPts val="300"/>
              </a:spcAft>
              <a:buNone/>
            </a:pP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Uses both statistical analysis + AI reasoning</a:t>
            </a:r>
            <a:endParaRPr lang="en-US" sz="1300" dirty="0"/>
          </a:p>
          <a:p>
            <a:pPr marL="0" indent="0">
              <a:spcAft>
                <a:spcPts val="300"/>
              </a:spcAft>
              <a:buNone/>
            </a:pP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Best for: final classification decisions,</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reclassifications, detailed review</a:t>
            </a:r>
            <a:endParaRPr lang="en-US" sz="1300" dirty="0"/>
          </a:p>
          <a:p>
            <a:pPr marL="0" indent="0">
              <a:spcAft>
                <a:spcPts val="300"/>
              </a:spcAft>
              <a:buNone/>
            </a:pP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Shows: 3 ranked matches with specific role</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names, pay bands, salary ranges, and a</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written explanation of why</a:t>
            </a:r>
            <a:endParaRPr lang="en-US" sz="1300" dirty="0"/>
          </a:p>
          <a:p>
            <a:pPr marL="0" indent="0">
              <a:spcAft>
                <a:spcPts val="300"/>
              </a:spcAft>
              <a:buNone/>
            </a:pP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This is the mode you will use most often</a:t>
            </a:r>
            <a:endParaRPr lang="en-US" sz="1300" dirty="0"/>
          </a:p>
        </p:txBody>
      </p:sp>
      <p:sp>
        <p:nvSpPr>
          <p:cNvPr id="13" name="Text 11"/>
          <p:cNvSpPr/>
          <p:nvPr/>
        </p:nvSpPr>
        <p:spPr>
          <a:xfrm>
            <a:off x="731520" y="5943600"/>
            <a:ext cx="10515600" cy="365760"/>
          </a:xfrm>
          <a:prstGeom prst="rect">
            <a:avLst/>
          </a:prstGeom>
          <a:noFill/>
          <a:ln/>
        </p:spPr>
        <p:txBody>
          <a:bodyPr wrap="square" lIns="0" tIns="0" rIns="0" bIns="0" rtlCol="0" anchor="ctr"/>
          <a:lstStyle/>
          <a:p>
            <a:pPr marL="0" indent="0">
              <a:buNone/>
            </a:pPr>
            <a:r>
              <a:rPr lang="en-US" sz="1300" dirty="0">
                <a:solidFill>
                  <a:srgbClr val="666666"/>
                </a:solidFill>
                <a:latin typeface="Calibri" pitchFamily="34" charset="0"/>
                <a:ea typeface="Calibri" pitchFamily="34" charset="-122"/>
                <a:cs typeface="Calibri" pitchFamily="34" charset="-120"/>
              </a:rPr>
              <a:t>Recommendation: Use Full Analysis for classification decisions. Use Fast Mode for quick checks or when screening many positions.</a:t>
            </a:r>
            <a:endParaRPr lang="en-US" sz="1300" dirty="0"/>
          </a:p>
        </p:txBody>
      </p:sp>
      <p:sp>
        <p:nvSpPr>
          <p:cNvPr id="14" name="Text 12"/>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6 / 20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Step 3: Click "Classify PD"</a:t>
            </a:r>
            <a:endParaRPr lang="en-US" sz="2800" dirty="0"/>
          </a:p>
        </p:txBody>
      </p:sp>
      <p:sp>
        <p:nvSpPr>
          <p:cNvPr id="5" name="Text 3"/>
          <p:cNvSpPr/>
          <p:nvPr/>
        </p:nvSpPr>
        <p:spPr>
          <a:xfrm>
            <a:off x="731520" y="1463040"/>
            <a:ext cx="10515600" cy="548640"/>
          </a:xfrm>
          <a:prstGeom prst="rect">
            <a:avLst/>
          </a:prstGeom>
          <a:noFill/>
          <a:ln/>
        </p:spPr>
        <p:txBody>
          <a:bodyPr wrap="square" lIns="0" tIns="0" rIns="0" bIns="0" rtlCol="0" anchor="ctr"/>
          <a:lstStyle/>
          <a:p>
            <a:pPr marL="0" indent="0">
              <a:buNone/>
            </a:pPr>
            <a:r>
              <a:rPr lang="en-US" sz="2000" dirty="0">
                <a:solidFill>
                  <a:srgbClr val="2D2D2D"/>
                </a:solidFill>
                <a:latin typeface="Calibri" pitchFamily="34" charset="0"/>
                <a:ea typeface="Calibri" pitchFamily="34" charset="-122"/>
                <a:cs typeface="Calibri" pitchFamily="34" charset="-120"/>
              </a:rPr>
              <a:t>After pasting your position description and choosing a mode, click the "Classify PD" button.</a:t>
            </a:r>
            <a:endParaRPr lang="en-US" sz="2000" dirty="0"/>
          </a:p>
        </p:txBody>
      </p:sp>
      <p:sp>
        <p:nvSpPr>
          <p:cNvPr id="6" name="Text 4"/>
          <p:cNvSpPr/>
          <p:nvPr/>
        </p:nvSpPr>
        <p:spPr>
          <a:xfrm>
            <a:off x="731520" y="2148840"/>
            <a:ext cx="10515600" cy="365760"/>
          </a:xfrm>
          <a:prstGeom prst="rect">
            <a:avLst/>
          </a:prstGeom>
          <a:noFill/>
          <a:ln/>
        </p:spPr>
        <p:txBody>
          <a:bodyPr wrap="square" lIns="0" tIns="0" rIns="0" bIns="0" rtlCol="0" anchor="ctr"/>
          <a:lstStyle/>
          <a:p>
            <a:pPr marL="0" indent="0">
              <a:buNone/>
            </a:pPr>
            <a:r>
              <a:rPr lang="en-US" sz="1800" b="1" dirty="0">
                <a:solidFill>
                  <a:srgbClr val="115740"/>
                </a:solidFill>
                <a:latin typeface="Calibri" pitchFamily="34" charset="0"/>
                <a:ea typeface="Calibri" pitchFamily="34" charset="-122"/>
                <a:cs typeface="Calibri" pitchFamily="34" charset="-120"/>
              </a:rPr>
              <a:t>What happens behind the scenes (in plain terms):</a:t>
            </a:r>
            <a:endParaRPr lang="en-US" sz="1800" dirty="0"/>
          </a:p>
        </p:txBody>
      </p:sp>
      <p:sp>
        <p:nvSpPr>
          <p:cNvPr id="7" name="Shape 5"/>
          <p:cNvSpPr/>
          <p:nvPr/>
        </p:nvSpPr>
        <p:spPr>
          <a:xfrm>
            <a:off x="731520" y="2834640"/>
            <a:ext cx="10515600" cy="777240"/>
          </a:xfrm>
          <a:prstGeom prst="rect">
            <a:avLst/>
          </a:prstGeom>
          <a:solidFill>
            <a:srgbClr val="FFFFFF"/>
          </a:solidFill>
          <a:ln w="12700">
            <a:solidFill>
              <a:srgbClr val="DDD8C8"/>
            </a:solidFill>
            <a:prstDash val="solid"/>
          </a:ln>
          <a:effectLst>
            <a:outerShdw blurRad="76200" dist="25400" dir="8100000" algn="bl" rotWithShape="0">
              <a:srgbClr val="000000">
                <a:alpha val="10000"/>
              </a:srgbClr>
            </a:outerShdw>
          </a:effectLst>
        </p:spPr>
        <p:txBody>
          <a:bodyPr/>
          <a:lstStyle/>
          <a:p>
            <a:endParaRPr lang="en-US"/>
          </a:p>
        </p:txBody>
      </p:sp>
      <p:sp>
        <p:nvSpPr>
          <p:cNvPr id="8" name="Text 6"/>
          <p:cNvSpPr/>
          <p:nvPr/>
        </p:nvSpPr>
        <p:spPr>
          <a:xfrm>
            <a:off x="1005840" y="2907792"/>
            <a:ext cx="9875520" cy="274320"/>
          </a:xfrm>
          <a:prstGeom prst="rect">
            <a:avLst/>
          </a:prstGeom>
          <a:noFill/>
          <a:ln/>
        </p:spPr>
        <p:txBody>
          <a:bodyPr wrap="square" lIns="0" tIns="0" rIns="0" bIns="0" rtlCol="0" anchor="ctr"/>
          <a:lstStyle/>
          <a:p>
            <a:pPr marL="0" indent="0">
              <a:buNone/>
            </a:pPr>
            <a:r>
              <a:rPr lang="en-US" sz="1500" b="1" dirty="0">
                <a:solidFill>
                  <a:srgbClr val="115740"/>
                </a:solidFill>
                <a:latin typeface="Calibri" pitchFamily="34" charset="0"/>
                <a:ea typeface="Calibri" pitchFamily="34" charset="-122"/>
                <a:cs typeface="Calibri" pitchFamily="34" charset="-120"/>
              </a:rPr>
              <a:t>1. GRIFFIN reads your position description</a:t>
            </a:r>
            <a:endParaRPr lang="en-US" sz="1500" dirty="0"/>
          </a:p>
        </p:txBody>
      </p:sp>
      <p:sp>
        <p:nvSpPr>
          <p:cNvPr id="9" name="Text 7"/>
          <p:cNvSpPr/>
          <p:nvPr/>
        </p:nvSpPr>
        <p:spPr>
          <a:xfrm>
            <a:off x="1005840" y="3218688"/>
            <a:ext cx="9875520" cy="320040"/>
          </a:xfrm>
          <a:prstGeom prst="rect">
            <a:avLst/>
          </a:prstGeom>
          <a:noFill/>
          <a:ln/>
        </p:spPr>
        <p:txBody>
          <a:bodyPr wrap="square" lIns="0" tIns="0" rIns="0" bIns="0" rtlCol="0" anchor="ctr"/>
          <a:lstStyle/>
          <a:p>
            <a:pPr marL="0" indent="0">
              <a:buNone/>
            </a:pPr>
            <a:r>
              <a:rPr lang="en-US" sz="1300" dirty="0">
                <a:solidFill>
                  <a:srgbClr val="666666"/>
                </a:solidFill>
                <a:latin typeface="Calibri" pitchFamily="34" charset="0"/>
                <a:ea typeface="Calibri" pitchFamily="34" charset="-122"/>
                <a:cs typeface="Calibri" pitchFamily="34" charset="-120"/>
              </a:rPr>
              <a:t>It identifies key duties, qualifications, and responsibilities in the text.</a:t>
            </a:r>
            <a:endParaRPr lang="en-US" sz="1300" dirty="0"/>
          </a:p>
        </p:txBody>
      </p:sp>
      <p:sp>
        <p:nvSpPr>
          <p:cNvPr id="10" name="Shape 8"/>
          <p:cNvSpPr/>
          <p:nvPr/>
        </p:nvSpPr>
        <p:spPr>
          <a:xfrm>
            <a:off x="731520" y="3703320"/>
            <a:ext cx="10515600" cy="777240"/>
          </a:xfrm>
          <a:prstGeom prst="rect">
            <a:avLst/>
          </a:prstGeom>
          <a:solidFill>
            <a:srgbClr val="FFFFFF"/>
          </a:solidFill>
          <a:ln w="12700">
            <a:solidFill>
              <a:srgbClr val="DDD8C8"/>
            </a:solidFill>
            <a:prstDash val="solid"/>
          </a:ln>
          <a:effectLst>
            <a:outerShdw blurRad="76200" dist="25400" dir="8100000" algn="bl" rotWithShape="0">
              <a:srgbClr val="000000">
                <a:alpha val="10000"/>
              </a:srgbClr>
            </a:outerShdw>
          </a:effectLst>
        </p:spPr>
        <p:txBody>
          <a:bodyPr/>
          <a:lstStyle/>
          <a:p>
            <a:endParaRPr lang="en-US"/>
          </a:p>
        </p:txBody>
      </p:sp>
      <p:sp>
        <p:nvSpPr>
          <p:cNvPr id="11" name="Text 9"/>
          <p:cNvSpPr/>
          <p:nvPr/>
        </p:nvSpPr>
        <p:spPr>
          <a:xfrm>
            <a:off x="1005840" y="3776472"/>
            <a:ext cx="9875520" cy="274320"/>
          </a:xfrm>
          <a:prstGeom prst="rect">
            <a:avLst/>
          </a:prstGeom>
          <a:noFill/>
          <a:ln/>
        </p:spPr>
        <p:txBody>
          <a:bodyPr wrap="square" lIns="0" tIns="0" rIns="0" bIns="0" rtlCol="0" anchor="ctr"/>
          <a:lstStyle/>
          <a:p>
            <a:pPr marL="0" indent="0">
              <a:buNone/>
            </a:pPr>
            <a:r>
              <a:rPr lang="en-US" sz="1500" b="1" dirty="0">
                <a:solidFill>
                  <a:srgbClr val="115740"/>
                </a:solidFill>
                <a:latin typeface="Calibri" pitchFamily="34" charset="0"/>
                <a:ea typeface="Calibri" pitchFamily="34" charset="-122"/>
                <a:cs typeface="Calibri" pitchFamily="34" charset="-120"/>
              </a:rPr>
              <a:t>2. Statistical analysis runs</a:t>
            </a:r>
            <a:endParaRPr lang="en-US" sz="1500" dirty="0"/>
          </a:p>
        </p:txBody>
      </p:sp>
      <p:sp>
        <p:nvSpPr>
          <p:cNvPr id="12" name="Text 10"/>
          <p:cNvSpPr/>
          <p:nvPr/>
        </p:nvSpPr>
        <p:spPr>
          <a:xfrm>
            <a:off x="1005840" y="4087368"/>
            <a:ext cx="9875520" cy="320040"/>
          </a:xfrm>
          <a:prstGeom prst="rect">
            <a:avLst/>
          </a:prstGeom>
          <a:noFill/>
          <a:ln/>
        </p:spPr>
        <p:txBody>
          <a:bodyPr wrap="square" lIns="0" tIns="0" rIns="0" bIns="0" rtlCol="0" anchor="ctr"/>
          <a:lstStyle/>
          <a:p>
            <a:pPr marL="0" indent="0">
              <a:buNone/>
            </a:pPr>
            <a:r>
              <a:rPr lang="en-US" sz="1300" dirty="0">
                <a:solidFill>
                  <a:srgbClr val="666666"/>
                </a:solidFill>
                <a:latin typeface="Calibri" pitchFamily="34" charset="0"/>
                <a:ea typeface="Calibri" pitchFamily="34" charset="-122"/>
                <a:cs typeface="Calibri" pitchFamily="34" charset="-120"/>
              </a:rPr>
              <a:t>A trained model compares the text against 100+ previously classified positions.</a:t>
            </a:r>
            <a:endParaRPr lang="en-US" sz="1300" dirty="0"/>
          </a:p>
        </p:txBody>
      </p:sp>
      <p:sp>
        <p:nvSpPr>
          <p:cNvPr id="13" name="Shape 11"/>
          <p:cNvSpPr/>
          <p:nvPr/>
        </p:nvSpPr>
        <p:spPr>
          <a:xfrm>
            <a:off x="731520" y="4572000"/>
            <a:ext cx="10515600" cy="777240"/>
          </a:xfrm>
          <a:prstGeom prst="rect">
            <a:avLst/>
          </a:prstGeom>
          <a:solidFill>
            <a:srgbClr val="FFFFFF"/>
          </a:solidFill>
          <a:ln w="12700">
            <a:solidFill>
              <a:srgbClr val="DDD8C8"/>
            </a:solidFill>
            <a:prstDash val="solid"/>
          </a:ln>
          <a:effectLst>
            <a:outerShdw blurRad="76200" dist="25400" dir="8100000" algn="bl" rotWithShape="0">
              <a:srgbClr val="000000">
                <a:alpha val="10000"/>
              </a:srgbClr>
            </a:outerShdw>
          </a:effectLst>
        </p:spPr>
        <p:txBody>
          <a:bodyPr/>
          <a:lstStyle/>
          <a:p>
            <a:endParaRPr lang="en-US"/>
          </a:p>
        </p:txBody>
      </p:sp>
      <p:sp>
        <p:nvSpPr>
          <p:cNvPr id="14" name="Text 12"/>
          <p:cNvSpPr/>
          <p:nvPr/>
        </p:nvSpPr>
        <p:spPr>
          <a:xfrm>
            <a:off x="1005840" y="4645152"/>
            <a:ext cx="9875520" cy="274320"/>
          </a:xfrm>
          <a:prstGeom prst="rect">
            <a:avLst/>
          </a:prstGeom>
          <a:noFill/>
          <a:ln/>
        </p:spPr>
        <p:txBody>
          <a:bodyPr wrap="square" lIns="0" tIns="0" rIns="0" bIns="0" rtlCol="0" anchor="ctr"/>
          <a:lstStyle/>
          <a:p>
            <a:pPr marL="0" indent="0">
              <a:buNone/>
            </a:pPr>
            <a:r>
              <a:rPr lang="en-US" sz="1500" b="1" dirty="0">
                <a:solidFill>
                  <a:srgbClr val="115740"/>
                </a:solidFill>
                <a:latin typeface="Calibri" pitchFamily="34" charset="0"/>
                <a:ea typeface="Calibri" pitchFamily="34" charset="-122"/>
                <a:cs typeface="Calibri" pitchFamily="34" charset="-120"/>
              </a:rPr>
              <a:t>3. AI reviews the duties (Full Analysis only)</a:t>
            </a:r>
            <a:endParaRPr lang="en-US" sz="1500" dirty="0"/>
          </a:p>
        </p:txBody>
      </p:sp>
      <p:sp>
        <p:nvSpPr>
          <p:cNvPr id="15" name="Text 13"/>
          <p:cNvSpPr/>
          <p:nvPr/>
        </p:nvSpPr>
        <p:spPr>
          <a:xfrm>
            <a:off x="1005840" y="4956048"/>
            <a:ext cx="9875520" cy="320040"/>
          </a:xfrm>
          <a:prstGeom prst="rect">
            <a:avLst/>
          </a:prstGeom>
          <a:noFill/>
          <a:ln/>
        </p:spPr>
        <p:txBody>
          <a:bodyPr wrap="square" lIns="0" tIns="0" rIns="0" bIns="0" rtlCol="0" anchor="ctr"/>
          <a:lstStyle/>
          <a:p>
            <a:pPr marL="0" indent="0">
              <a:buNone/>
            </a:pPr>
            <a:r>
              <a:rPr lang="en-US" sz="1300" dirty="0">
                <a:solidFill>
                  <a:srgbClr val="666666"/>
                </a:solidFill>
                <a:latin typeface="Calibri" pitchFamily="34" charset="0"/>
                <a:ea typeface="Calibri" pitchFamily="34" charset="-122"/>
                <a:cs typeface="Calibri" pitchFamily="34" charset="-120"/>
              </a:rPr>
              <a:t>An AI reads the description and matches duties to career group definitions.</a:t>
            </a:r>
            <a:endParaRPr lang="en-US" sz="1300" dirty="0"/>
          </a:p>
        </p:txBody>
      </p:sp>
      <p:sp>
        <p:nvSpPr>
          <p:cNvPr id="16" name="Shape 14"/>
          <p:cNvSpPr/>
          <p:nvPr/>
        </p:nvSpPr>
        <p:spPr>
          <a:xfrm>
            <a:off x="731520" y="5440680"/>
            <a:ext cx="10515600" cy="777240"/>
          </a:xfrm>
          <a:prstGeom prst="rect">
            <a:avLst/>
          </a:prstGeom>
          <a:solidFill>
            <a:srgbClr val="FFFFFF"/>
          </a:solidFill>
          <a:ln w="12700">
            <a:solidFill>
              <a:srgbClr val="DDD8C8"/>
            </a:solidFill>
            <a:prstDash val="solid"/>
          </a:ln>
          <a:effectLst>
            <a:outerShdw blurRad="76200" dist="25400" dir="8100000" algn="bl" rotWithShape="0">
              <a:srgbClr val="000000">
                <a:alpha val="10000"/>
              </a:srgbClr>
            </a:outerShdw>
          </a:effectLst>
        </p:spPr>
        <p:txBody>
          <a:bodyPr/>
          <a:lstStyle/>
          <a:p>
            <a:endParaRPr lang="en-US"/>
          </a:p>
        </p:txBody>
      </p:sp>
      <p:sp>
        <p:nvSpPr>
          <p:cNvPr id="17" name="Text 15"/>
          <p:cNvSpPr/>
          <p:nvPr/>
        </p:nvSpPr>
        <p:spPr>
          <a:xfrm>
            <a:off x="1005840" y="5513832"/>
            <a:ext cx="9875520" cy="274320"/>
          </a:xfrm>
          <a:prstGeom prst="rect">
            <a:avLst/>
          </a:prstGeom>
          <a:noFill/>
          <a:ln/>
        </p:spPr>
        <p:txBody>
          <a:bodyPr wrap="square" lIns="0" tIns="0" rIns="0" bIns="0" rtlCol="0" anchor="ctr"/>
          <a:lstStyle/>
          <a:p>
            <a:pPr marL="0" indent="0">
              <a:buNone/>
            </a:pPr>
            <a:r>
              <a:rPr lang="en-US" sz="1500" b="1" dirty="0">
                <a:solidFill>
                  <a:srgbClr val="115740"/>
                </a:solidFill>
                <a:latin typeface="Calibri" pitchFamily="34" charset="0"/>
                <a:ea typeface="Calibri" pitchFamily="34" charset="-122"/>
                <a:cs typeface="Calibri" pitchFamily="34" charset="-120"/>
              </a:rPr>
              <a:t>4. Results appear on screen</a:t>
            </a:r>
            <a:endParaRPr lang="en-US" sz="1500" dirty="0"/>
          </a:p>
        </p:txBody>
      </p:sp>
      <p:sp>
        <p:nvSpPr>
          <p:cNvPr id="18" name="Text 16"/>
          <p:cNvSpPr/>
          <p:nvPr/>
        </p:nvSpPr>
        <p:spPr>
          <a:xfrm>
            <a:off x="1005840" y="5824728"/>
            <a:ext cx="9875520" cy="320040"/>
          </a:xfrm>
          <a:prstGeom prst="rect">
            <a:avLst/>
          </a:prstGeom>
          <a:noFill/>
          <a:ln/>
        </p:spPr>
        <p:txBody>
          <a:bodyPr wrap="square" lIns="0" tIns="0" rIns="0" bIns="0" rtlCol="0" anchor="ctr"/>
          <a:lstStyle/>
          <a:p>
            <a:pPr marL="0" indent="0">
              <a:buNone/>
            </a:pPr>
            <a:r>
              <a:rPr lang="en-US" sz="1300" dirty="0">
                <a:solidFill>
                  <a:srgbClr val="666666"/>
                </a:solidFill>
                <a:latin typeface="Calibri" pitchFamily="34" charset="0"/>
                <a:ea typeface="Calibri" pitchFamily="34" charset="-122"/>
                <a:cs typeface="Calibri" pitchFamily="34" charset="-120"/>
              </a:rPr>
              <a:t>You will see ranked matches with career groups, pay bands, and salary ranges.</a:t>
            </a:r>
            <a:endParaRPr lang="en-US" sz="1300" dirty="0"/>
          </a:p>
        </p:txBody>
      </p:sp>
      <p:sp>
        <p:nvSpPr>
          <p:cNvPr id="19" name="Text 17"/>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7 / 20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Understanding Your Results: Best Match</a:t>
            </a:r>
            <a:endParaRPr lang="en-US" sz="2800" dirty="0"/>
          </a:p>
        </p:txBody>
      </p:sp>
      <p:sp>
        <p:nvSpPr>
          <p:cNvPr id="5" name="Text 3"/>
          <p:cNvSpPr/>
          <p:nvPr/>
        </p:nvSpPr>
        <p:spPr>
          <a:xfrm>
            <a:off x="640080" y="621792"/>
            <a:ext cx="10515600" cy="320040"/>
          </a:xfrm>
          <a:prstGeom prst="rect">
            <a:avLst/>
          </a:prstGeom>
          <a:noFill/>
          <a:ln/>
        </p:spPr>
        <p:txBody>
          <a:bodyPr wrap="square" lIns="0" tIns="0" rIns="0" bIns="0" rtlCol="0" anchor="ctr"/>
          <a:lstStyle/>
          <a:p>
            <a:pPr marL="0" indent="0">
              <a:buNone/>
            </a:pPr>
            <a:r>
              <a:rPr lang="en-US" sz="1300" dirty="0">
                <a:solidFill>
                  <a:srgbClr val="C99700"/>
                </a:solidFill>
                <a:latin typeface="Calibri" pitchFamily="34" charset="0"/>
                <a:ea typeface="Calibri" pitchFamily="34" charset="-122"/>
                <a:cs typeface="Calibri" pitchFamily="34" charset="-120"/>
              </a:rPr>
              <a:t>Card 1 of 3  |  The top recommendation</a:t>
            </a:r>
            <a:endParaRPr lang="en-US" sz="1300" dirty="0"/>
          </a:p>
        </p:txBody>
      </p:sp>
      <p:sp>
        <p:nvSpPr>
          <p:cNvPr id="6" name="Shape 4"/>
          <p:cNvSpPr/>
          <p:nvPr/>
        </p:nvSpPr>
        <p:spPr>
          <a:xfrm>
            <a:off x="731520" y="1463040"/>
            <a:ext cx="6583680" cy="4114800"/>
          </a:xfrm>
          <a:prstGeom prst="rect">
            <a:avLst/>
          </a:prstGeom>
          <a:solidFill>
            <a:srgbClr val="FFFFFF"/>
          </a:solidFill>
          <a:ln w="12700">
            <a:solidFill>
              <a:srgbClr val="DDD8C8"/>
            </a:solidFill>
            <a:prstDash val="solid"/>
          </a:ln>
          <a:effectLst>
            <a:outerShdw blurRad="76200" dist="25400" dir="8100000" algn="bl" rotWithShape="0">
              <a:srgbClr val="000000">
                <a:alpha val="10000"/>
              </a:srgbClr>
            </a:outerShdw>
          </a:effectLst>
        </p:spPr>
        <p:txBody>
          <a:bodyPr/>
          <a:lstStyle/>
          <a:p>
            <a:endParaRPr lang="en-US"/>
          </a:p>
        </p:txBody>
      </p:sp>
      <p:sp>
        <p:nvSpPr>
          <p:cNvPr id="7" name="Shape 5"/>
          <p:cNvSpPr/>
          <p:nvPr/>
        </p:nvSpPr>
        <p:spPr>
          <a:xfrm>
            <a:off x="731520" y="1508760"/>
            <a:ext cx="54864" cy="4023360"/>
          </a:xfrm>
          <a:prstGeom prst="rect">
            <a:avLst/>
          </a:prstGeom>
          <a:solidFill>
            <a:srgbClr val="115740"/>
          </a:solidFill>
          <a:ln/>
        </p:spPr>
        <p:txBody>
          <a:bodyPr/>
          <a:lstStyle/>
          <a:p>
            <a:endParaRPr lang="en-US"/>
          </a:p>
        </p:txBody>
      </p:sp>
      <p:sp>
        <p:nvSpPr>
          <p:cNvPr id="8" name="Text 6"/>
          <p:cNvSpPr/>
          <p:nvPr/>
        </p:nvSpPr>
        <p:spPr>
          <a:xfrm>
            <a:off x="1097280" y="1600200"/>
            <a:ext cx="4114800" cy="365760"/>
          </a:xfrm>
          <a:prstGeom prst="rect">
            <a:avLst/>
          </a:prstGeom>
          <a:noFill/>
          <a:ln/>
        </p:spPr>
        <p:txBody>
          <a:bodyPr wrap="square" lIns="0" tIns="0" rIns="0" bIns="0" rtlCol="0" anchor="ctr"/>
          <a:lstStyle/>
          <a:p>
            <a:pPr marL="0" indent="0">
              <a:buNone/>
            </a:pPr>
            <a:r>
              <a:rPr lang="en-US" sz="2200" b="1" dirty="0">
                <a:solidFill>
                  <a:srgbClr val="115740"/>
                </a:solidFill>
                <a:latin typeface="Calibri" pitchFamily="34" charset="0"/>
                <a:ea typeface="Calibri" pitchFamily="34" charset="-122"/>
                <a:cs typeface="Calibri" pitchFamily="34" charset="-120"/>
              </a:rPr>
              <a:t>Financial Services Manager III</a:t>
            </a:r>
            <a:endParaRPr lang="en-US" sz="2200" dirty="0"/>
          </a:p>
        </p:txBody>
      </p:sp>
      <p:sp>
        <p:nvSpPr>
          <p:cNvPr id="9" name="Shape 7"/>
          <p:cNvSpPr/>
          <p:nvPr/>
        </p:nvSpPr>
        <p:spPr>
          <a:xfrm>
            <a:off x="5486400" y="1645920"/>
            <a:ext cx="1463040" cy="274320"/>
          </a:xfrm>
          <a:prstGeom prst="rect">
            <a:avLst/>
          </a:prstGeom>
          <a:solidFill>
            <a:srgbClr val="E8F2EE"/>
          </a:solidFill>
          <a:ln w="12700">
            <a:solidFill>
              <a:srgbClr val="115740"/>
            </a:solidFill>
            <a:prstDash val="solid"/>
          </a:ln>
        </p:spPr>
        <p:txBody>
          <a:bodyPr/>
          <a:lstStyle/>
          <a:p>
            <a:endParaRPr lang="en-US"/>
          </a:p>
        </p:txBody>
      </p:sp>
      <p:sp>
        <p:nvSpPr>
          <p:cNvPr id="10" name="Text 8"/>
          <p:cNvSpPr/>
          <p:nvPr/>
        </p:nvSpPr>
        <p:spPr>
          <a:xfrm>
            <a:off x="5486400" y="1645920"/>
            <a:ext cx="1463040" cy="274320"/>
          </a:xfrm>
          <a:prstGeom prst="rect">
            <a:avLst/>
          </a:prstGeom>
          <a:noFill/>
          <a:ln/>
        </p:spPr>
        <p:txBody>
          <a:bodyPr wrap="square" lIns="0" tIns="0" rIns="0" bIns="0" rtlCol="0" anchor="ctr"/>
          <a:lstStyle/>
          <a:p>
            <a:pPr marL="0" indent="0" algn="ctr">
              <a:buNone/>
            </a:pPr>
            <a:r>
              <a:rPr lang="en-US" sz="1000" b="1" dirty="0">
                <a:solidFill>
                  <a:srgbClr val="115740"/>
                </a:solidFill>
                <a:latin typeface="Calibri" pitchFamily="34" charset="0"/>
                <a:ea typeface="Calibri" pitchFamily="34" charset="-122"/>
                <a:cs typeface="Calibri" pitchFamily="34" charset="-120"/>
              </a:rPr>
              <a:t>Best Match</a:t>
            </a:r>
            <a:endParaRPr lang="en-US" sz="1000" dirty="0"/>
          </a:p>
        </p:txBody>
      </p:sp>
      <p:sp>
        <p:nvSpPr>
          <p:cNvPr id="11" name="Shape 9"/>
          <p:cNvSpPr/>
          <p:nvPr/>
        </p:nvSpPr>
        <p:spPr>
          <a:xfrm>
            <a:off x="1097280" y="2148840"/>
            <a:ext cx="3108960" cy="292608"/>
          </a:xfrm>
          <a:prstGeom prst="rect">
            <a:avLst/>
          </a:prstGeom>
          <a:solidFill>
            <a:srgbClr val="F7F4EE"/>
          </a:solidFill>
          <a:ln w="6350">
            <a:solidFill>
              <a:srgbClr val="DDD8C8"/>
            </a:solidFill>
            <a:prstDash val="solid"/>
          </a:ln>
        </p:spPr>
        <p:txBody>
          <a:bodyPr/>
          <a:lstStyle/>
          <a:p>
            <a:endParaRPr lang="en-US"/>
          </a:p>
        </p:txBody>
      </p:sp>
      <p:sp>
        <p:nvSpPr>
          <p:cNvPr id="12" name="Text 10"/>
          <p:cNvSpPr/>
          <p:nvPr/>
        </p:nvSpPr>
        <p:spPr>
          <a:xfrm>
            <a:off x="1188720" y="2167128"/>
            <a:ext cx="2926080" cy="256032"/>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Career Group: 14 – Financial Services</a:t>
            </a:r>
            <a:endParaRPr lang="en-US" sz="1100" dirty="0"/>
          </a:p>
        </p:txBody>
      </p:sp>
      <p:sp>
        <p:nvSpPr>
          <p:cNvPr id="13" name="Shape 11"/>
          <p:cNvSpPr/>
          <p:nvPr/>
        </p:nvSpPr>
        <p:spPr>
          <a:xfrm>
            <a:off x="1097280" y="2496312"/>
            <a:ext cx="3108960" cy="292608"/>
          </a:xfrm>
          <a:prstGeom prst="rect">
            <a:avLst/>
          </a:prstGeom>
          <a:solidFill>
            <a:srgbClr val="F7F4EE"/>
          </a:solidFill>
          <a:ln w="6350">
            <a:solidFill>
              <a:srgbClr val="DDD8C8"/>
            </a:solidFill>
            <a:prstDash val="solid"/>
          </a:ln>
        </p:spPr>
        <p:txBody>
          <a:bodyPr/>
          <a:lstStyle/>
          <a:p>
            <a:endParaRPr lang="en-US"/>
          </a:p>
        </p:txBody>
      </p:sp>
      <p:sp>
        <p:nvSpPr>
          <p:cNvPr id="14" name="Text 12"/>
          <p:cNvSpPr/>
          <p:nvPr/>
        </p:nvSpPr>
        <p:spPr>
          <a:xfrm>
            <a:off x="1188720" y="2514600"/>
            <a:ext cx="2926080" cy="256032"/>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Pay Band: 7</a:t>
            </a:r>
            <a:endParaRPr lang="en-US" sz="1100" dirty="0"/>
          </a:p>
        </p:txBody>
      </p:sp>
      <p:sp>
        <p:nvSpPr>
          <p:cNvPr id="15" name="Shape 13"/>
          <p:cNvSpPr/>
          <p:nvPr/>
        </p:nvSpPr>
        <p:spPr>
          <a:xfrm>
            <a:off x="1097280" y="2843784"/>
            <a:ext cx="3108960" cy="292608"/>
          </a:xfrm>
          <a:prstGeom prst="rect">
            <a:avLst/>
          </a:prstGeom>
          <a:solidFill>
            <a:srgbClr val="F7F4EE"/>
          </a:solidFill>
          <a:ln w="6350">
            <a:solidFill>
              <a:srgbClr val="DDD8C8"/>
            </a:solidFill>
            <a:prstDash val="solid"/>
          </a:ln>
        </p:spPr>
        <p:txBody>
          <a:bodyPr/>
          <a:lstStyle/>
          <a:p>
            <a:endParaRPr lang="en-US"/>
          </a:p>
        </p:txBody>
      </p:sp>
      <p:sp>
        <p:nvSpPr>
          <p:cNvPr id="16" name="Text 14"/>
          <p:cNvSpPr/>
          <p:nvPr/>
        </p:nvSpPr>
        <p:spPr>
          <a:xfrm>
            <a:off x="1188720" y="2862072"/>
            <a:ext cx="2926080" cy="256032"/>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Salary Range: $52,187 – $95,505</a:t>
            </a:r>
            <a:endParaRPr lang="en-US" sz="1100" dirty="0"/>
          </a:p>
        </p:txBody>
      </p:sp>
      <p:sp>
        <p:nvSpPr>
          <p:cNvPr id="17" name="Shape 15"/>
          <p:cNvSpPr/>
          <p:nvPr/>
        </p:nvSpPr>
        <p:spPr>
          <a:xfrm>
            <a:off x="1097280" y="3191256"/>
            <a:ext cx="3108960" cy="292608"/>
          </a:xfrm>
          <a:prstGeom prst="rect">
            <a:avLst/>
          </a:prstGeom>
          <a:solidFill>
            <a:srgbClr val="F7F4EE"/>
          </a:solidFill>
          <a:ln w="6350">
            <a:solidFill>
              <a:srgbClr val="DDD8C8"/>
            </a:solidFill>
            <a:prstDash val="solid"/>
          </a:ln>
        </p:spPr>
        <p:txBody>
          <a:bodyPr/>
          <a:lstStyle/>
          <a:p>
            <a:endParaRPr lang="en-US"/>
          </a:p>
        </p:txBody>
      </p:sp>
      <p:sp>
        <p:nvSpPr>
          <p:cNvPr id="18" name="Text 16"/>
          <p:cNvSpPr/>
          <p:nvPr/>
        </p:nvSpPr>
        <p:spPr>
          <a:xfrm>
            <a:off x="1188720" y="3209544"/>
            <a:ext cx="2926080" cy="256032"/>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W&amp;M Grade: S18 ($47,500 – $71,250)</a:t>
            </a:r>
            <a:endParaRPr lang="en-US" sz="1100" dirty="0"/>
          </a:p>
        </p:txBody>
      </p:sp>
      <p:sp>
        <p:nvSpPr>
          <p:cNvPr id="19" name="Text 17"/>
          <p:cNvSpPr/>
          <p:nvPr/>
        </p:nvSpPr>
        <p:spPr>
          <a:xfrm>
            <a:off x="1097280" y="3749040"/>
            <a:ext cx="2743200" cy="201168"/>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ML Probability: 78%</a:t>
            </a:r>
            <a:endParaRPr lang="en-US" sz="1100" dirty="0"/>
          </a:p>
        </p:txBody>
      </p:sp>
      <p:sp>
        <p:nvSpPr>
          <p:cNvPr id="20" name="Shape 18"/>
          <p:cNvSpPr/>
          <p:nvPr/>
        </p:nvSpPr>
        <p:spPr>
          <a:xfrm>
            <a:off x="1097280" y="3968496"/>
            <a:ext cx="3657600" cy="109728"/>
          </a:xfrm>
          <a:prstGeom prst="rect">
            <a:avLst/>
          </a:prstGeom>
          <a:solidFill>
            <a:srgbClr val="EDE8DA"/>
          </a:solidFill>
          <a:ln/>
        </p:spPr>
        <p:txBody>
          <a:bodyPr/>
          <a:lstStyle/>
          <a:p>
            <a:endParaRPr lang="en-US"/>
          </a:p>
        </p:txBody>
      </p:sp>
      <p:sp>
        <p:nvSpPr>
          <p:cNvPr id="21" name="Shape 19"/>
          <p:cNvSpPr/>
          <p:nvPr/>
        </p:nvSpPr>
        <p:spPr>
          <a:xfrm>
            <a:off x="1097280" y="3968496"/>
            <a:ext cx="2852928" cy="109728"/>
          </a:xfrm>
          <a:prstGeom prst="rect">
            <a:avLst/>
          </a:prstGeom>
          <a:solidFill>
            <a:srgbClr val="115740"/>
          </a:solidFill>
          <a:ln/>
        </p:spPr>
        <p:txBody>
          <a:bodyPr/>
          <a:lstStyle/>
          <a:p>
            <a:endParaRPr lang="en-US"/>
          </a:p>
        </p:txBody>
      </p:sp>
      <p:sp>
        <p:nvSpPr>
          <p:cNvPr id="22" name="Text 20"/>
          <p:cNvSpPr/>
          <p:nvPr/>
        </p:nvSpPr>
        <p:spPr>
          <a:xfrm>
            <a:off x="1097280" y="4151376"/>
            <a:ext cx="2743200" cy="201168"/>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AI Assessment: 85%</a:t>
            </a:r>
            <a:endParaRPr lang="en-US" sz="1100" dirty="0"/>
          </a:p>
        </p:txBody>
      </p:sp>
      <p:sp>
        <p:nvSpPr>
          <p:cNvPr id="23" name="Shape 21"/>
          <p:cNvSpPr/>
          <p:nvPr/>
        </p:nvSpPr>
        <p:spPr>
          <a:xfrm>
            <a:off x="1097280" y="4370832"/>
            <a:ext cx="3657600" cy="109728"/>
          </a:xfrm>
          <a:prstGeom prst="rect">
            <a:avLst/>
          </a:prstGeom>
          <a:solidFill>
            <a:srgbClr val="EDE8DA"/>
          </a:solidFill>
          <a:ln/>
        </p:spPr>
        <p:txBody>
          <a:bodyPr/>
          <a:lstStyle/>
          <a:p>
            <a:endParaRPr lang="en-US"/>
          </a:p>
        </p:txBody>
      </p:sp>
      <p:sp>
        <p:nvSpPr>
          <p:cNvPr id="24" name="Shape 22"/>
          <p:cNvSpPr/>
          <p:nvPr/>
        </p:nvSpPr>
        <p:spPr>
          <a:xfrm>
            <a:off x="1097280" y="4370832"/>
            <a:ext cx="3108960" cy="109728"/>
          </a:xfrm>
          <a:prstGeom prst="rect">
            <a:avLst/>
          </a:prstGeom>
          <a:solidFill>
            <a:srgbClr val="C99700"/>
          </a:solidFill>
          <a:ln/>
        </p:spPr>
        <p:txBody>
          <a:bodyPr/>
          <a:lstStyle/>
          <a:p>
            <a:endParaRPr lang="en-US"/>
          </a:p>
        </p:txBody>
      </p:sp>
      <p:sp>
        <p:nvSpPr>
          <p:cNvPr id="25" name="Shape 23"/>
          <p:cNvSpPr/>
          <p:nvPr/>
        </p:nvSpPr>
        <p:spPr>
          <a:xfrm>
            <a:off x="7772400" y="1554480"/>
            <a:ext cx="3840480" cy="685800"/>
          </a:xfrm>
          <a:prstGeom prst="rect">
            <a:avLst/>
          </a:prstGeom>
          <a:solidFill>
            <a:srgbClr val="F7F4EE"/>
          </a:solidFill>
          <a:ln w="6350">
            <a:solidFill>
              <a:srgbClr val="DDD8C8"/>
            </a:solidFill>
            <a:prstDash val="solid"/>
          </a:ln>
        </p:spPr>
        <p:txBody>
          <a:bodyPr/>
          <a:lstStyle/>
          <a:p>
            <a:endParaRPr lang="en-US"/>
          </a:p>
        </p:txBody>
      </p:sp>
      <p:sp>
        <p:nvSpPr>
          <p:cNvPr id="26" name="Text 24"/>
          <p:cNvSpPr/>
          <p:nvPr/>
        </p:nvSpPr>
        <p:spPr>
          <a:xfrm>
            <a:off x="7909560" y="1600200"/>
            <a:ext cx="3474720" cy="182880"/>
          </a:xfrm>
          <a:prstGeom prst="rect">
            <a:avLst/>
          </a:prstGeom>
          <a:noFill/>
          <a:ln/>
        </p:spPr>
        <p:txBody>
          <a:bodyPr wrap="square" lIns="0" tIns="0" rIns="0" bIns="0" rtlCol="0" anchor="ctr"/>
          <a:lstStyle/>
          <a:p>
            <a:pPr marL="0" indent="0">
              <a:buNone/>
            </a:pPr>
            <a:r>
              <a:rPr lang="en-US" sz="1200" b="1" dirty="0">
                <a:solidFill>
                  <a:srgbClr val="115740"/>
                </a:solidFill>
                <a:latin typeface="Calibri" pitchFamily="34" charset="0"/>
                <a:ea typeface="Calibri" pitchFamily="34" charset="-122"/>
                <a:cs typeface="Calibri" pitchFamily="34" charset="-120"/>
              </a:rPr>
              <a:t>Role Name</a:t>
            </a:r>
            <a:endParaRPr lang="en-US" sz="1200" dirty="0"/>
          </a:p>
        </p:txBody>
      </p:sp>
      <p:sp>
        <p:nvSpPr>
          <p:cNvPr id="27" name="Text 25"/>
          <p:cNvSpPr/>
          <p:nvPr/>
        </p:nvSpPr>
        <p:spPr>
          <a:xfrm>
            <a:off x="7909560" y="1810512"/>
            <a:ext cx="3474720" cy="41148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The specific job title that best matches the duties in your position description</a:t>
            </a:r>
            <a:endParaRPr lang="en-US" sz="1000" dirty="0"/>
          </a:p>
        </p:txBody>
      </p:sp>
      <p:sp>
        <p:nvSpPr>
          <p:cNvPr id="28" name="Shape 26"/>
          <p:cNvSpPr/>
          <p:nvPr/>
        </p:nvSpPr>
        <p:spPr>
          <a:xfrm>
            <a:off x="7772400" y="2468880"/>
            <a:ext cx="3840480" cy="685800"/>
          </a:xfrm>
          <a:prstGeom prst="rect">
            <a:avLst/>
          </a:prstGeom>
          <a:solidFill>
            <a:srgbClr val="F7F4EE"/>
          </a:solidFill>
          <a:ln w="6350">
            <a:solidFill>
              <a:srgbClr val="DDD8C8"/>
            </a:solidFill>
            <a:prstDash val="solid"/>
          </a:ln>
        </p:spPr>
        <p:txBody>
          <a:bodyPr/>
          <a:lstStyle/>
          <a:p>
            <a:endParaRPr lang="en-US"/>
          </a:p>
        </p:txBody>
      </p:sp>
      <p:sp>
        <p:nvSpPr>
          <p:cNvPr id="29" name="Text 27"/>
          <p:cNvSpPr/>
          <p:nvPr/>
        </p:nvSpPr>
        <p:spPr>
          <a:xfrm>
            <a:off x="7909560" y="2514600"/>
            <a:ext cx="3474720" cy="182880"/>
          </a:xfrm>
          <a:prstGeom prst="rect">
            <a:avLst/>
          </a:prstGeom>
          <a:noFill/>
          <a:ln/>
        </p:spPr>
        <p:txBody>
          <a:bodyPr wrap="square" lIns="0" tIns="0" rIns="0" bIns="0" rtlCol="0" anchor="ctr"/>
          <a:lstStyle/>
          <a:p>
            <a:pPr marL="0" indent="0">
              <a:buNone/>
            </a:pPr>
            <a:r>
              <a:rPr lang="en-US" sz="1200" b="1" dirty="0">
                <a:solidFill>
                  <a:srgbClr val="115740"/>
                </a:solidFill>
                <a:latin typeface="Calibri" pitchFamily="34" charset="0"/>
                <a:ea typeface="Calibri" pitchFamily="34" charset="-122"/>
                <a:cs typeface="Calibri" pitchFamily="34" charset="-120"/>
              </a:rPr>
              <a:t>Key Data Fields</a:t>
            </a:r>
            <a:endParaRPr lang="en-US" sz="1200" dirty="0"/>
          </a:p>
        </p:txBody>
      </p:sp>
      <p:sp>
        <p:nvSpPr>
          <p:cNvPr id="30" name="Text 28"/>
          <p:cNvSpPr/>
          <p:nvPr/>
        </p:nvSpPr>
        <p:spPr>
          <a:xfrm>
            <a:off x="7909560" y="2724912"/>
            <a:ext cx="3474720" cy="41148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Career group, pay band, salary range, and W&amp;M grade — the essential data for your classification decision</a:t>
            </a:r>
            <a:endParaRPr lang="en-US" sz="1000" dirty="0"/>
          </a:p>
        </p:txBody>
      </p:sp>
      <p:sp>
        <p:nvSpPr>
          <p:cNvPr id="31" name="Shape 29"/>
          <p:cNvSpPr/>
          <p:nvPr/>
        </p:nvSpPr>
        <p:spPr>
          <a:xfrm>
            <a:off x="7772400" y="3383280"/>
            <a:ext cx="3840480" cy="685800"/>
          </a:xfrm>
          <a:prstGeom prst="rect">
            <a:avLst/>
          </a:prstGeom>
          <a:solidFill>
            <a:srgbClr val="F7F4EE"/>
          </a:solidFill>
          <a:ln w="6350">
            <a:solidFill>
              <a:srgbClr val="DDD8C8"/>
            </a:solidFill>
            <a:prstDash val="solid"/>
          </a:ln>
        </p:spPr>
        <p:txBody>
          <a:bodyPr/>
          <a:lstStyle/>
          <a:p>
            <a:endParaRPr lang="en-US"/>
          </a:p>
        </p:txBody>
      </p:sp>
      <p:sp>
        <p:nvSpPr>
          <p:cNvPr id="32" name="Text 30"/>
          <p:cNvSpPr/>
          <p:nvPr/>
        </p:nvSpPr>
        <p:spPr>
          <a:xfrm>
            <a:off x="7909560" y="3429000"/>
            <a:ext cx="3474720" cy="182880"/>
          </a:xfrm>
          <a:prstGeom prst="rect">
            <a:avLst/>
          </a:prstGeom>
          <a:noFill/>
          <a:ln/>
        </p:spPr>
        <p:txBody>
          <a:bodyPr wrap="square" lIns="0" tIns="0" rIns="0" bIns="0" rtlCol="0" anchor="ctr"/>
          <a:lstStyle/>
          <a:p>
            <a:pPr marL="0" indent="0">
              <a:buNone/>
            </a:pPr>
            <a:r>
              <a:rPr lang="en-US" sz="1200" b="1" dirty="0">
                <a:solidFill>
                  <a:srgbClr val="115740"/>
                </a:solidFill>
                <a:latin typeface="Calibri" pitchFamily="34" charset="0"/>
                <a:ea typeface="Calibri" pitchFamily="34" charset="-122"/>
                <a:cs typeface="Calibri" pitchFamily="34" charset="-120"/>
              </a:rPr>
              <a:t>Confidence Bars</a:t>
            </a:r>
            <a:endParaRPr lang="en-US" sz="1200" dirty="0"/>
          </a:p>
        </p:txBody>
      </p:sp>
      <p:sp>
        <p:nvSpPr>
          <p:cNvPr id="33" name="Text 31"/>
          <p:cNvSpPr/>
          <p:nvPr/>
        </p:nvSpPr>
        <p:spPr>
          <a:xfrm>
            <a:off x="7909560" y="3639312"/>
            <a:ext cx="3474720" cy="41148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Green bar = statistical score (math)</a:t>
            </a:r>
            <a:endParaRPr lang="en-US" sz="1000" dirty="0"/>
          </a:p>
          <a:p>
            <a:pPr marL="0" indent="0">
              <a:buNone/>
            </a:pPr>
            <a:r>
              <a:rPr lang="en-US" sz="1000" dirty="0">
                <a:solidFill>
                  <a:srgbClr val="666666"/>
                </a:solidFill>
                <a:latin typeface="Calibri" pitchFamily="34" charset="0"/>
                <a:ea typeface="Calibri" pitchFamily="34" charset="-122"/>
                <a:cs typeface="Calibri" pitchFamily="34" charset="-120"/>
              </a:rPr>
              <a:t>Gold bar = AI expert judgment (reasoning)</a:t>
            </a:r>
            <a:endParaRPr lang="en-US" sz="1000" dirty="0"/>
          </a:p>
          <a:p>
            <a:pPr marL="0" indent="0">
              <a:buNone/>
            </a:pPr>
            <a:r>
              <a:rPr lang="en-US" sz="1000" dirty="0">
                <a:solidFill>
                  <a:srgbClr val="666666"/>
                </a:solidFill>
                <a:latin typeface="Calibri" pitchFamily="34" charset="0"/>
                <a:ea typeface="Calibri" pitchFamily="34" charset="-122"/>
                <a:cs typeface="Calibri" pitchFamily="34" charset="-120"/>
              </a:rPr>
              <a:t>Both high = strong confidence</a:t>
            </a:r>
            <a:endParaRPr lang="en-US" sz="1000" dirty="0"/>
          </a:p>
        </p:txBody>
      </p:sp>
      <p:sp>
        <p:nvSpPr>
          <p:cNvPr id="34" name="Shape 32"/>
          <p:cNvSpPr/>
          <p:nvPr/>
        </p:nvSpPr>
        <p:spPr>
          <a:xfrm>
            <a:off x="7772400" y="4389120"/>
            <a:ext cx="3840480" cy="685800"/>
          </a:xfrm>
          <a:prstGeom prst="rect">
            <a:avLst/>
          </a:prstGeom>
          <a:solidFill>
            <a:srgbClr val="F7F4EE"/>
          </a:solidFill>
          <a:ln w="6350">
            <a:solidFill>
              <a:srgbClr val="DDD8C8"/>
            </a:solidFill>
            <a:prstDash val="solid"/>
          </a:ln>
        </p:spPr>
        <p:txBody>
          <a:bodyPr/>
          <a:lstStyle/>
          <a:p>
            <a:endParaRPr lang="en-US"/>
          </a:p>
        </p:txBody>
      </p:sp>
      <p:sp>
        <p:nvSpPr>
          <p:cNvPr id="35" name="Text 33"/>
          <p:cNvSpPr/>
          <p:nvPr/>
        </p:nvSpPr>
        <p:spPr>
          <a:xfrm>
            <a:off x="7909560" y="4434840"/>
            <a:ext cx="3474720" cy="182880"/>
          </a:xfrm>
          <a:prstGeom prst="rect">
            <a:avLst/>
          </a:prstGeom>
          <a:noFill/>
          <a:ln/>
        </p:spPr>
        <p:txBody>
          <a:bodyPr wrap="square" lIns="0" tIns="0" rIns="0" bIns="0" rtlCol="0" anchor="ctr"/>
          <a:lstStyle/>
          <a:p>
            <a:pPr marL="0" indent="0">
              <a:buNone/>
            </a:pPr>
            <a:r>
              <a:rPr lang="en-US" sz="1200" b="1" dirty="0">
                <a:solidFill>
                  <a:srgbClr val="115740"/>
                </a:solidFill>
                <a:latin typeface="Calibri" pitchFamily="34" charset="0"/>
                <a:ea typeface="Calibri" pitchFamily="34" charset="-122"/>
                <a:cs typeface="Calibri" pitchFamily="34" charset="-120"/>
              </a:rPr>
              <a:t>Best Match Badge</a:t>
            </a:r>
            <a:endParaRPr lang="en-US" sz="1200" dirty="0"/>
          </a:p>
        </p:txBody>
      </p:sp>
      <p:sp>
        <p:nvSpPr>
          <p:cNvPr id="36" name="Text 34"/>
          <p:cNvSpPr/>
          <p:nvPr/>
        </p:nvSpPr>
        <p:spPr>
          <a:xfrm>
            <a:off x="7909560" y="4645152"/>
            <a:ext cx="3474720" cy="41148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Tells you this is GRIFFIN's top recommendation out of all matches</a:t>
            </a:r>
            <a:endParaRPr lang="en-US" sz="1000" dirty="0"/>
          </a:p>
        </p:txBody>
      </p:sp>
      <p:sp>
        <p:nvSpPr>
          <p:cNvPr id="37" name="Text 35"/>
          <p:cNvSpPr/>
          <p:nvPr/>
        </p:nvSpPr>
        <p:spPr>
          <a:xfrm>
            <a:off x="731520" y="5852160"/>
            <a:ext cx="10515600" cy="365760"/>
          </a:xfrm>
          <a:prstGeom prst="rect">
            <a:avLst/>
          </a:prstGeom>
          <a:noFill/>
          <a:ln/>
        </p:spPr>
        <p:txBody>
          <a:bodyPr wrap="square" lIns="0" tIns="0" rIns="0" bIns="0" rtlCol="0" anchor="ctr"/>
          <a:lstStyle/>
          <a:p>
            <a:pPr marL="0" indent="0">
              <a:buNone/>
            </a:pPr>
            <a:r>
              <a:rPr lang="en-US" sz="1500" dirty="0">
                <a:solidFill>
                  <a:srgbClr val="2D2D2D"/>
                </a:solidFill>
                <a:latin typeface="Calibri" pitchFamily="34" charset="0"/>
                <a:ea typeface="Calibri" pitchFamily="34" charset="-122"/>
                <a:cs typeface="Calibri" pitchFamily="34" charset="-120"/>
              </a:rPr>
              <a:t>The Best Match card shows GRIFFIN's top recommendation. Always review this card first.</a:t>
            </a:r>
            <a:endParaRPr lang="en-US" sz="1500" dirty="0"/>
          </a:p>
        </p:txBody>
      </p:sp>
      <p:sp>
        <p:nvSpPr>
          <p:cNvPr id="38" name="Text 36"/>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8 / 20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Understanding Your Results: Alternative Role</a:t>
            </a:r>
            <a:endParaRPr lang="en-US" sz="2800" dirty="0"/>
          </a:p>
        </p:txBody>
      </p:sp>
      <p:sp>
        <p:nvSpPr>
          <p:cNvPr id="5" name="Text 3"/>
          <p:cNvSpPr/>
          <p:nvPr/>
        </p:nvSpPr>
        <p:spPr>
          <a:xfrm>
            <a:off x="640080" y="621792"/>
            <a:ext cx="10515600" cy="320040"/>
          </a:xfrm>
          <a:prstGeom prst="rect">
            <a:avLst/>
          </a:prstGeom>
          <a:noFill/>
          <a:ln/>
        </p:spPr>
        <p:txBody>
          <a:bodyPr wrap="square" lIns="0" tIns="0" rIns="0" bIns="0" rtlCol="0" anchor="ctr"/>
          <a:lstStyle/>
          <a:p>
            <a:pPr marL="0" indent="0">
              <a:buNone/>
            </a:pPr>
            <a:r>
              <a:rPr lang="en-US" sz="1300" dirty="0">
                <a:solidFill>
                  <a:srgbClr val="C99700"/>
                </a:solidFill>
                <a:latin typeface="Calibri" pitchFamily="34" charset="0"/>
                <a:ea typeface="Calibri" pitchFamily="34" charset="-122"/>
                <a:cs typeface="Calibri" pitchFamily="34" charset="-120"/>
              </a:rPr>
              <a:t>Card 2 of 3  |  Same career group, different level</a:t>
            </a:r>
            <a:endParaRPr lang="en-US" sz="1300" dirty="0"/>
          </a:p>
        </p:txBody>
      </p:sp>
      <p:sp>
        <p:nvSpPr>
          <p:cNvPr id="6" name="Text 4"/>
          <p:cNvSpPr/>
          <p:nvPr/>
        </p:nvSpPr>
        <p:spPr>
          <a:xfrm>
            <a:off x="731520" y="1463040"/>
            <a:ext cx="10515600" cy="731520"/>
          </a:xfrm>
          <a:prstGeom prst="rect">
            <a:avLst/>
          </a:prstGeom>
          <a:noFill/>
          <a:ln/>
        </p:spPr>
        <p:txBody>
          <a:bodyPr wrap="square" lIns="0" tIns="0" rIns="0" bIns="0" rtlCol="0" anchor="ctr"/>
          <a:lstStyle/>
          <a:p>
            <a:pPr marL="0" indent="0">
              <a:buNone/>
            </a:pPr>
            <a:r>
              <a:rPr lang="en-US" sz="1800" dirty="0">
                <a:solidFill>
                  <a:srgbClr val="2D2D2D"/>
                </a:solidFill>
                <a:latin typeface="Calibri" pitchFamily="34" charset="0"/>
                <a:ea typeface="Calibri" pitchFamily="34" charset="-122"/>
                <a:cs typeface="Calibri" pitchFamily="34" charset="-120"/>
              </a:rPr>
              <a:t>The Alternative Role card shows the second-best match within the SAME career group. This is useful when a position could fit at a different level.</a:t>
            </a:r>
            <a:endParaRPr lang="en-US" sz="1800" dirty="0"/>
          </a:p>
        </p:txBody>
      </p:sp>
      <p:sp>
        <p:nvSpPr>
          <p:cNvPr id="7" name="Shape 5"/>
          <p:cNvSpPr/>
          <p:nvPr/>
        </p:nvSpPr>
        <p:spPr>
          <a:xfrm>
            <a:off x="731520" y="2468880"/>
            <a:ext cx="10515600" cy="1828800"/>
          </a:xfrm>
          <a:prstGeom prst="rect">
            <a:avLst/>
          </a:prstGeom>
          <a:solidFill>
            <a:srgbClr val="FDF6E3"/>
          </a:solidFill>
          <a:ln w="12700">
            <a:solidFill>
              <a:srgbClr val="C99700"/>
            </a:solidFill>
            <a:prstDash val="solid"/>
          </a:ln>
        </p:spPr>
        <p:txBody>
          <a:bodyPr/>
          <a:lstStyle/>
          <a:p>
            <a:endParaRPr lang="en-US"/>
          </a:p>
        </p:txBody>
      </p:sp>
      <p:sp>
        <p:nvSpPr>
          <p:cNvPr id="8" name="Shape 6"/>
          <p:cNvSpPr/>
          <p:nvPr/>
        </p:nvSpPr>
        <p:spPr>
          <a:xfrm>
            <a:off x="731520" y="2514600"/>
            <a:ext cx="54864" cy="1737360"/>
          </a:xfrm>
          <a:prstGeom prst="rect">
            <a:avLst/>
          </a:prstGeom>
          <a:solidFill>
            <a:srgbClr val="C99700"/>
          </a:solidFill>
          <a:ln/>
        </p:spPr>
        <p:txBody>
          <a:bodyPr/>
          <a:lstStyle/>
          <a:p>
            <a:endParaRPr lang="en-US"/>
          </a:p>
        </p:txBody>
      </p:sp>
      <p:sp>
        <p:nvSpPr>
          <p:cNvPr id="9" name="Text 7"/>
          <p:cNvSpPr/>
          <p:nvPr/>
        </p:nvSpPr>
        <p:spPr>
          <a:xfrm>
            <a:off x="1188720" y="2560320"/>
            <a:ext cx="9144000" cy="274320"/>
          </a:xfrm>
          <a:prstGeom prst="rect">
            <a:avLst/>
          </a:prstGeom>
          <a:noFill/>
          <a:ln/>
        </p:spPr>
        <p:txBody>
          <a:bodyPr wrap="square" lIns="0" tIns="0" rIns="0" bIns="0" rtlCol="0" anchor="ctr"/>
          <a:lstStyle/>
          <a:p>
            <a:pPr marL="0" indent="0">
              <a:buNone/>
            </a:pPr>
            <a:r>
              <a:rPr lang="en-US" sz="1500" b="1" dirty="0">
                <a:solidFill>
                  <a:srgbClr val="C99700"/>
                </a:solidFill>
                <a:latin typeface="Calibri" pitchFamily="34" charset="0"/>
                <a:ea typeface="Calibri" pitchFamily="34" charset="-122"/>
                <a:cs typeface="Calibri" pitchFamily="34" charset="-120"/>
              </a:rPr>
              <a:t>Example:</a:t>
            </a:r>
            <a:endParaRPr lang="en-US" sz="1500" dirty="0"/>
          </a:p>
        </p:txBody>
      </p:sp>
      <p:sp>
        <p:nvSpPr>
          <p:cNvPr id="10" name="Text 8"/>
          <p:cNvSpPr/>
          <p:nvPr/>
        </p:nvSpPr>
        <p:spPr>
          <a:xfrm>
            <a:off x="1188720" y="2880360"/>
            <a:ext cx="9601200" cy="1280160"/>
          </a:xfrm>
          <a:prstGeom prst="rect">
            <a:avLst/>
          </a:prstGeom>
          <a:noFill/>
          <a:ln/>
        </p:spPr>
        <p:txBody>
          <a:bodyPr wrap="square" lIns="0" tIns="0" rIns="0" bIns="0" rtlCol="0" anchor="ctr"/>
          <a:lstStyle/>
          <a:p>
            <a:pPr marL="0" indent="0">
              <a:spcAft>
                <a:spcPts val="400"/>
              </a:spcAft>
              <a:buNone/>
            </a:pPr>
            <a:r>
              <a:rPr lang="en-US" sz="1400" dirty="0">
                <a:solidFill>
                  <a:srgbClr val="2D2D2D"/>
                </a:solidFill>
                <a:latin typeface="Calibri" pitchFamily="34" charset="0"/>
                <a:ea typeface="Calibri" pitchFamily="34" charset="-122"/>
                <a:cs typeface="Calibri" pitchFamily="34" charset="-120"/>
              </a:rPr>
              <a:t>Best Match:  Financial Services Manager III  (Pay Band 7, $52K – $95K)</a:t>
            </a:r>
            <a:endParaRPr lang="en-US" sz="1400" dirty="0"/>
          </a:p>
          <a:p>
            <a:pPr marL="0" indent="0">
              <a:spcAft>
                <a:spcPts val="800"/>
              </a:spcAft>
              <a:buNone/>
            </a:pPr>
            <a:r>
              <a:rPr lang="en-US" sz="1400" dirty="0">
                <a:solidFill>
                  <a:srgbClr val="2D2D2D"/>
                </a:solidFill>
                <a:latin typeface="Calibri" pitchFamily="34" charset="0"/>
                <a:ea typeface="Calibri" pitchFamily="34" charset="-122"/>
                <a:cs typeface="Calibri" pitchFamily="34" charset="-120"/>
              </a:rPr>
              <a:t>Alternative Role:  Financial Services Manager II  (Pay Band 5, $36K – $66K)</a:t>
            </a:r>
            <a:endParaRPr lang="en-US" sz="1400" dirty="0"/>
          </a:p>
          <a:p>
            <a:pPr marL="0" indent="0">
              <a:buNone/>
            </a:pPr>
            <a:r>
              <a:rPr lang="en-US" sz="1300" dirty="0">
                <a:solidFill>
                  <a:srgbClr val="666666"/>
                </a:solidFill>
                <a:latin typeface="Calibri" pitchFamily="34" charset="0"/>
                <a:ea typeface="Calibri" pitchFamily="34" charset="-122"/>
                <a:cs typeface="Calibri" pitchFamily="34" charset="-120"/>
              </a:rPr>
              <a:t>This tells you the duties match Financial Services, but the level (Band 7 vs Band 5) is worth reviewing.</a:t>
            </a:r>
            <a:endParaRPr lang="en-US" sz="1400" dirty="0"/>
          </a:p>
        </p:txBody>
      </p:sp>
      <p:sp>
        <p:nvSpPr>
          <p:cNvPr id="11" name="Text 9"/>
          <p:cNvSpPr/>
          <p:nvPr/>
        </p:nvSpPr>
        <p:spPr>
          <a:xfrm>
            <a:off x="731520" y="4663440"/>
            <a:ext cx="10515600" cy="320040"/>
          </a:xfrm>
          <a:prstGeom prst="rect">
            <a:avLst/>
          </a:prstGeom>
          <a:noFill/>
          <a:ln/>
        </p:spPr>
        <p:txBody>
          <a:bodyPr wrap="square" lIns="0" tIns="0" rIns="0" bIns="0" rtlCol="0" anchor="ctr"/>
          <a:lstStyle/>
          <a:p>
            <a:pPr marL="0" indent="0">
              <a:buNone/>
            </a:pPr>
            <a:r>
              <a:rPr lang="en-US" sz="1700" b="1" dirty="0">
                <a:solidFill>
                  <a:srgbClr val="115740"/>
                </a:solidFill>
                <a:latin typeface="Calibri" pitchFamily="34" charset="0"/>
                <a:ea typeface="Calibri" pitchFamily="34" charset="-122"/>
                <a:cs typeface="Calibri" pitchFamily="34" charset="-120"/>
              </a:rPr>
              <a:t>When the Alternative Role matters:</a:t>
            </a:r>
            <a:endParaRPr lang="en-US" sz="1700" dirty="0"/>
          </a:p>
        </p:txBody>
      </p:sp>
      <p:sp>
        <p:nvSpPr>
          <p:cNvPr id="12" name="Text 10"/>
          <p:cNvSpPr/>
          <p:nvPr/>
        </p:nvSpPr>
        <p:spPr>
          <a:xfrm>
            <a:off x="731520" y="5029200"/>
            <a:ext cx="10515600" cy="1097280"/>
          </a:xfrm>
          <a:prstGeom prst="rect">
            <a:avLst/>
          </a:prstGeom>
          <a:noFill/>
          <a:ln/>
        </p:spPr>
        <p:txBody>
          <a:bodyPr wrap="square" rtlCol="0" anchor="ctr"/>
          <a:lstStyle/>
          <a:p>
            <a:pPr marL="342900" indent="-342900">
              <a:spcAft>
                <a:spcPts val="600"/>
              </a:spcAft>
              <a:buSzPct val="100000"/>
              <a:buChar char="•"/>
            </a:pPr>
            <a:r>
              <a:rPr lang="en-US" sz="1400" dirty="0">
                <a:solidFill>
                  <a:srgbClr val="2D2D2D"/>
                </a:solidFill>
                <a:latin typeface="Calibri" pitchFamily="34" charset="0"/>
                <a:ea typeface="Calibri" pitchFamily="34" charset="-122"/>
                <a:cs typeface="Calibri" pitchFamily="34" charset="-120"/>
              </a:rPr>
              <a:t>If the two cards are close in confidence, the position may be at a transition point between levels</a:t>
            </a:r>
            <a:endParaRPr lang="en-US" sz="1400" dirty="0"/>
          </a:p>
          <a:p>
            <a:pPr marL="342900" indent="-342900">
              <a:buSzPct val="100000"/>
              <a:buChar char="•"/>
            </a:pPr>
            <a:r>
              <a:rPr lang="en-US" sz="1400" dirty="0">
                <a:solidFill>
                  <a:srgbClr val="2D2D2D"/>
                </a:solidFill>
                <a:latin typeface="Calibri" pitchFamily="34" charset="0"/>
                <a:ea typeface="Calibri" pitchFamily="34" charset="-122"/>
                <a:cs typeface="Calibri" pitchFamily="34" charset="-120"/>
              </a:rPr>
              <a:t>Consider whether the duties are more supervisory (higher band) or more operational (lower band)</a:t>
            </a:r>
            <a:endParaRPr lang="en-US" sz="1400" dirty="0"/>
          </a:p>
          <a:p>
            <a:pPr marL="342900" indent="-342900">
              <a:buSzPct val="100000"/>
              <a:buChar char="•"/>
            </a:pPr>
            <a:r>
              <a:rPr lang="en-US" sz="1400" dirty="0">
                <a:solidFill>
                  <a:srgbClr val="2D2D2D"/>
                </a:solidFill>
                <a:latin typeface="Calibri" pitchFamily="34" charset="0"/>
                <a:ea typeface="Calibri" pitchFamily="34" charset="-122"/>
                <a:cs typeface="Calibri" pitchFamily="34" charset="-120"/>
              </a:rPr>
              <a:t>The Alternative Role is especially valuable for non-administrative, middle-band positions. With only 103 training positions — most from Administrative Services — the statistical model has limited experience with specialized roles. The Alternative Role provides a second opinion that often reflects the nuanced differences between adjacent band levels in these less-represented career groups.</a:t>
            </a:r>
            <a:endParaRPr lang="en-US" sz="1400" dirty="0"/>
          </a:p>
        </p:txBody>
      </p:sp>
      <p:sp>
        <p:nvSpPr>
          <p:cNvPr id="13" name="Text 11"/>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9 / 20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Understanding Your Results: Alternative Group</a:t>
            </a:r>
            <a:endParaRPr lang="en-US" sz="2800" dirty="0"/>
          </a:p>
        </p:txBody>
      </p:sp>
      <p:sp>
        <p:nvSpPr>
          <p:cNvPr id="5" name="Text 3"/>
          <p:cNvSpPr/>
          <p:nvPr/>
        </p:nvSpPr>
        <p:spPr>
          <a:xfrm>
            <a:off x="640080" y="621792"/>
            <a:ext cx="10515600" cy="320040"/>
          </a:xfrm>
          <a:prstGeom prst="rect">
            <a:avLst/>
          </a:prstGeom>
          <a:noFill/>
          <a:ln/>
        </p:spPr>
        <p:txBody>
          <a:bodyPr wrap="square" lIns="0" tIns="0" rIns="0" bIns="0" rtlCol="0" anchor="ctr"/>
          <a:lstStyle/>
          <a:p>
            <a:pPr marL="0" indent="0">
              <a:buNone/>
            </a:pPr>
            <a:r>
              <a:rPr lang="en-US" sz="1300" dirty="0">
                <a:solidFill>
                  <a:srgbClr val="C99700"/>
                </a:solidFill>
                <a:latin typeface="Calibri" pitchFamily="34" charset="0"/>
                <a:ea typeface="Calibri" pitchFamily="34" charset="-122"/>
                <a:cs typeface="Calibri" pitchFamily="34" charset="-120"/>
              </a:rPr>
              <a:t>Card 3 of 3  |  A completely different career group</a:t>
            </a:r>
            <a:endParaRPr lang="en-US" sz="1300" dirty="0"/>
          </a:p>
        </p:txBody>
      </p:sp>
      <p:sp>
        <p:nvSpPr>
          <p:cNvPr id="6" name="Text 4"/>
          <p:cNvSpPr/>
          <p:nvPr/>
        </p:nvSpPr>
        <p:spPr>
          <a:xfrm>
            <a:off x="731520" y="1463040"/>
            <a:ext cx="10515600" cy="731520"/>
          </a:xfrm>
          <a:prstGeom prst="rect">
            <a:avLst/>
          </a:prstGeom>
          <a:noFill/>
          <a:ln/>
        </p:spPr>
        <p:txBody>
          <a:bodyPr wrap="square" lIns="0" tIns="0" rIns="0" bIns="0" rtlCol="0" anchor="ctr"/>
          <a:lstStyle/>
          <a:p>
            <a:pPr marL="0" indent="0">
              <a:buNone/>
            </a:pPr>
            <a:r>
              <a:rPr lang="en-US" sz="1800" dirty="0">
                <a:solidFill>
                  <a:srgbClr val="2D2D2D"/>
                </a:solidFill>
                <a:latin typeface="Calibri" pitchFamily="34" charset="0"/>
                <a:ea typeface="Calibri" pitchFamily="34" charset="-122"/>
                <a:cs typeface="Calibri" pitchFamily="34" charset="-120"/>
              </a:rPr>
              <a:t>The Alternative Group card shows the best match in a DIFFERENT career group entirely. This is your "second opinion" — what if the position actually belongs somewhere else?</a:t>
            </a:r>
            <a:endParaRPr lang="en-US" sz="1800" dirty="0"/>
          </a:p>
        </p:txBody>
      </p:sp>
      <p:sp>
        <p:nvSpPr>
          <p:cNvPr id="7" name="Shape 5"/>
          <p:cNvSpPr/>
          <p:nvPr/>
        </p:nvSpPr>
        <p:spPr>
          <a:xfrm>
            <a:off x="731520" y="2560320"/>
            <a:ext cx="5029200" cy="2560320"/>
          </a:xfrm>
          <a:prstGeom prst="rect">
            <a:avLst/>
          </a:prstGeom>
          <a:solidFill>
            <a:srgbClr val="FFFFFF"/>
          </a:solidFill>
          <a:ln w="12700">
            <a:solidFill>
              <a:srgbClr val="DDD8C8"/>
            </a:solidFill>
            <a:prstDash val="solid"/>
          </a:ln>
          <a:effectLst>
            <a:outerShdw blurRad="76200" dist="25400" dir="8100000" algn="bl" rotWithShape="0">
              <a:srgbClr val="000000">
                <a:alpha val="10000"/>
              </a:srgbClr>
            </a:outerShdw>
          </a:effectLst>
        </p:spPr>
        <p:txBody>
          <a:bodyPr/>
          <a:lstStyle/>
          <a:p>
            <a:endParaRPr lang="en-US"/>
          </a:p>
        </p:txBody>
      </p:sp>
      <p:sp>
        <p:nvSpPr>
          <p:cNvPr id="8" name="Shape 6"/>
          <p:cNvSpPr/>
          <p:nvPr/>
        </p:nvSpPr>
        <p:spPr>
          <a:xfrm>
            <a:off x="731520" y="2606040"/>
            <a:ext cx="54864" cy="2468880"/>
          </a:xfrm>
          <a:prstGeom prst="rect">
            <a:avLst/>
          </a:prstGeom>
          <a:solidFill>
            <a:srgbClr val="115740"/>
          </a:solidFill>
          <a:ln/>
        </p:spPr>
        <p:txBody>
          <a:bodyPr/>
          <a:lstStyle/>
          <a:p>
            <a:endParaRPr lang="en-US"/>
          </a:p>
        </p:txBody>
      </p:sp>
      <p:sp>
        <p:nvSpPr>
          <p:cNvPr id="9" name="Text 7"/>
          <p:cNvSpPr/>
          <p:nvPr/>
        </p:nvSpPr>
        <p:spPr>
          <a:xfrm>
            <a:off x="1005840" y="2697480"/>
            <a:ext cx="4572000" cy="320040"/>
          </a:xfrm>
          <a:prstGeom prst="rect">
            <a:avLst/>
          </a:prstGeom>
          <a:noFill/>
          <a:ln/>
        </p:spPr>
        <p:txBody>
          <a:bodyPr wrap="square" lIns="0" tIns="0" rIns="0" bIns="0" rtlCol="0" anchor="ctr"/>
          <a:lstStyle/>
          <a:p>
            <a:pPr marL="0" indent="0">
              <a:buNone/>
            </a:pPr>
            <a:r>
              <a:rPr lang="en-US" sz="1600" b="1" dirty="0">
                <a:solidFill>
                  <a:srgbClr val="115740"/>
                </a:solidFill>
                <a:latin typeface="Calibri" pitchFamily="34" charset="0"/>
                <a:ea typeface="Calibri" pitchFamily="34" charset="-122"/>
                <a:cs typeface="Calibri" pitchFamily="34" charset="-120"/>
              </a:rPr>
              <a:t>Low Alternative Confidence (10–20%)</a:t>
            </a:r>
            <a:endParaRPr lang="en-US" sz="1600" dirty="0"/>
          </a:p>
        </p:txBody>
      </p:sp>
      <p:sp>
        <p:nvSpPr>
          <p:cNvPr id="10" name="Text 8"/>
          <p:cNvSpPr/>
          <p:nvPr/>
        </p:nvSpPr>
        <p:spPr>
          <a:xfrm>
            <a:off x="1005840" y="3063240"/>
            <a:ext cx="4572000" cy="1920240"/>
          </a:xfrm>
          <a:prstGeom prst="rect">
            <a:avLst/>
          </a:prstGeom>
          <a:noFill/>
          <a:ln/>
        </p:spPr>
        <p:txBody>
          <a:bodyPr wrap="square" rtlCol="0" anchor="t"/>
          <a:lstStyle/>
          <a:p>
            <a:pPr marL="0" indent="0">
              <a:spcAft>
                <a:spcPts val="300"/>
              </a:spcAft>
              <a:buNone/>
            </a:pP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This means the primary classification is</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strong. The system looked at other groups</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and nothing else came close.</a:t>
            </a:r>
            <a:endParaRPr lang="en-US" sz="1300" dirty="0"/>
          </a:p>
          <a:p>
            <a:pPr marL="0" indent="0">
              <a:spcAft>
                <a:spcPts val="300"/>
              </a:spcAft>
              <a:buNone/>
            </a:pP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You can feel confident in the Best Match.</a:t>
            </a:r>
            <a:endParaRPr lang="en-US" sz="1300" dirty="0"/>
          </a:p>
        </p:txBody>
      </p:sp>
      <p:sp>
        <p:nvSpPr>
          <p:cNvPr id="11" name="Shape 9"/>
          <p:cNvSpPr/>
          <p:nvPr/>
        </p:nvSpPr>
        <p:spPr>
          <a:xfrm>
            <a:off x="6217920" y="2560320"/>
            <a:ext cx="5029200" cy="2560320"/>
          </a:xfrm>
          <a:prstGeom prst="rect">
            <a:avLst/>
          </a:prstGeom>
          <a:solidFill>
            <a:srgbClr val="FFFFFF"/>
          </a:solidFill>
          <a:ln w="12700">
            <a:solidFill>
              <a:srgbClr val="DDD8C8"/>
            </a:solidFill>
            <a:prstDash val="solid"/>
          </a:ln>
          <a:effectLst>
            <a:outerShdw blurRad="76200" dist="25400" dir="8100000" algn="bl" rotWithShape="0">
              <a:srgbClr val="000000">
                <a:alpha val="10000"/>
              </a:srgbClr>
            </a:outerShdw>
          </a:effectLst>
        </p:spPr>
        <p:txBody>
          <a:bodyPr/>
          <a:lstStyle/>
          <a:p>
            <a:endParaRPr lang="en-US"/>
          </a:p>
        </p:txBody>
      </p:sp>
      <p:sp>
        <p:nvSpPr>
          <p:cNvPr id="12" name="Shape 10"/>
          <p:cNvSpPr/>
          <p:nvPr/>
        </p:nvSpPr>
        <p:spPr>
          <a:xfrm>
            <a:off x="6217920" y="2606040"/>
            <a:ext cx="54864" cy="2468880"/>
          </a:xfrm>
          <a:prstGeom prst="rect">
            <a:avLst/>
          </a:prstGeom>
          <a:solidFill>
            <a:srgbClr val="C99700"/>
          </a:solidFill>
          <a:ln/>
        </p:spPr>
        <p:txBody>
          <a:bodyPr/>
          <a:lstStyle/>
          <a:p>
            <a:endParaRPr lang="en-US"/>
          </a:p>
        </p:txBody>
      </p:sp>
      <p:sp>
        <p:nvSpPr>
          <p:cNvPr id="13" name="Text 11"/>
          <p:cNvSpPr/>
          <p:nvPr/>
        </p:nvSpPr>
        <p:spPr>
          <a:xfrm>
            <a:off x="6492240" y="2697480"/>
            <a:ext cx="4572000" cy="320040"/>
          </a:xfrm>
          <a:prstGeom prst="rect">
            <a:avLst/>
          </a:prstGeom>
          <a:noFill/>
          <a:ln/>
        </p:spPr>
        <p:txBody>
          <a:bodyPr wrap="square" lIns="0" tIns="0" rIns="0" bIns="0" rtlCol="0" anchor="ctr"/>
          <a:lstStyle/>
          <a:p>
            <a:pPr marL="0" indent="0">
              <a:buNone/>
            </a:pPr>
            <a:r>
              <a:rPr lang="en-US" sz="1600" b="1" dirty="0">
                <a:solidFill>
                  <a:srgbClr val="C99700"/>
                </a:solidFill>
                <a:latin typeface="Calibri" pitchFamily="34" charset="0"/>
                <a:ea typeface="Calibri" pitchFamily="34" charset="-122"/>
                <a:cs typeface="Calibri" pitchFamily="34" charset="-120"/>
              </a:rPr>
              <a:t>High Alternative Confidence (40%+)</a:t>
            </a:r>
            <a:endParaRPr lang="en-US" sz="1600" dirty="0"/>
          </a:p>
        </p:txBody>
      </p:sp>
      <p:sp>
        <p:nvSpPr>
          <p:cNvPr id="14" name="Text 12"/>
          <p:cNvSpPr/>
          <p:nvPr/>
        </p:nvSpPr>
        <p:spPr>
          <a:xfrm>
            <a:off x="6492240" y="3063240"/>
            <a:ext cx="4572000" cy="1920240"/>
          </a:xfrm>
          <a:prstGeom prst="rect">
            <a:avLst/>
          </a:prstGeom>
          <a:noFill/>
          <a:ln/>
        </p:spPr>
        <p:txBody>
          <a:bodyPr wrap="square" rtlCol="0" anchor="t"/>
          <a:lstStyle/>
          <a:p>
            <a:pPr marL="0" indent="0">
              <a:spcAft>
                <a:spcPts val="300"/>
              </a:spcAft>
              <a:buNone/>
            </a:pP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This means the duties genuinely span two</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career groups. The classification needs</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closer review.</a:t>
            </a:r>
            <a:endParaRPr lang="en-US" sz="1300" dirty="0"/>
          </a:p>
          <a:p>
            <a:pPr marL="0" indent="0">
              <a:spcAft>
                <a:spcPts val="300"/>
              </a:spcAft>
              <a:buNone/>
            </a:pP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Check if duties should be split or if the</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PD needs to be rewritten for clarity.</a:t>
            </a:r>
            <a:endParaRPr lang="en-US" sz="1300" dirty="0"/>
          </a:p>
        </p:txBody>
      </p:sp>
      <p:sp>
        <p:nvSpPr>
          <p:cNvPr id="15" name="Shape 13"/>
          <p:cNvSpPr/>
          <p:nvPr/>
        </p:nvSpPr>
        <p:spPr>
          <a:xfrm>
            <a:off x="731520" y="5394960"/>
            <a:ext cx="10515600" cy="731520"/>
          </a:xfrm>
          <a:prstGeom prst="rect">
            <a:avLst/>
          </a:prstGeom>
          <a:solidFill>
            <a:srgbClr val="E8F2EE"/>
          </a:solidFill>
          <a:ln w="12700">
            <a:solidFill>
              <a:srgbClr val="115740"/>
            </a:solidFill>
            <a:prstDash val="solid"/>
          </a:ln>
        </p:spPr>
        <p:txBody>
          <a:bodyPr/>
          <a:lstStyle/>
          <a:p>
            <a:endParaRPr lang="en-US"/>
          </a:p>
        </p:txBody>
      </p:sp>
      <p:sp>
        <p:nvSpPr>
          <p:cNvPr id="16" name="Text 14"/>
          <p:cNvSpPr/>
          <p:nvPr/>
        </p:nvSpPr>
        <p:spPr>
          <a:xfrm>
            <a:off x="1097280" y="5486400"/>
            <a:ext cx="9784080" cy="548640"/>
          </a:xfrm>
          <a:prstGeom prst="rect">
            <a:avLst/>
          </a:prstGeom>
          <a:noFill/>
          <a:ln/>
        </p:spPr>
        <p:txBody>
          <a:bodyPr wrap="square" lIns="0" tIns="0" rIns="0" bIns="0" rtlCol="0" anchor="ctr"/>
          <a:lstStyle/>
          <a:p>
            <a:pPr marL="0" indent="0">
              <a:buNone/>
            </a:pPr>
            <a:r>
              <a:rPr lang="en-US" sz="1400" dirty="0">
                <a:solidFill>
                  <a:srgbClr val="115740"/>
                </a:solidFill>
                <a:latin typeface="Calibri" pitchFamily="34" charset="0"/>
                <a:ea typeface="Calibri" pitchFamily="34" charset="-122"/>
                <a:cs typeface="Calibri" pitchFamily="34" charset="-120"/>
              </a:rPr>
              <a:t>Insight: The Alternative Group card is especially valuable for positions with cross-functional duties (e.g., an IT position that also manages budgets).</a:t>
            </a:r>
            <a:endParaRPr lang="en-US" sz="1400" dirty="0"/>
          </a:p>
        </p:txBody>
      </p:sp>
      <p:sp>
        <p:nvSpPr>
          <p:cNvPr id="17" name="Text 15"/>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10 / 20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Understanding Confidence Metrics</a:t>
            </a:r>
            <a:endParaRPr lang="en-US" sz="2800" dirty="0"/>
          </a:p>
        </p:txBody>
      </p:sp>
      <p:sp>
        <p:nvSpPr>
          <p:cNvPr id="5" name="Text 3"/>
          <p:cNvSpPr/>
          <p:nvPr/>
        </p:nvSpPr>
        <p:spPr>
          <a:xfrm>
            <a:off x="640080" y="621792"/>
            <a:ext cx="10515600" cy="320040"/>
          </a:xfrm>
          <a:prstGeom prst="rect">
            <a:avLst/>
          </a:prstGeom>
          <a:noFill/>
          <a:ln/>
        </p:spPr>
        <p:txBody>
          <a:bodyPr wrap="square" lIns="0" tIns="0" rIns="0" bIns="0" rtlCol="0" anchor="ctr"/>
          <a:lstStyle/>
          <a:p>
            <a:pPr marL="0" indent="0">
              <a:buNone/>
            </a:pPr>
            <a:r>
              <a:rPr lang="en-US" sz="1300" dirty="0">
                <a:solidFill>
                  <a:srgbClr val="C99700"/>
                </a:solidFill>
                <a:latin typeface="Calibri" pitchFamily="34" charset="0"/>
                <a:ea typeface="Calibri" pitchFamily="34" charset="-122"/>
                <a:cs typeface="Calibri" pitchFamily="34" charset="-120"/>
              </a:rPr>
              <a:t>Two different ways GRIFFIN measures certainty</a:t>
            </a:r>
            <a:endParaRPr lang="en-US" sz="1300" dirty="0"/>
          </a:p>
        </p:txBody>
      </p:sp>
      <p:sp>
        <p:nvSpPr>
          <p:cNvPr id="6" name="Shape 4"/>
          <p:cNvSpPr/>
          <p:nvPr/>
        </p:nvSpPr>
        <p:spPr>
          <a:xfrm>
            <a:off x="731520" y="1463040"/>
            <a:ext cx="5029200" cy="2743200"/>
          </a:xfrm>
          <a:prstGeom prst="rect">
            <a:avLst/>
          </a:prstGeom>
          <a:solidFill>
            <a:srgbClr val="FFFFFF"/>
          </a:solidFill>
          <a:ln w="12700">
            <a:solidFill>
              <a:srgbClr val="115740"/>
            </a:solidFill>
            <a:prstDash val="solid"/>
          </a:ln>
          <a:effectLst>
            <a:outerShdw blurRad="76200" dist="25400" dir="8100000" algn="bl" rotWithShape="0">
              <a:srgbClr val="000000">
                <a:alpha val="10000"/>
              </a:srgbClr>
            </a:outerShdw>
          </a:effectLst>
        </p:spPr>
        <p:txBody>
          <a:bodyPr/>
          <a:lstStyle/>
          <a:p>
            <a:endParaRPr lang="en-US"/>
          </a:p>
        </p:txBody>
      </p:sp>
      <p:sp>
        <p:nvSpPr>
          <p:cNvPr id="7" name="Shape 5"/>
          <p:cNvSpPr/>
          <p:nvPr/>
        </p:nvSpPr>
        <p:spPr>
          <a:xfrm>
            <a:off x="731520" y="1463040"/>
            <a:ext cx="5029200" cy="54864"/>
          </a:xfrm>
          <a:prstGeom prst="rect">
            <a:avLst/>
          </a:prstGeom>
          <a:solidFill>
            <a:srgbClr val="115740"/>
          </a:solidFill>
          <a:ln/>
        </p:spPr>
        <p:txBody>
          <a:bodyPr/>
          <a:lstStyle/>
          <a:p>
            <a:endParaRPr lang="en-US"/>
          </a:p>
        </p:txBody>
      </p:sp>
      <p:sp>
        <p:nvSpPr>
          <p:cNvPr id="8" name="Text 6"/>
          <p:cNvSpPr/>
          <p:nvPr/>
        </p:nvSpPr>
        <p:spPr>
          <a:xfrm>
            <a:off x="1097280" y="1600200"/>
            <a:ext cx="4389120" cy="2468880"/>
          </a:xfrm>
          <a:prstGeom prst="rect">
            <a:avLst/>
          </a:prstGeom>
          <a:noFill/>
          <a:ln/>
        </p:spPr>
        <p:txBody>
          <a:bodyPr wrap="square" lIns="0" tIns="0" rIns="0" bIns="0" rtlCol="0" anchor="t"/>
          <a:lstStyle/>
          <a:p>
            <a:pPr marL="0" indent="0">
              <a:spcAft>
                <a:spcPts val="400"/>
              </a:spcAft>
              <a:buNone/>
            </a:pPr>
            <a:r>
              <a:rPr lang="en-US" sz="2000" b="1" dirty="0">
                <a:solidFill>
                  <a:srgbClr val="115740"/>
                </a:solidFill>
                <a:latin typeface="Calibri" pitchFamily="34" charset="0"/>
                <a:ea typeface="Calibri" pitchFamily="34" charset="-122"/>
                <a:cs typeface="Calibri" pitchFamily="34" charset="-120"/>
              </a:rPr>
              <a:t>ML Probability</a:t>
            </a:r>
            <a:endParaRPr lang="en-US" sz="2000" dirty="0"/>
          </a:p>
          <a:p>
            <a:pPr marL="0" indent="0">
              <a:spcAft>
                <a:spcPts val="1200"/>
              </a:spcAft>
              <a:buNone/>
            </a:pPr>
            <a:r>
              <a:rPr lang="en-US" sz="1300" dirty="0">
                <a:solidFill>
                  <a:srgbClr val="115740"/>
                </a:solidFill>
                <a:latin typeface="Calibri" pitchFamily="34" charset="0"/>
                <a:ea typeface="Calibri" pitchFamily="34" charset="-122"/>
                <a:cs typeface="Calibri" pitchFamily="34" charset="-120"/>
              </a:rPr>
              <a:t>(Green Bar)</a:t>
            </a:r>
            <a:endParaRPr lang="en-US" sz="2000" dirty="0"/>
          </a:p>
          <a:p>
            <a:pPr marL="0" indent="0">
              <a:spcAft>
                <a:spcPts val="800"/>
              </a:spcAft>
              <a:buNone/>
            </a:pPr>
            <a:r>
              <a:rPr lang="en-US" sz="1600" b="1" dirty="0">
                <a:solidFill>
                  <a:srgbClr val="2D2D2D"/>
                </a:solidFill>
                <a:latin typeface="Calibri" pitchFamily="34" charset="0"/>
                <a:ea typeface="Calibri" pitchFamily="34" charset="-122"/>
                <a:cs typeface="Calibri" pitchFamily="34" charset="-120"/>
              </a:rPr>
              <a:t>Think of this as a test score.</a:t>
            </a:r>
            <a:endParaRPr lang="en-US" sz="2000" dirty="0"/>
          </a:p>
          <a:p>
            <a:pPr marL="0" indent="0">
              <a:spcAft>
                <a:spcPts val="800"/>
              </a:spcAft>
              <a:buNone/>
            </a:pPr>
            <a:r>
              <a:rPr lang="en-US" sz="1400" dirty="0">
                <a:solidFill>
                  <a:srgbClr val="2D2D2D"/>
                </a:solidFill>
                <a:latin typeface="Calibri" pitchFamily="34" charset="0"/>
                <a:ea typeface="Calibri" pitchFamily="34" charset="-122"/>
                <a:cs typeface="Calibri" pitchFamily="34" charset="-120"/>
              </a:rPr>
              <a:t>A statistical model trained on 100+ real position descriptions calculates how well your PD matches each career group.</a:t>
            </a:r>
            <a:endParaRPr lang="en-US" sz="2000" dirty="0"/>
          </a:p>
          <a:p>
            <a:pPr marL="0" indent="0">
              <a:buNone/>
            </a:pPr>
            <a:r>
              <a:rPr lang="en-US" sz="1400" dirty="0">
                <a:solidFill>
                  <a:srgbClr val="666666"/>
                </a:solidFill>
                <a:latin typeface="Calibri" pitchFamily="34" charset="0"/>
                <a:ea typeface="Calibri" pitchFamily="34" charset="-122"/>
                <a:cs typeface="Calibri" pitchFamily="34" charset="-120"/>
              </a:rPr>
              <a:t>Higher = stronger statistical match.</a:t>
            </a:r>
            <a:endParaRPr lang="en-US" sz="2000" dirty="0"/>
          </a:p>
        </p:txBody>
      </p:sp>
      <p:sp>
        <p:nvSpPr>
          <p:cNvPr id="9" name="Shape 7"/>
          <p:cNvSpPr/>
          <p:nvPr/>
        </p:nvSpPr>
        <p:spPr>
          <a:xfrm>
            <a:off x="6217920" y="1463040"/>
            <a:ext cx="5029200" cy="2743200"/>
          </a:xfrm>
          <a:prstGeom prst="rect">
            <a:avLst/>
          </a:prstGeom>
          <a:solidFill>
            <a:srgbClr val="FFFFFF"/>
          </a:solidFill>
          <a:ln w="12700">
            <a:solidFill>
              <a:srgbClr val="C99700"/>
            </a:solidFill>
            <a:prstDash val="solid"/>
          </a:ln>
          <a:effectLst>
            <a:outerShdw blurRad="76200" dist="25400" dir="8100000" algn="bl" rotWithShape="0">
              <a:srgbClr val="000000">
                <a:alpha val="10000"/>
              </a:srgbClr>
            </a:outerShdw>
          </a:effectLst>
        </p:spPr>
        <p:txBody>
          <a:bodyPr/>
          <a:lstStyle/>
          <a:p>
            <a:endParaRPr lang="en-US"/>
          </a:p>
        </p:txBody>
      </p:sp>
      <p:sp>
        <p:nvSpPr>
          <p:cNvPr id="10" name="Shape 8"/>
          <p:cNvSpPr/>
          <p:nvPr/>
        </p:nvSpPr>
        <p:spPr>
          <a:xfrm>
            <a:off x="6217920" y="1463040"/>
            <a:ext cx="5029200" cy="54864"/>
          </a:xfrm>
          <a:prstGeom prst="rect">
            <a:avLst/>
          </a:prstGeom>
          <a:solidFill>
            <a:srgbClr val="C99700"/>
          </a:solidFill>
          <a:ln/>
        </p:spPr>
        <p:txBody>
          <a:bodyPr/>
          <a:lstStyle/>
          <a:p>
            <a:endParaRPr lang="en-US"/>
          </a:p>
        </p:txBody>
      </p:sp>
      <p:sp>
        <p:nvSpPr>
          <p:cNvPr id="11" name="Text 9"/>
          <p:cNvSpPr/>
          <p:nvPr/>
        </p:nvSpPr>
        <p:spPr>
          <a:xfrm>
            <a:off x="6583680" y="1600200"/>
            <a:ext cx="4389120" cy="2468880"/>
          </a:xfrm>
          <a:prstGeom prst="rect">
            <a:avLst/>
          </a:prstGeom>
          <a:noFill/>
          <a:ln/>
        </p:spPr>
        <p:txBody>
          <a:bodyPr wrap="square" lIns="0" tIns="0" rIns="0" bIns="0" rtlCol="0" anchor="t"/>
          <a:lstStyle/>
          <a:p>
            <a:pPr marL="0" indent="0">
              <a:spcAft>
                <a:spcPts val="400"/>
              </a:spcAft>
              <a:buNone/>
            </a:pPr>
            <a:r>
              <a:rPr lang="en-US" sz="2000" b="1" dirty="0">
                <a:solidFill>
                  <a:srgbClr val="C99700"/>
                </a:solidFill>
                <a:latin typeface="Calibri" pitchFamily="34" charset="0"/>
                <a:ea typeface="Calibri" pitchFamily="34" charset="-122"/>
                <a:cs typeface="Calibri" pitchFamily="34" charset="-120"/>
              </a:rPr>
              <a:t>AI Assessment</a:t>
            </a:r>
            <a:endParaRPr lang="en-US" sz="2000" dirty="0"/>
          </a:p>
          <a:p>
            <a:pPr marL="0" indent="0">
              <a:spcAft>
                <a:spcPts val="1200"/>
              </a:spcAft>
              <a:buNone/>
            </a:pPr>
            <a:r>
              <a:rPr lang="en-US" sz="1300" dirty="0">
                <a:solidFill>
                  <a:srgbClr val="C99700"/>
                </a:solidFill>
                <a:latin typeface="Calibri" pitchFamily="34" charset="0"/>
                <a:ea typeface="Calibri" pitchFamily="34" charset="-122"/>
                <a:cs typeface="Calibri" pitchFamily="34" charset="-120"/>
              </a:rPr>
              <a:t>(Gold Bar)</a:t>
            </a:r>
            <a:endParaRPr lang="en-US" sz="2000" dirty="0"/>
          </a:p>
          <a:p>
            <a:pPr marL="0" indent="0">
              <a:spcAft>
                <a:spcPts val="800"/>
              </a:spcAft>
              <a:buNone/>
            </a:pPr>
            <a:r>
              <a:rPr lang="en-US" sz="1600" b="1" dirty="0">
                <a:solidFill>
                  <a:srgbClr val="2D2D2D"/>
                </a:solidFill>
                <a:latin typeface="Calibri" pitchFamily="34" charset="0"/>
                <a:ea typeface="Calibri" pitchFamily="34" charset="-122"/>
                <a:cs typeface="Calibri" pitchFamily="34" charset="-120"/>
              </a:rPr>
              <a:t>Think of this as an expert's opinion.</a:t>
            </a:r>
            <a:endParaRPr lang="en-US" sz="2000" dirty="0"/>
          </a:p>
          <a:p>
            <a:pPr marL="0" indent="0">
              <a:spcAft>
                <a:spcPts val="800"/>
              </a:spcAft>
              <a:buNone/>
            </a:pPr>
            <a:r>
              <a:rPr lang="en-US" sz="1400" dirty="0">
                <a:solidFill>
                  <a:srgbClr val="2D2D2D"/>
                </a:solidFill>
                <a:latin typeface="Calibri" pitchFamily="34" charset="0"/>
                <a:ea typeface="Calibri" pitchFamily="34" charset="-122"/>
                <a:cs typeface="Calibri" pitchFamily="34" charset="-120"/>
              </a:rPr>
              <a:t>An AI reads your position description and judges how well the duties match each career group definition.</a:t>
            </a:r>
            <a:endParaRPr lang="en-US" sz="2000" dirty="0"/>
          </a:p>
          <a:p>
            <a:pPr marL="0" indent="0">
              <a:buNone/>
            </a:pPr>
            <a:r>
              <a:rPr lang="en-US" sz="1400" dirty="0">
                <a:solidFill>
                  <a:srgbClr val="666666"/>
                </a:solidFill>
                <a:latin typeface="Calibri" pitchFamily="34" charset="0"/>
                <a:ea typeface="Calibri" pitchFamily="34" charset="-122"/>
                <a:cs typeface="Calibri" pitchFamily="34" charset="-120"/>
              </a:rPr>
              <a:t>This is professional judgment, not math.</a:t>
            </a:r>
            <a:endParaRPr lang="en-US" sz="2000" dirty="0"/>
          </a:p>
        </p:txBody>
      </p:sp>
      <p:sp>
        <p:nvSpPr>
          <p:cNvPr id="12" name="Shape 10"/>
          <p:cNvSpPr/>
          <p:nvPr/>
        </p:nvSpPr>
        <p:spPr>
          <a:xfrm>
            <a:off x="731520" y="4571999"/>
            <a:ext cx="10515600" cy="2027321"/>
          </a:xfrm>
          <a:prstGeom prst="rect">
            <a:avLst/>
          </a:prstGeom>
          <a:solidFill>
            <a:srgbClr val="E8F2EE"/>
          </a:solidFill>
          <a:ln w="12700">
            <a:solidFill>
              <a:srgbClr val="115740"/>
            </a:solidFill>
            <a:prstDash val="solid"/>
          </a:ln>
        </p:spPr>
        <p:txBody>
          <a:bodyPr/>
          <a:lstStyle/>
          <a:p>
            <a:endParaRPr lang="en-US"/>
          </a:p>
        </p:txBody>
      </p:sp>
      <p:sp>
        <p:nvSpPr>
          <p:cNvPr id="13" name="Text 11"/>
          <p:cNvSpPr/>
          <p:nvPr/>
        </p:nvSpPr>
        <p:spPr>
          <a:xfrm>
            <a:off x="1097280" y="4709160"/>
            <a:ext cx="9601200" cy="1554480"/>
          </a:xfrm>
          <a:prstGeom prst="rect">
            <a:avLst/>
          </a:prstGeom>
          <a:noFill/>
          <a:ln/>
        </p:spPr>
        <p:txBody>
          <a:bodyPr wrap="square" lIns="0" tIns="0" rIns="0" bIns="0" rtlCol="0" anchor="t"/>
          <a:lstStyle/>
          <a:p>
            <a:pPr marL="0" indent="0">
              <a:spcAft>
                <a:spcPts val="1000"/>
              </a:spcAft>
              <a:buNone/>
            </a:pPr>
            <a:r>
              <a:rPr lang="en-US" sz="1400" b="1" dirty="0">
                <a:solidFill>
                  <a:srgbClr val="115740"/>
                </a:solidFill>
                <a:latin typeface="Calibri" pitchFamily="34" charset="0"/>
                <a:ea typeface="Calibri" pitchFamily="34" charset="-122"/>
                <a:cs typeface="Calibri" pitchFamily="34" charset="-120"/>
              </a:rPr>
              <a:t>What it means when they agree or disagree:</a:t>
            </a:r>
            <a:endParaRPr lang="en-US" sz="1400" dirty="0"/>
          </a:p>
          <a:p>
            <a:pPr marL="0" indent="0">
              <a:spcAft>
                <a:spcPts val="600"/>
              </a:spcAft>
              <a:buNone/>
            </a:pPr>
            <a:r>
              <a:rPr lang="en-US" sz="1400" dirty="0">
                <a:solidFill>
                  <a:srgbClr val="2D2D2D"/>
                </a:solidFill>
                <a:latin typeface="Calibri" pitchFamily="34" charset="0"/>
                <a:ea typeface="Calibri" pitchFamily="34" charset="-122"/>
                <a:cs typeface="Calibri" pitchFamily="34" charset="-120"/>
              </a:rPr>
              <a:t>Both HIGH (70%+):  Strong confidence. The classification is well-supported.</a:t>
            </a:r>
            <a:endParaRPr lang="en-US" sz="1400" dirty="0"/>
          </a:p>
          <a:p>
            <a:pPr marL="0" indent="0">
              <a:spcAft>
                <a:spcPts val="600"/>
              </a:spcAft>
              <a:buNone/>
            </a:pPr>
            <a:r>
              <a:rPr lang="en-US" sz="1400" dirty="0">
                <a:solidFill>
                  <a:srgbClr val="2D2D2D"/>
                </a:solidFill>
                <a:latin typeface="Calibri" pitchFamily="34" charset="0"/>
                <a:ea typeface="Calibri" pitchFamily="34" charset="-122"/>
                <a:cs typeface="Calibri" pitchFamily="34" charset="-120"/>
              </a:rPr>
              <a:t>Both LOW (under 40%):  The position may not fit neatly into one group. Review the 3 matches carefully.</a:t>
            </a:r>
            <a:endParaRPr lang="en-US" sz="1400" dirty="0"/>
          </a:p>
          <a:p>
            <a:pPr marL="0" indent="0">
              <a:buNone/>
            </a:pPr>
            <a:r>
              <a:rPr lang="en-US" sz="1400" dirty="0">
                <a:solidFill>
                  <a:srgbClr val="2D2D2D"/>
                </a:solidFill>
                <a:latin typeface="Calibri" pitchFamily="34" charset="0"/>
                <a:ea typeface="Calibri" pitchFamily="34" charset="-122"/>
                <a:cs typeface="Calibri" pitchFamily="34" charset="-120"/>
              </a:rPr>
              <a:t>One HIGH, one LOW:  Disagreement. Dig deeper — read the AI explanation and compare all 3 cards.</a:t>
            </a:r>
            <a:endParaRPr lang="en-US" sz="1400" dirty="0"/>
          </a:p>
          <a:p>
            <a:pPr marL="0" indent="0">
              <a:spcBef>
                <a:spcPts val="800"/>
              </a:spcBef>
              <a:buNone/>
            </a:pPr>
            <a:r>
              <a:rPr lang="en-US" sz="1200" i="1" dirty="0">
                <a:solidFill>
                  <a:srgbClr val="666666"/>
                </a:solidFill>
                <a:latin typeface="Calibri" pitchFamily="34" charset="0"/>
                <a:ea typeface="Calibri" pitchFamily="34" charset="-122"/>
                <a:cs typeface="Calibri" pitchFamily="34" charset="-120"/>
              </a:rPr>
              <a:t>Note: GRIFFIN's statistical model was trained on 100+ position descriptions. While this provides a solid foundation, it is a relatively small sample — especially for career groups outside Administrative Services. This is why GRIFFIN provides multiple perspectives (ML + AI + three ranked matches) rather than relying on any single metric.</a:t>
            </a:r>
            <a:endParaRPr lang="en-US" sz="1200" dirty="0"/>
          </a:p>
        </p:txBody>
      </p:sp>
      <p:sp>
        <p:nvSpPr>
          <p:cNvPr id="14" name="Text 12"/>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11 / 20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Understanding the AI Rationale</a:t>
            </a:r>
            <a:endParaRPr lang="en-US" sz="2800" dirty="0"/>
          </a:p>
        </p:txBody>
      </p:sp>
      <p:sp>
        <p:nvSpPr>
          <p:cNvPr id="5" name="Text 3"/>
          <p:cNvSpPr/>
          <p:nvPr/>
        </p:nvSpPr>
        <p:spPr>
          <a:xfrm>
            <a:off x="640080" y="621792"/>
            <a:ext cx="10515600" cy="320040"/>
          </a:xfrm>
          <a:prstGeom prst="rect">
            <a:avLst/>
          </a:prstGeom>
          <a:noFill/>
          <a:ln/>
        </p:spPr>
        <p:txBody>
          <a:bodyPr wrap="square" lIns="0" tIns="0" rIns="0" bIns="0" rtlCol="0" anchor="ctr"/>
          <a:lstStyle/>
          <a:p>
            <a:pPr marL="0" indent="0">
              <a:buNone/>
            </a:pPr>
            <a:r>
              <a:rPr lang="en-US" sz="1300" dirty="0">
                <a:solidFill>
                  <a:srgbClr val="C99700"/>
                </a:solidFill>
                <a:latin typeface="Calibri" pitchFamily="34" charset="0"/>
                <a:ea typeface="Calibri" pitchFamily="34" charset="-122"/>
                <a:cs typeface="Calibri" pitchFamily="34" charset="-120"/>
              </a:rPr>
              <a:t>The written explanation below the Best Match card</a:t>
            </a:r>
            <a:endParaRPr lang="en-US" sz="1300" dirty="0"/>
          </a:p>
        </p:txBody>
      </p:sp>
      <p:sp>
        <p:nvSpPr>
          <p:cNvPr id="6" name="Text 4"/>
          <p:cNvSpPr/>
          <p:nvPr/>
        </p:nvSpPr>
        <p:spPr>
          <a:xfrm>
            <a:off x="731520" y="1463040"/>
            <a:ext cx="10515600" cy="548640"/>
          </a:xfrm>
          <a:prstGeom prst="rect">
            <a:avLst/>
          </a:prstGeom>
          <a:noFill/>
          <a:ln/>
        </p:spPr>
        <p:txBody>
          <a:bodyPr wrap="square" lIns="0" tIns="0" rIns="0" bIns="0" rtlCol="0" anchor="ctr"/>
          <a:lstStyle/>
          <a:p>
            <a:pPr marL="0" indent="0">
              <a:buNone/>
            </a:pPr>
            <a:r>
              <a:rPr lang="en-US" sz="1800" dirty="0">
                <a:solidFill>
                  <a:srgbClr val="2D2D2D"/>
                </a:solidFill>
                <a:latin typeface="Calibri" pitchFamily="34" charset="0"/>
                <a:ea typeface="Calibri" pitchFamily="34" charset="-122"/>
                <a:cs typeface="Calibri" pitchFamily="34" charset="-120"/>
              </a:rPr>
              <a:t>In Full Analysis mode, GRIFFIN provides a written explanation of its reasoning. Here is what to look for:</a:t>
            </a:r>
            <a:endParaRPr lang="en-US" sz="1800" dirty="0"/>
          </a:p>
        </p:txBody>
      </p:sp>
      <p:sp>
        <p:nvSpPr>
          <p:cNvPr id="7" name="Shape 5"/>
          <p:cNvSpPr/>
          <p:nvPr/>
        </p:nvSpPr>
        <p:spPr>
          <a:xfrm>
            <a:off x="731520" y="2194560"/>
            <a:ext cx="10515600" cy="1828800"/>
          </a:xfrm>
          <a:prstGeom prst="rect">
            <a:avLst/>
          </a:prstGeom>
          <a:solidFill>
            <a:srgbClr val="F0F7F4"/>
          </a:solidFill>
          <a:ln w="12700">
            <a:solidFill>
              <a:srgbClr val="B8D8CC"/>
            </a:solidFill>
            <a:prstDash val="solid"/>
          </a:ln>
        </p:spPr>
        <p:txBody>
          <a:bodyPr/>
          <a:lstStyle/>
          <a:p>
            <a:endParaRPr lang="en-US"/>
          </a:p>
        </p:txBody>
      </p:sp>
      <p:sp>
        <p:nvSpPr>
          <p:cNvPr id="8" name="Text 6"/>
          <p:cNvSpPr/>
          <p:nvPr/>
        </p:nvSpPr>
        <p:spPr>
          <a:xfrm>
            <a:off x="1097280" y="2286000"/>
            <a:ext cx="2743200" cy="228600"/>
          </a:xfrm>
          <a:prstGeom prst="rect">
            <a:avLst/>
          </a:prstGeom>
          <a:noFill/>
          <a:ln/>
        </p:spPr>
        <p:txBody>
          <a:bodyPr wrap="square" lIns="0" tIns="0" rIns="0" bIns="0" rtlCol="0" anchor="ctr"/>
          <a:lstStyle/>
          <a:p>
            <a:pPr marL="0" indent="0">
              <a:buNone/>
            </a:pPr>
            <a:r>
              <a:rPr lang="en-US" sz="1000" b="1" kern="0" spc="200" dirty="0">
                <a:solidFill>
                  <a:srgbClr val="115740"/>
                </a:solidFill>
                <a:latin typeface="Calibri" pitchFamily="34" charset="0"/>
                <a:ea typeface="Calibri" pitchFamily="34" charset="-122"/>
                <a:cs typeface="Calibri" pitchFamily="34" charset="-120"/>
              </a:rPr>
              <a:t>AI CLASSIFICATION RATIONALE</a:t>
            </a:r>
            <a:endParaRPr lang="en-US" sz="1000" dirty="0"/>
          </a:p>
        </p:txBody>
      </p:sp>
      <p:sp>
        <p:nvSpPr>
          <p:cNvPr id="9" name="Text 7"/>
          <p:cNvSpPr/>
          <p:nvPr/>
        </p:nvSpPr>
        <p:spPr>
          <a:xfrm>
            <a:off x="1097280" y="2606040"/>
            <a:ext cx="9601200" cy="1280160"/>
          </a:xfrm>
          <a:prstGeom prst="rect">
            <a:avLst/>
          </a:prstGeom>
          <a:noFill/>
          <a:ln/>
        </p:spPr>
        <p:txBody>
          <a:bodyPr wrap="square" lIns="0" tIns="0" rIns="0" bIns="0" rtlCol="0" anchor="ctr"/>
          <a:lstStyle/>
          <a:p>
            <a:pPr marL="0" indent="0">
              <a:buNone/>
            </a:pPr>
            <a:r>
              <a:rPr lang="en-US" sz="1300" dirty="0">
                <a:solidFill>
                  <a:srgbClr val="2D2D2D"/>
                </a:solidFill>
                <a:latin typeface="Calibri" pitchFamily="34" charset="0"/>
                <a:ea typeface="Calibri" pitchFamily="34" charset="-122"/>
                <a:cs typeface="Calibri" pitchFamily="34" charset="-120"/>
              </a:rPr>
              <a:t>"This position focuses primarily on financial reporting, budget planning, and general ledger management, which are core functions of the Financial Services career group. The supervisory responsibilities and scope of financial oversight place this at the Manager III level (Band 7). The alternative match to Administrative Services reflects the general office management duties, but these represent a smaller portion of the role."</a:t>
            </a:r>
            <a:endParaRPr lang="en-US" sz="1300" dirty="0"/>
          </a:p>
        </p:txBody>
      </p:sp>
      <p:sp>
        <p:nvSpPr>
          <p:cNvPr id="10" name="Text 8"/>
          <p:cNvSpPr/>
          <p:nvPr/>
        </p:nvSpPr>
        <p:spPr>
          <a:xfrm>
            <a:off x="731520" y="4297680"/>
            <a:ext cx="10515600" cy="320040"/>
          </a:xfrm>
          <a:prstGeom prst="rect">
            <a:avLst/>
          </a:prstGeom>
          <a:noFill/>
          <a:ln/>
        </p:spPr>
        <p:txBody>
          <a:bodyPr wrap="square" lIns="0" tIns="0" rIns="0" bIns="0" rtlCol="0" anchor="ctr"/>
          <a:lstStyle/>
          <a:p>
            <a:pPr marL="0" indent="0">
              <a:buNone/>
            </a:pPr>
            <a:r>
              <a:rPr lang="en-US" sz="1700" b="1" dirty="0">
                <a:solidFill>
                  <a:srgbClr val="115740"/>
                </a:solidFill>
                <a:latin typeface="Calibri" pitchFamily="34" charset="0"/>
                <a:ea typeface="Calibri" pitchFamily="34" charset="-122"/>
                <a:cs typeface="Calibri" pitchFamily="34" charset="-120"/>
              </a:rPr>
              <a:t>What to look for in the rationale:</a:t>
            </a:r>
            <a:endParaRPr lang="en-US" sz="1700" dirty="0"/>
          </a:p>
        </p:txBody>
      </p:sp>
      <p:sp>
        <p:nvSpPr>
          <p:cNvPr id="11" name="Text 9"/>
          <p:cNvSpPr/>
          <p:nvPr/>
        </p:nvSpPr>
        <p:spPr>
          <a:xfrm>
            <a:off x="731520" y="4663440"/>
            <a:ext cx="10515600" cy="1828800"/>
          </a:xfrm>
          <a:prstGeom prst="rect">
            <a:avLst/>
          </a:prstGeom>
          <a:noFill/>
          <a:ln/>
        </p:spPr>
        <p:txBody>
          <a:bodyPr wrap="square" rtlCol="0" anchor="ctr"/>
          <a:lstStyle/>
          <a:p>
            <a:pPr marL="342900" indent="-342900">
              <a:spcAft>
                <a:spcPts val="800"/>
              </a:spcAft>
              <a:buSzPct val="100000"/>
              <a:buChar char="•"/>
            </a:pPr>
            <a:r>
              <a:rPr lang="en-US" sz="1500" dirty="0">
                <a:solidFill>
                  <a:srgbClr val="2D2D2D"/>
                </a:solidFill>
                <a:latin typeface="Calibri" pitchFamily="34" charset="0"/>
                <a:ea typeface="Calibri" pitchFamily="34" charset="-122"/>
                <a:cs typeface="Calibri" pitchFamily="34" charset="-120"/>
              </a:rPr>
              <a:t>Which specific duties drove the classification decision</a:t>
            </a:r>
            <a:endParaRPr lang="en-US" sz="1500" dirty="0"/>
          </a:p>
          <a:p>
            <a:pPr marL="342900" indent="-342900">
              <a:spcAft>
                <a:spcPts val="800"/>
              </a:spcAft>
              <a:buSzPct val="100000"/>
              <a:buChar char="•"/>
            </a:pPr>
            <a:r>
              <a:rPr lang="en-US" sz="1500" dirty="0">
                <a:solidFill>
                  <a:srgbClr val="2D2D2D"/>
                </a:solidFill>
                <a:latin typeface="Calibri" pitchFamily="34" charset="0"/>
                <a:ea typeface="Calibri" pitchFamily="34" charset="-122"/>
                <a:cs typeface="Calibri" pitchFamily="34" charset="-120"/>
              </a:rPr>
              <a:t>Why the recommended level (pay band) was chosen</a:t>
            </a:r>
            <a:endParaRPr lang="en-US" sz="1500" dirty="0"/>
          </a:p>
          <a:p>
            <a:pPr marL="342900" indent="-342900">
              <a:spcAft>
                <a:spcPts val="800"/>
              </a:spcAft>
              <a:buSzPct val="100000"/>
              <a:buChar char="•"/>
            </a:pPr>
            <a:r>
              <a:rPr lang="en-US" sz="1500" dirty="0">
                <a:solidFill>
                  <a:srgbClr val="2D2D2D"/>
                </a:solidFill>
                <a:latin typeface="Calibri" pitchFamily="34" charset="0"/>
                <a:ea typeface="Calibri" pitchFamily="34" charset="-122"/>
                <a:cs typeface="Calibri" pitchFamily="34" charset="-120"/>
              </a:rPr>
              <a:t>Why the alternative matches were ranked lower</a:t>
            </a:r>
            <a:endParaRPr lang="en-US" sz="1500" dirty="0"/>
          </a:p>
          <a:p>
            <a:pPr marL="342900" indent="-342900">
              <a:buSzPct val="100000"/>
              <a:buChar char="•"/>
            </a:pPr>
            <a:r>
              <a:rPr lang="en-US" sz="1500" dirty="0">
                <a:solidFill>
                  <a:srgbClr val="2D2D2D"/>
                </a:solidFill>
                <a:latin typeface="Calibri" pitchFamily="34" charset="0"/>
                <a:ea typeface="Calibri" pitchFamily="34" charset="-122"/>
                <a:cs typeface="Calibri" pitchFamily="34" charset="-120"/>
              </a:rPr>
              <a:t>Any notes about duties that span multiple career groups</a:t>
            </a:r>
            <a:endParaRPr lang="en-US" sz="1500" dirty="0"/>
          </a:p>
        </p:txBody>
      </p:sp>
      <p:sp>
        <p:nvSpPr>
          <p:cNvPr id="12" name="Text 10"/>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12 / 20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Saving Your Results</a:t>
            </a:r>
            <a:endParaRPr lang="en-US" sz="2800" dirty="0"/>
          </a:p>
        </p:txBody>
      </p:sp>
      <p:sp>
        <p:nvSpPr>
          <p:cNvPr id="5" name="Text 3"/>
          <p:cNvSpPr/>
          <p:nvPr/>
        </p:nvSpPr>
        <p:spPr>
          <a:xfrm>
            <a:off x="640080" y="621792"/>
            <a:ext cx="10515600" cy="320040"/>
          </a:xfrm>
          <a:prstGeom prst="rect">
            <a:avLst/>
          </a:prstGeom>
          <a:noFill/>
          <a:ln/>
        </p:spPr>
        <p:txBody>
          <a:bodyPr wrap="square" lIns="0" tIns="0" rIns="0" bIns="0" rtlCol="0" anchor="ctr"/>
          <a:lstStyle/>
          <a:p>
            <a:pPr marL="0" indent="0">
              <a:buNone/>
            </a:pPr>
            <a:r>
              <a:rPr lang="en-US" sz="1300" dirty="0">
                <a:solidFill>
                  <a:srgbClr val="C99700"/>
                </a:solidFill>
                <a:latin typeface="Calibri" pitchFamily="34" charset="0"/>
                <a:ea typeface="Calibri" pitchFamily="34" charset="-122"/>
                <a:cs typeface="Calibri" pitchFamily="34" charset="-120"/>
              </a:rPr>
              <a:t>Export to Word with one click</a:t>
            </a:r>
            <a:endParaRPr lang="en-US" sz="1300" dirty="0"/>
          </a:p>
        </p:txBody>
      </p:sp>
      <p:sp>
        <p:nvSpPr>
          <p:cNvPr id="6" name="Text 4"/>
          <p:cNvSpPr/>
          <p:nvPr/>
        </p:nvSpPr>
        <p:spPr>
          <a:xfrm>
            <a:off x="731520" y="1463040"/>
            <a:ext cx="6400800" cy="457200"/>
          </a:xfrm>
          <a:prstGeom prst="rect">
            <a:avLst/>
          </a:prstGeom>
          <a:noFill/>
          <a:ln/>
        </p:spPr>
        <p:txBody>
          <a:bodyPr wrap="square" lIns="0" tIns="0" rIns="0" bIns="0" rtlCol="0" anchor="ctr"/>
          <a:lstStyle/>
          <a:p>
            <a:pPr marL="0" indent="0">
              <a:buNone/>
            </a:pPr>
            <a:r>
              <a:rPr lang="en-US" sz="1800" dirty="0">
                <a:solidFill>
                  <a:srgbClr val="2D2D2D"/>
                </a:solidFill>
                <a:latin typeface="Calibri" pitchFamily="34" charset="0"/>
                <a:ea typeface="Calibri" pitchFamily="34" charset="-122"/>
                <a:cs typeface="Calibri" pitchFamily="34" charset="-120"/>
              </a:rPr>
              <a:t>After classifying a position, you can save the results as a Word document.</a:t>
            </a:r>
            <a:endParaRPr lang="en-US" sz="1800" dirty="0"/>
          </a:p>
        </p:txBody>
      </p:sp>
      <p:sp>
        <p:nvSpPr>
          <p:cNvPr id="7" name="Text 5"/>
          <p:cNvSpPr/>
          <p:nvPr/>
        </p:nvSpPr>
        <p:spPr>
          <a:xfrm>
            <a:off x="731520" y="2103120"/>
            <a:ext cx="6400800" cy="3657600"/>
          </a:xfrm>
          <a:prstGeom prst="rect">
            <a:avLst/>
          </a:prstGeom>
          <a:noFill/>
          <a:ln/>
        </p:spPr>
        <p:txBody>
          <a:bodyPr wrap="square" rtlCol="0" anchor="t"/>
          <a:lstStyle/>
          <a:p>
            <a:pPr marL="0" indent="0">
              <a:spcAft>
                <a:spcPts val="1000"/>
              </a:spcAft>
              <a:buNone/>
            </a:pPr>
            <a:r>
              <a:rPr lang="en-US" sz="1600" dirty="0">
                <a:solidFill>
                  <a:srgbClr val="2D2D2D"/>
                </a:solidFill>
                <a:latin typeface="Calibri" pitchFamily="34" charset="0"/>
                <a:ea typeface="Calibri" pitchFamily="34" charset="-122"/>
                <a:cs typeface="Calibri" pitchFamily="34" charset="-120"/>
              </a:rPr>
              <a:t>1.  Look for the "Download Classification Report" button below the results</a:t>
            </a:r>
            <a:endParaRPr lang="en-US" sz="1600" dirty="0"/>
          </a:p>
          <a:p>
            <a:pPr marL="0" indent="0">
              <a:spcAft>
                <a:spcPts val="1000"/>
              </a:spcAft>
              <a:buNone/>
            </a:pPr>
            <a:r>
              <a:rPr lang="en-US" sz="1600" dirty="0">
                <a:solidFill>
                  <a:srgbClr val="2D2D2D"/>
                </a:solidFill>
                <a:latin typeface="Calibri" pitchFamily="34" charset="0"/>
                <a:ea typeface="Calibri" pitchFamily="34" charset="-122"/>
                <a:cs typeface="Calibri" pitchFamily="34" charset="-120"/>
              </a:rPr>
              <a:t>2.  Click it — a Word document (.docx) will download to your computer</a:t>
            </a:r>
            <a:endParaRPr lang="en-US" sz="1600" dirty="0"/>
          </a:p>
          <a:p>
            <a:pPr marL="0" indent="0">
              <a:spcAft>
                <a:spcPts val="2000"/>
              </a:spcAft>
              <a:buNone/>
            </a:pPr>
            <a:r>
              <a:rPr lang="en-US" sz="1600" dirty="0">
                <a:solidFill>
                  <a:srgbClr val="2D2D2D"/>
                </a:solidFill>
                <a:latin typeface="Calibri" pitchFamily="34" charset="0"/>
                <a:ea typeface="Calibri" pitchFamily="34" charset="-122"/>
                <a:cs typeface="Calibri" pitchFamily="34" charset="-120"/>
              </a:rPr>
              <a:t>3.  Open the file in Word — you can edit it, add your notes, and save to the classification file</a:t>
            </a:r>
            <a:endParaRPr lang="en-US" sz="1600" dirty="0"/>
          </a:p>
          <a:p>
            <a:pPr marL="0" indent="0">
              <a:spcAft>
                <a:spcPts val="800"/>
              </a:spcAft>
              <a:buNone/>
            </a:pPr>
            <a:r>
              <a:rPr lang="en-US" sz="1600" b="1" dirty="0">
                <a:solidFill>
                  <a:srgbClr val="115740"/>
                </a:solidFill>
                <a:latin typeface="Calibri" pitchFamily="34" charset="0"/>
                <a:ea typeface="Calibri" pitchFamily="34" charset="-122"/>
                <a:cs typeface="Calibri" pitchFamily="34" charset="-120"/>
              </a:rPr>
              <a:t>The report includes:</a:t>
            </a:r>
            <a:endParaRPr lang="en-US" sz="1600" dirty="0"/>
          </a:p>
          <a:p>
            <a:pPr marL="342900" indent="-342900">
              <a:spcAft>
                <a:spcPts val="400"/>
              </a:spcAft>
              <a:buSzPct val="100000"/>
              <a:buChar char="•"/>
            </a:pPr>
            <a:r>
              <a:rPr lang="en-US" sz="1600" dirty="0">
                <a:solidFill>
                  <a:srgbClr val="2D2D2D"/>
                </a:solidFill>
                <a:latin typeface="Calibri" pitchFamily="34" charset="0"/>
                <a:ea typeface="Calibri" pitchFamily="34" charset="-122"/>
                <a:cs typeface="Calibri" pitchFamily="34" charset="-120"/>
              </a:rPr>
              <a:t>The original position description text</a:t>
            </a:r>
            <a:endParaRPr lang="en-US" sz="1600" dirty="0"/>
          </a:p>
          <a:p>
            <a:pPr marL="342900" indent="-342900">
              <a:spcAft>
                <a:spcPts val="400"/>
              </a:spcAft>
              <a:buSzPct val="100000"/>
              <a:buChar char="•"/>
            </a:pPr>
            <a:r>
              <a:rPr lang="en-US" sz="1600" dirty="0">
                <a:solidFill>
                  <a:srgbClr val="2D2D2D"/>
                </a:solidFill>
                <a:latin typeface="Calibri" pitchFamily="34" charset="0"/>
                <a:ea typeface="Calibri" pitchFamily="34" charset="-122"/>
                <a:cs typeface="Calibri" pitchFamily="34" charset="-120"/>
              </a:rPr>
              <a:t>All classification results and confidence scores</a:t>
            </a:r>
            <a:endParaRPr lang="en-US" sz="1600" dirty="0"/>
          </a:p>
          <a:p>
            <a:pPr marL="342900" indent="-342900">
              <a:spcAft>
                <a:spcPts val="400"/>
              </a:spcAft>
              <a:buSzPct val="100000"/>
              <a:buChar char="•"/>
            </a:pPr>
            <a:r>
              <a:rPr lang="en-US" sz="1600" dirty="0">
                <a:solidFill>
                  <a:srgbClr val="2D2D2D"/>
                </a:solidFill>
                <a:latin typeface="Calibri" pitchFamily="34" charset="0"/>
                <a:ea typeface="Calibri" pitchFamily="34" charset="-122"/>
                <a:cs typeface="Calibri" pitchFamily="34" charset="-120"/>
              </a:rPr>
              <a:t>Career group, pay band, and salary information</a:t>
            </a:r>
            <a:endParaRPr lang="en-US" sz="1600" dirty="0"/>
          </a:p>
          <a:p>
            <a:pPr marL="342900" indent="-342900">
              <a:buSzPct val="100000"/>
              <a:buChar char="•"/>
            </a:pPr>
            <a:r>
              <a:rPr lang="en-US" sz="1600" dirty="0">
                <a:solidFill>
                  <a:srgbClr val="2D2D2D"/>
                </a:solidFill>
                <a:latin typeface="Calibri" pitchFamily="34" charset="0"/>
                <a:ea typeface="Calibri" pitchFamily="34" charset="-122"/>
                <a:cs typeface="Calibri" pitchFamily="34" charset="-120"/>
              </a:rPr>
              <a:t>The AI rationale (if Full Analysis was used)</a:t>
            </a:r>
            <a:endParaRPr lang="en-US" sz="1600" dirty="0"/>
          </a:p>
        </p:txBody>
      </p:sp>
      <p:sp>
        <p:nvSpPr>
          <p:cNvPr id="8" name="Shape 6"/>
          <p:cNvSpPr/>
          <p:nvPr/>
        </p:nvSpPr>
        <p:spPr>
          <a:xfrm>
            <a:off x="7772400" y="2286000"/>
            <a:ext cx="3474720" cy="594360"/>
          </a:xfrm>
          <a:prstGeom prst="rect">
            <a:avLst/>
          </a:prstGeom>
          <a:solidFill>
            <a:srgbClr val="115740"/>
          </a:solidFill>
          <a:ln/>
          <a:effectLst>
            <a:outerShdw blurRad="76200" dist="25400" dir="8100000" algn="bl" rotWithShape="0">
              <a:srgbClr val="000000">
                <a:alpha val="10000"/>
              </a:srgbClr>
            </a:outerShdw>
          </a:effectLst>
        </p:spPr>
        <p:txBody>
          <a:bodyPr/>
          <a:lstStyle/>
          <a:p>
            <a:endParaRPr lang="en-US"/>
          </a:p>
        </p:txBody>
      </p:sp>
      <p:sp>
        <p:nvSpPr>
          <p:cNvPr id="9" name="Text 7"/>
          <p:cNvSpPr/>
          <p:nvPr/>
        </p:nvSpPr>
        <p:spPr>
          <a:xfrm>
            <a:off x="7772400" y="2286000"/>
            <a:ext cx="347472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Download Classification Report</a:t>
            </a:r>
            <a:endParaRPr lang="en-US" sz="1400" dirty="0"/>
          </a:p>
        </p:txBody>
      </p:sp>
      <p:sp>
        <p:nvSpPr>
          <p:cNvPr id="10" name="Shape 8"/>
          <p:cNvSpPr/>
          <p:nvPr/>
        </p:nvSpPr>
        <p:spPr>
          <a:xfrm>
            <a:off x="7498080" y="3474720"/>
            <a:ext cx="4114800" cy="2011680"/>
          </a:xfrm>
          <a:prstGeom prst="rect">
            <a:avLst/>
          </a:prstGeom>
          <a:solidFill>
            <a:srgbClr val="FDF6E3"/>
          </a:solidFill>
          <a:ln w="12700">
            <a:solidFill>
              <a:srgbClr val="C99700"/>
            </a:solidFill>
            <a:prstDash val="solid"/>
          </a:ln>
        </p:spPr>
        <p:txBody>
          <a:bodyPr/>
          <a:lstStyle/>
          <a:p>
            <a:endParaRPr lang="en-US"/>
          </a:p>
        </p:txBody>
      </p:sp>
      <p:sp>
        <p:nvSpPr>
          <p:cNvPr id="11" name="Text 9"/>
          <p:cNvSpPr/>
          <p:nvPr/>
        </p:nvSpPr>
        <p:spPr>
          <a:xfrm>
            <a:off x="7772400" y="3611880"/>
            <a:ext cx="3566160" cy="1737360"/>
          </a:xfrm>
          <a:prstGeom prst="rect">
            <a:avLst/>
          </a:prstGeom>
          <a:noFill/>
          <a:ln/>
        </p:spPr>
        <p:txBody>
          <a:bodyPr wrap="square" lIns="0" tIns="0" rIns="0" bIns="0" rtlCol="0" anchor="t"/>
          <a:lstStyle/>
          <a:p>
            <a:pPr marL="0" indent="0">
              <a:spcAft>
                <a:spcPts val="800"/>
              </a:spcAft>
              <a:buNone/>
            </a:pPr>
            <a:r>
              <a:rPr lang="en-US" sz="1500" b="1" dirty="0">
                <a:solidFill>
                  <a:srgbClr val="C99700"/>
                </a:solidFill>
                <a:latin typeface="Calibri" pitchFamily="34" charset="0"/>
                <a:ea typeface="Calibri" pitchFamily="34" charset="-122"/>
                <a:cs typeface="Calibri" pitchFamily="34" charset="-120"/>
              </a:rPr>
              <a:t>Pro Tip</a:t>
            </a:r>
            <a:endParaRPr lang="en-US" sz="1500" dirty="0"/>
          </a:p>
          <a:p>
            <a:pPr marL="0" indent="0">
              <a:buNone/>
            </a:pPr>
            <a:r>
              <a:rPr lang="en-US" sz="1300" dirty="0">
                <a:solidFill>
                  <a:srgbClr val="2D2D2D"/>
                </a:solidFill>
                <a:latin typeface="Calibri" pitchFamily="34" charset="0"/>
                <a:ea typeface="Calibri" pitchFamily="34" charset="-122"/>
                <a:cs typeface="Calibri" pitchFamily="34" charset="-120"/>
              </a:rPr>
              <a:t>Save the Word report to the employee's classification file. It creates a documented record of the tool's recommendation that you can reference during audits or future reclassifications.</a:t>
            </a:r>
            <a:endParaRPr lang="en-US" sz="1500" dirty="0"/>
          </a:p>
        </p:txBody>
      </p:sp>
      <p:sp>
        <p:nvSpPr>
          <p:cNvPr id="12" name="Text 10"/>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13 / 20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Classifying Multiple Positions at Once</a:t>
            </a:r>
            <a:endParaRPr lang="en-US" sz="2800" dirty="0"/>
          </a:p>
        </p:txBody>
      </p:sp>
      <p:sp>
        <p:nvSpPr>
          <p:cNvPr id="5" name="Text 3"/>
          <p:cNvSpPr/>
          <p:nvPr/>
        </p:nvSpPr>
        <p:spPr>
          <a:xfrm>
            <a:off x="731520" y="1463040"/>
            <a:ext cx="10515600" cy="457200"/>
          </a:xfrm>
          <a:prstGeom prst="rect">
            <a:avLst/>
          </a:prstGeom>
          <a:noFill/>
          <a:ln/>
        </p:spPr>
        <p:txBody>
          <a:bodyPr wrap="square" lIns="0" tIns="0" rIns="0" bIns="0" rtlCol="0" anchor="ctr"/>
          <a:lstStyle/>
          <a:p>
            <a:pPr marL="0" indent="0">
              <a:buNone/>
            </a:pPr>
            <a:r>
              <a:rPr lang="en-US" sz="2000" dirty="0">
                <a:solidFill>
                  <a:srgbClr val="2D2D2D"/>
                </a:solidFill>
                <a:latin typeface="Calibri" pitchFamily="34" charset="0"/>
                <a:ea typeface="Calibri" pitchFamily="34" charset="-122"/>
                <a:cs typeface="Calibri" pitchFamily="34" charset="-120"/>
              </a:rPr>
              <a:t>You can classify several position descriptions in one session:</a:t>
            </a:r>
            <a:endParaRPr lang="en-US" sz="2000" dirty="0"/>
          </a:p>
        </p:txBody>
      </p:sp>
      <p:sp>
        <p:nvSpPr>
          <p:cNvPr id="6" name="Shape 4"/>
          <p:cNvSpPr/>
          <p:nvPr/>
        </p:nvSpPr>
        <p:spPr>
          <a:xfrm>
            <a:off x="914400" y="2286000"/>
            <a:ext cx="548640" cy="548640"/>
          </a:xfrm>
          <a:prstGeom prst="ellipse">
            <a:avLst/>
          </a:prstGeom>
          <a:solidFill>
            <a:srgbClr val="115740"/>
          </a:solidFill>
          <a:ln/>
        </p:spPr>
        <p:txBody>
          <a:bodyPr/>
          <a:lstStyle/>
          <a:p>
            <a:endParaRPr lang="en-US"/>
          </a:p>
        </p:txBody>
      </p:sp>
      <p:sp>
        <p:nvSpPr>
          <p:cNvPr id="7" name="Text 5"/>
          <p:cNvSpPr/>
          <p:nvPr/>
        </p:nvSpPr>
        <p:spPr>
          <a:xfrm>
            <a:off x="914400" y="2331720"/>
            <a:ext cx="54864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1828800" y="2377440"/>
            <a:ext cx="9144000" cy="411480"/>
          </a:xfrm>
          <a:prstGeom prst="rect">
            <a:avLst/>
          </a:prstGeom>
          <a:noFill/>
          <a:ln/>
        </p:spPr>
        <p:txBody>
          <a:bodyPr wrap="square" lIns="0" tIns="0" rIns="0" bIns="0" rtlCol="0" anchor="ctr"/>
          <a:lstStyle/>
          <a:p>
            <a:pPr marL="0" indent="0">
              <a:buNone/>
            </a:pPr>
            <a:r>
              <a:rPr lang="en-US" sz="1700" dirty="0">
                <a:solidFill>
                  <a:srgbClr val="2D2D2D"/>
                </a:solidFill>
                <a:latin typeface="Calibri" pitchFamily="34" charset="0"/>
                <a:ea typeface="Calibri" pitchFamily="34" charset="-122"/>
                <a:cs typeface="Calibri" pitchFamily="34" charset="-120"/>
              </a:rPr>
              <a:t>Paste all PDs into the text box, separated by --- on its own line</a:t>
            </a:r>
            <a:endParaRPr lang="en-US" sz="1700" dirty="0"/>
          </a:p>
        </p:txBody>
      </p:sp>
      <p:sp>
        <p:nvSpPr>
          <p:cNvPr id="9" name="Shape 7"/>
          <p:cNvSpPr/>
          <p:nvPr/>
        </p:nvSpPr>
        <p:spPr>
          <a:xfrm>
            <a:off x="914400" y="3200400"/>
            <a:ext cx="548640" cy="548640"/>
          </a:xfrm>
          <a:prstGeom prst="ellipse">
            <a:avLst/>
          </a:prstGeom>
          <a:solidFill>
            <a:srgbClr val="C99700"/>
          </a:solidFill>
          <a:ln/>
        </p:spPr>
        <p:txBody>
          <a:bodyPr/>
          <a:lstStyle/>
          <a:p>
            <a:endParaRPr lang="en-US"/>
          </a:p>
        </p:txBody>
      </p:sp>
      <p:sp>
        <p:nvSpPr>
          <p:cNvPr id="10" name="Text 8"/>
          <p:cNvSpPr/>
          <p:nvPr/>
        </p:nvSpPr>
        <p:spPr>
          <a:xfrm>
            <a:off x="914400" y="3246120"/>
            <a:ext cx="54864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1" name="Text 9"/>
          <p:cNvSpPr/>
          <p:nvPr/>
        </p:nvSpPr>
        <p:spPr>
          <a:xfrm>
            <a:off x="1828800" y="3291840"/>
            <a:ext cx="9144000" cy="411480"/>
          </a:xfrm>
          <a:prstGeom prst="rect">
            <a:avLst/>
          </a:prstGeom>
          <a:noFill/>
          <a:ln/>
        </p:spPr>
        <p:txBody>
          <a:bodyPr wrap="square" lIns="0" tIns="0" rIns="0" bIns="0" rtlCol="0" anchor="ctr"/>
          <a:lstStyle/>
          <a:p>
            <a:pPr marL="0" indent="0">
              <a:buNone/>
            </a:pPr>
            <a:r>
              <a:rPr lang="en-US" sz="1700" dirty="0">
                <a:solidFill>
                  <a:srgbClr val="2D2D2D"/>
                </a:solidFill>
                <a:latin typeface="Calibri" pitchFamily="34" charset="0"/>
                <a:ea typeface="Calibri" pitchFamily="34" charset="-122"/>
                <a:cs typeface="Calibri" pitchFamily="34" charset="-120"/>
              </a:rPr>
              <a:t>Each PD will be classified separately with its own results cards</a:t>
            </a:r>
            <a:endParaRPr lang="en-US" sz="1700" dirty="0"/>
          </a:p>
        </p:txBody>
      </p:sp>
      <p:sp>
        <p:nvSpPr>
          <p:cNvPr id="12" name="Shape 10"/>
          <p:cNvSpPr/>
          <p:nvPr/>
        </p:nvSpPr>
        <p:spPr>
          <a:xfrm>
            <a:off x="914400" y="4114800"/>
            <a:ext cx="548640" cy="548640"/>
          </a:xfrm>
          <a:prstGeom prst="ellipse">
            <a:avLst/>
          </a:prstGeom>
          <a:solidFill>
            <a:srgbClr val="115740"/>
          </a:solidFill>
          <a:ln/>
        </p:spPr>
        <p:txBody>
          <a:bodyPr/>
          <a:lstStyle/>
          <a:p>
            <a:endParaRPr lang="en-US"/>
          </a:p>
        </p:txBody>
      </p:sp>
      <p:sp>
        <p:nvSpPr>
          <p:cNvPr id="13" name="Text 11"/>
          <p:cNvSpPr/>
          <p:nvPr/>
        </p:nvSpPr>
        <p:spPr>
          <a:xfrm>
            <a:off x="914400" y="4160520"/>
            <a:ext cx="54864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4" name="Text 12"/>
          <p:cNvSpPr/>
          <p:nvPr/>
        </p:nvSpPr>
        <p:spPr>
          <a:xfrm>
            <a:off x="1828800" y="4206240"/>
            <a:ext cx="9144000" cy="411480"/>
          </a:xfrm>
          <a:prstGeom prst="rect">
            <a:avLst/>
          </a:prstGeom>
          <a:noFill/>
          <a:ln/>
        </p:spPr>
        <p:txBody>
          <a:bodyPr wrap="square" lIns="0" tIns="0" rIns="0" bIns="0" rtlCol="0" anchor="ctr"/>
          <a:lstStyle/>
          <a:p>
            <a:pPr marL="0" indent="0">
              <a:buNone/>
            </a:pPr>
            <a:r>
              <a:rPr lang="en-US" sz="1700" dirty="0">
                <a:solidFill>
                  <a:srgbClr val="2D2D2D"/>
                </a:solidFill>
                <a:latin typeface="Calibri" pitchFamily="34" charset="0"/>
                <a:ea typeface="Calibri" pitchFamily="34" charset="-122"/>
                <a:cs typeface="Calibri" pitchFamily="34" charset="-120"/>
              </a:rPr>
              <a:t>Use the "Clear Results" button to start fresh with new PDs</a:t>
            </a:r>
            <a:endParaRPr lang="en-US" sz="1700" dirty="0"/>
          </a:p>
        </p:txBody>
      </p:sp>
      <p:sp>
        <p:nvSpPr>
          <p:cNvPr id="15" name="Shape 13"/>
          <p:cNvSpPr/>
          <p:nvPr/>
        </p:nvSpPr>
        <p:spPr>
          <a:xfrm>
            <a:off x="1828800" y="5029200"/>
            <a:ext cx="8229600" cy="1188720"/>
          </a:xfrm>
          <a:prstGeom prst="rect">
            <a:avLst/>
          </a:prstGeom>
          <a:solidFill>
            <a:srgbClr val="F7F4EE"/>
          </a:solidFill>
          <a:ln w="12700">
            <a:solidFill>
              <a:srgbClr val="DDD8C8"/>
            </a:solidFill>
            <a:prstDash val="solid"/>
          </a:ln>
        </p:spPr>
        <p:txBody>
          <a:bodyPr/>
          <a:lstStyle/>
          <a:p>
            <a:endParaRPr lang="en-US"/>
          </a:p>
        </p:txBody>
      </p:sp>
      <p:sp>
        <p:nvSpPr>
          <p:cNvPr id="16" name="Text 14"/>
          <p:cNvSpPr/>
          <p:nvPr/>
        </p:nvSpPr>
        <p:spPr>
          <a:xfrm>
            <a:off x="2103120" y="5120640"/>
            <a:ext cx="7680960" cy="1005840"/>
          </a:xfrm>
          <a:prstGeom prst="rect">
            <a:avLst/>
          </a:prstGeom>
          <a:noFill/>
          <a:ln/>
        </p:spPr>
        <p:txBody>
          <a:bodyPr wrap="square" lIns="0" tIns="0" rIns="0" bIns="0" rtlCol="0" anchor="t"/>
          <a:lstStyle/>
          <a:p>
            <a:pPr marL="0" indent="0">
              <a:spcAft>
                <a:spcPts val="400"/>
              </a:spcAft>
              <a:buNone/>
            </a:pPr>
            <a:r>
              <a:rPr lang="en-US" sz="1200" b="1" dirty="0">
                <a:solidFill>
                  <a:srgbClr val="115740"/>
                </a:solidFill>
                <a:latin typeface="Calibri" pitchFamily="34" charset="0"/>
                <a:ea typeface="Calibri" pitchFamily="34" charset="-122"/>
                <a:cs typeface="Calibri" pitchFamily="34" charset="-120"/>
              </a:rPr>
              <a:t>Example:</a:t>
            </a:r>
            <a:endParaRPr lang="en-US" sz="1200" dirty="0"/>
          </a:p>
          <a:p>
            <a:pPr marL="0" indent="0">
              <a:spcAft>
                <a:spcPts val="200"/>
              </a:spcAft>
              <a:buNone/>
            </a:pPr>
            <a:r>
              <a:rPr lang="en-US" sz="1200" dirty="0">
                <a:solidFill>
                  <a:srgbClr val="666666"/>
                </a:solidFill>
                <a:latin typeface="Calibri" pitchFamily="34" charset="0"/>
                <a:ea typeface="Calibri" pitchFamily="34" charset="-122"/>
                <a:cs typeface="Calibri" pitchFamily="34" charset="-120"/>
              </a:rPr>
              <a:t>[First position description text here...]</a:t>
            </a:r>
            <a:endParaRPr lang="en-US" sz="1200" dirty="0"/>
          </a:p>
          <a:p>
            <a:pPr marL="0" indent="0">
              <a:spcAft>
                <a:spcPts val="200"/>
              </a:spcAft>
              <a:buNone/>
            </a:pPr>
            <a:r>
              <a:rPr lang="en-US" sz="1400" b="1" dirty="0">
                <a:solidFill>
                  <a:srgbClr val="C99700"/>
                </a:solidFill>
                <a:latin typeface="Calibri" pitchFamily="34" charset="0"/>
                <a:ea typeface="Calibri" pitchFamily="34" charset="-122"/>
                <a:cs typeface="Calibri" pitchFamily="34" charset="-120"/>
              </a:rPr>
              <a:t>---</a:t>
            </a:r>
            <a:endParaRPr lang="en-US" sz="1200" dirty="0"/>
          </a:p>
          <a:p>
            <a:pPr marL="0" indent="0">
              <a:buNone/>
            </a:pPr>
            <a:r>
              <a:rPr lang="en-US" sz="1200" dirty="0">
                <a:solidFill>
                  <a:srgbClr val="666666"/>
                </a:solidFill>
                <a:latin typeface="Calibri" pitchFamily="34" charset="0"/>
                <a:ea typeface="Calibri" pitchFamily="34" charset="-122"/>
                <a:cs typeface="Calibri" pitchFamily="34" charset="-120"/>
              </a:rPr>
              <a:t>[Second position description text here...]</a:t>
            </a:r>
            <a:endParaRPr lang="en-US" sz="1200" dirty="0"/>
          </a:p>
        </p:txBody>
      </p:sp>
      <p:sp>
        <p:nvSpPr>
          <p:cNvPr id="17" name="Text 15"/>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14 / 20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Using the Data Explorer</a:t>
            </a:r>
            <a:endParaRPr lang="en-US" sz="2800" dirty="0"/>
          </a:p>
        </p:txBody>
      </p:sp>
      <p:sp>
        <p:nvSpPr>
          <p:cNvPr id="5" name="Text 3"/>
          <p:cNvSpPr/>
          <p:nvPr/>
        </p:nvSpPr>
        <p:spPr>
          <a:xfrm>
            <a:off x="640080" y="621792"/>
            <a:ext cx="10515600" cy="320040"/>
          </a:xfrm>
          <a:prstGeom prst="rect">
            <a:avLst/>
          </a:prstGeom>
          <a:noFill/>
          <a:ln/>
        </p:spPr>
        <p:txBody>
          <a:bodyPr wrap="square" lIns="0" tIns="0" rIns="0" bIns="0" rtlCol="0" anchor="ctr"/>
          <a:lstStyle/>
          <a:p>
            <a:pPr marL="0" indent="0">
              <a:buNone/>
            </a:pPr>
            <a:r>
              <a:rPr lang="en-US" sz="1300" dirty="0">
                <a:solidFill>
                  <a:srgbClr val="C99700"/>
                </a:solidFill>
                <a:latin typeface="Calibri" pitchFamily="34" charset="0"/>
                <a:ea typeface="Calibri" pitchFamily="34" charset="-122"/>
                <a:cs typeface="Calibri" pitchFamily="34" charset="-120"/>
              </a:rPr>
              <a:t>Browse career groups and roles in the sidebar</a:t>
            </a:r>
            <a:endParaRPr lang="en-US" sz="1300" dirty="0"/>
          </a:p>
        </p:txBody>
      </p:sp>
      <p:sp>
        <p:nvSpPr>
          <p:cNvPr id="6" name="Text 4"/>
          <p:cNvSpPr/>
          <p:nvPr/>
        </p:nvSpPr>
        <p:spPr>
          <a:xfrm>
            <a:off x="731520" y="1463040"/>
            <a:ext cx="6400800" cy="4572000"/>
          </a:xfrm>
          <a:prstGeom prst="rect">
            <a:avLst/>
          </a:prstGeom>
          <a:noFill/>
          <a:ln/>
        </p:spPr>
        <p:txBody>
          <a:bodyPr wrap="square" rtlCol="0" anchor="t"/>
          <a:lstStyle/>
          <a:p>
            <a:pPr marL="0" indent="0">
              <a:spcAft>
                <a:spcPts val="1400"/>
              </a:spcAft>
              <a:buNone/>
            </a:pPr>
            <a:r>
              <a:rPr lang="en-US" sz="1800" dirty="0">
                <a:solidFill>
                  <a:srgbClr val="2D2D2D"/>
                </a:solidFill>
                <a:latin typeface="Calibri" pitchFamily="34" charset="0"/>
                <a:ea typeface="Calibri" pitchFamily="34" charset="-122"/>
                <a:cs typeface="Calibri" pitchFamily="34" charset="-120"/>
              </a:rPr>
              <a:t>The Data Explorer is in the left sidebar. Use it to:</a:t>
            </a:r>
            <a:endParaRPr lang="en-US" sz="1600" dirty="0"/>
          </a:p>
          <a:p>
            <a:pPr marL="342900" indent="-342900">
              <a:spcAft>
                <a:spcPts val="600"/>
              </a:spcAft>
              <a:buSzPct val="100000"/>
              <a:buChar char="•"/>
            </a:pPr>
            <a:r>
              <a:rPr lang="en-US" sz="1600" dirty="0">
                <a:solidFill>
                  <a:srgbClr val="2D2D2D"/>
                </a:solidFill>
                <a:latin typeface="Calibri" pitchFamily="34" charset="0"/>
                <a:ea typeface="Calibri" pitchFamily="34" charset="-122"/>
                <a:cs typeface="Calibri" pitchFamily="34" charset="-120"/>
              </a:rPr>
              <a:t>Browse all available career groups</a:t>
            </a:r>
            <a:endParaRPr lang="en-US" sz="1600" dirty="0"/>
          </a:p>
          <a:p>
            <a:pPr marL="342900" indent="-342900">
              <a:spcAft>
                <a:spcPts val="600"/>
              </a:spcAft>
              <a:buSzPct val="100000"/>
              <a:buChar char="•"/>
            </a:pPr>
            <a:r>
              <a:rPr lang="en-US" sz="1600" dirty="0">
                <a:solidFill>
                  <a:srgbClr val="2D2D2D"/>
                </a:solidFill>
                <a:latin typeface="Calibri" pitchFamily="34" charset="0"/>
                <a:ea typeface="Calibri" pitchFamily="34" charset="-122"/>
                <a:cs typeface="Calibri" pitchFamily="34" charset="-120"/>
              </a:rPr>
              <a:t>See which roles belong to each career group</a:t>
            </a:r>
            <a:endParaRPr lang="en-US" sz="1600" dirty="0"/>
          </a:p>
          <a:p>
            <a:pPr marL="342900" indent="-342900">
              <a:spcAft>
                <a:spcPts val="600"/>
              </a:spcAft>
              <a:buSzPct val="100000"/>
              <a:buChar char="•"/>
            </a:pPr>
            <a:r>
              <a:rPr lang="en-US" sz="1600" dirty="0">
                <a:solidFill>
                  <a:srgbClr val="2D2D2D"/>
                </a:solidFill>
                <a:latin typeface="Calibri" pitchFamily="34" charset="0"/>
                <a:ea typeface="Calibri" pitchFamily="34" charset="-122"/>
                <a:cs typeface="Calibri" pitchFamily="34" charset="-120"/>
              </a:rPr>
              <a:t>Check pay band ranges for specific groups</a:t>
            </a:r>
            <a:endParaRPr lang="en-US" sz="1600" dirty="0"/>
          </a:p>
          <a:p>
            <a:pPr marL="342900" indent="-342900">
              <a:spcAft>
                <a:spcPts val="2000"/>
              </a:spcAft>
              <a:buSzPct val="100000"/>
              <a:buChar char="•"/>
            </a:pPr>
            <a:r>
              <a:rPr lang="en-US" sz="1600" dirty="0">
                <a:solidFill>
                  <a:srgbClr val="2D2D2D"/>
                </a:solidFill>
                <a:latin typeface="Calibri" pitchFamily="34" charset="0"/>
                <a:ea typeface="Calibri" pitchFamily="34" charset="-122"/>
                <a:cs typeface="Calibri" pitchFamily="34" charset="-120"/>
              </a:rPr>
              <a:t>Look up occupational family assignments</a:t>
            </a:r>
            <a:endParaRPr lang="en-US" sz="1600" dirty="0"/>
          </a:p>
          <a:p>
            <a:pPr marL="0" indent="0">
              <a:spcAft>
                <a:spcPts val="1000"/>
              </a:spcAft>
              <a:buNone/>
            </a:pPr>
            <a:r>
              <a:rPr lang="en-US" sz="1700" b="1" dirty="0">
                <a:solidFill>
                  <a:srgbClr val="115740"/>
                </a:solidFill>
                <a:latin typeface="Calibri" pitchFamily="34" charset="0"/>
                <a:ea typeface="Calibri" pitchFamily="34" charset="-122"/>
                <a:cs typeface="Calibri" pitchFamily="34" charset="-120"/>
              </a:rPr>
              <a:t>How to use it:</a:t>
            </a:r>
            <a:endParaRPr lang="en-US" sz="1600" dirty="0"/>
          </a:p>
          <a:p>
            <a:pPr marL="0" indent="0">
              <a:spcAft>
                <a:spcPts val="600"/>
              </a:spcAft>
              <a:buNone/>
            </a:pPr>
            <a:r>
              <a:rPr lang="en-US" sz="1600" dirty="0">
                <a:solidFill>
                  <a:srgbClr val="2D2D2D"/>
                </a:solidFill>
                <a:latin typeface="Calibri" pitchFamily="34" charset="0"/>
                <a:ea typeface="Calibri" pitchFamily="34" charset="-122"/>
                <a:cs typeface="Calibri" pitchFamily="34" charset="-120"/>
              </a:rPr>
              <a:t>1. Click the sidebar arrow on the left if the sidebar is closed</a:t>
            </a:r>
            <a:endParaRPr lang="en-US" sz="1600" dirty="0"/>
          </a:p>
          <a:p>
            <a:pPr marL="0" indent="0">
              <a:spcAft>
                <a:spcPts val="600"/>
              </a:spcAft>
              <a:buNone/>
            </a:pPr>
            <a:r>
              <a:rPr lang="en-US" sz="1600" dirty="0">
                <a:solidFill>
                  <a:srgbClr val="2D2D2D"/>
                </a:solidFill>
                <a:latin typeface="Calibri" pitchFamily="34" charset="0"/>
                <a:ea typeface="Calibri" pitchFamily="34" charset="-122"/>
                <a:cs typeface="Calibri" pitchFamily="34" charset="-120"/>
              </a:rPr>
              <a:t>2. Under "GRIFFIN Data Explorer," click the dropdown</a:t>
            </a:r>
            <a:endParaRPr lang="en-US" sz="1600" dirty="0"/>
          </a:p>
          <a:p>
            <a:pPr marL="0" indent="0">
              <a:buNone/>
            </a:pPr>
            <a:r>
              <a:rPr lang="en-US" sz="1600" dirty="0">
                <a:solidFill>
                  <a:srgbClr val="2D2D2D"/>
                </a:solidFill>
                <a:latin typeface="Calibri" pitchFamily="34" charset="0"/>
                <a:ea typeface="Calibri" pitchFamily="34" charset="-122"/>
                <a:cs typeface="Calibri" pitchFamily="34" charset="-120"/>
              </a:rPr>
              <a:t>3. Select a career group to see its details and roles</a:t>
            </a:r>
            <a:endParaRPr lang="en-US" sz="1600" dirty="0"/>
          </a:p>
        </p:txBody>
      </p:sp>
      <p:sp>
        <p:nvSpPr>
          <p:cNvPr id="7" name="Shape 5"/>
          <p:cNvSpPr/>
          <p:nvPr/>
        </p:nvSpPr>
        <p:spPr>
          <a:xfrm>
            <a:off x="7498080" y="1463040"/>
            <a:ext cx="4114800" cy="4572000"/>
          </a:xfrm>
          <a:prstGeom prst="rect">
            <a:avLst/>
          </a:prstGeom>
          <a:solidFill>
            <a:srgbClr val="FFFFFF"/>
          </a:solidFill>
          <a:ln w="12700">
            <a:solidFill>
              <a:srgbClr val="DDD8C8"/>
            </a:solidFill>
            <a:prstDash val="solid"/>
          </a:ln>
          <a:effectLst>
            <a:outerShdw blurRad="76200" dist="25400" dir="8100000" algn="bl" rotWithShape="0">
              <a:srgbClr val="000000">
                <a:alpha val="10000"/>
              </a:srgbClr>
            </a:outerShdw>
          </a:effectLst>
        </p:spPr>
        <p:txBody>
          <a:bodyPr/>
          <a:lstStyle/>
          <a:p>
            <a:endParaRPr lang="en-US"/>
          </a:p>
        </p:txBody>
      </p:sp>
      <p:sp>
        <p:nvSpPr>
          <p:cNvPr id="8" name="Text 6"/>
          <p:cNvSpPr/>
          <p:nvPr/>
        </p:nvSpPr>
        <p:spPr>
          <a:xfrm>
            <a:off x="7772400" y="1600200"/>
            <a:ext cx="3474720" cy="274320"/>
          </a:xfrm>
          <a:prstGeom prst="rect">
            <a:avLst/>
          </a:prstGeom>
          <a:noFill/>
          <a:ln/>
        </p:spPr>
        <p:txBody>
          <a:bodyPr wrap="square" lIns="0" tIns="0" rIns="0" bIns="0" rtlCol="0" anchor="ctr"/>
          <a:lstStyle/>
          <a:p>
            <a:pPr marL="0" indent="0">
              <a:buNone/>
            </a:pPr>
            <a:r>
              <a:rPr lang="en-US" sz="1400" b="1" dirty="0">
                <a:solidFill>
                  <a:srgbClr val="115740"/>
                </a:solidFill>
                <a:latin typeface="Calibri" pitchFamily="34" charset="0"/>
                <a:ea typeface="Calibri" pitchFamily="34" charset="-122"/>
                <a:cs typeface="Calibri" pitchFamily="34" charset="-120"/>
              </a:rPr>
              <a:t>GRIFFIN Data Explorer</a:t>
            </a:r>
            <a:endParaRPr lang="en-US" sz="1400" dirty="0"/>
          </a:p>
        </p:txBody>
      </p:sp>
      <p:sp>
        <p:nvSpPr>
          <p:cNvPr id="9" name="Text 7"/>
          <p:cNvSpPr/>
          <p:nvPr/>
        </p:nvSpPr>
        <p:spPr>
          <a:xfrm>
            <a:off x="7772400" y="1920240"/>
            <a:ext cx="3474720" cy="228600"/>
          </a:xfrm>
          <a:prstGeom prst="rect">
            <a:avLst/>
          </a:prstGeom>
          <a:noFill/>
          <a:ln/>
        </p:spPr>
        <p:txBody>
          <a:bodyPr wrap="square" lIns="0" tIns="0" rIns="0" bIns="0" rtlCol="0" anchor="ctr"/>
          <a:lstStyle/>
          <a:p>
            <a:pPr marL="0" indent="0">
              <a:buNone/>
            </a:pPr>
            <a:r>
              <a:rPr lang="en-US" sz="1000" dirty="0">
                <a:solidFill>
                  <a:srgbClr val="999999"/>
                </a:solidFill>
                <a:latin typeface="Calibri" pitchFamily="34" charset="0"/>
                <a:ea typeface="Calibri" pitchFamily="34" charset="-122"/>
                <a:cs typeface="Calibri" pitchFamily="34" charset="-120"/>
              </a:rPr>
              <a:t>56 career groups | 294 roles | 10 pay bands</a:t>
            </a:r>
            <a:endParaRPr lang="en-US" sz="1000" dirty="0"/>
          </a:p>
        </p:txBody>
      </p:sp>
      <p:sp>
        <p:nvSpPr>
          <p:cNvPr id="10" name="Shape 8"/>
          <p:cNvSpPr/>
          <p:nvPr/>
        </p:nvSpPr>
        <p:spPr>
          <a:xfrm>
            <a:off x="7772400" y="2286000"/>
            <a:ext cx="3474720" cy="384048"/>
          </a:xfrm>
          <a:prstGeom prst="rect">
            <a:avLst/>
          </a:prstGeom>
          <a:solidFill>
            <a:srgbClr val="F7F4EE"/>
          </a:solidFill>
          <a:ln w="12700">
            <a:solidFill>
              <a:srgbClr val="DDD8C8"/>
            </a:solidFill>
            <a:prstDash val="solid"/>
          </a:ln>
        </p:spPr>
        <p:txBody>
          <a:bodyPr/>
          <a:lstStyle/>
          <a:p>
            <a:endParaRPr lang="en-US"/>
          </a:p>
        </p:txBody>
      </p:sp>
      <p:sp>
        <p:nvSpPr>
          <p:cNvPr id="11" name="Text 9"/>
          <p:cNvSpPr/>
          <p:nvPr/>
        </p:nvSpPr>
        <p:spPr>
          <a:xfrm>
            <a:off x="7955280" y="2322576"/>
            <a:ext cx="3108960" cy="292608"/>
          </a:xfrm>
          <a:prstGeom prst="rect">
            <a:avLst/>
          </a:prstGeom>
          <a:noFill/>
          <a:ln/>
        </p:spPr>
        <p:txBody>
          <a:bodyPr wrap="square" lIns="0" tIns="0" rIns="0" bIns="0" rtlCol="0" anchor="ctr"/>
          <a:lstStyle/>
          <a:p>
            <a:pPr marL="0" indent="0">
              <a:buNone/>
            </a:pPr>
            <a:r>
              <a:rPr lang="en-US" sz="1200" dirty="0">
                <a:solidFill>
                  <a:srgbClr val="2D2D2D"/>
                </a:solidFill>
                <a:latin typeface="Calibri" pitchFamily="34" charset="0"/>
                <a:ea typeface="Calibri" pitchFamily="34" charset="-122"/>
                <a:cs typeface="Calibri" pitchFamily="34" charset="-120"/>
              </a:rPr>
              <a:t>Financial Services</a:t>
            </a:r>
            <a:endParaRPr lang="en-US" sz="1200" dirty="0"/>
          </a:p>
        </p:txBody>
      </p:sp>
      <p:sp>
        <p:nvSpPr>
          <p:cNvPr id="12" name="Text 10"/>
          <p:cNvSpPr/>
          <p:nvPr/>
        </p:nvSpPr>
        <p:spPr>
          <a:xfrm>
            <a:off x="7772400" y="2834640"/>
            <a:ext cx="3474720" cy="2926080"/>
          </a:xfrm>
          <a:prstGeom prst="rect">
            <a:avLst/>
          </a:prstGeom>
          <a:noFill/>
          <a:ln/>
        </p:spPr>
        <p:txBody>
          <a:bodyPr wrap="square" lIns="0" tIns="0" rIns="0" bIns="0" rtlCol="0" anchor="t"/>
          <a:lstStyle/>
          <a:p>
            <a:pPr marL="0" indent="0">
              <a:spcAft>
                <a:spcPts val="400"/>
              </a:spcAft>
              <a:buNone/>
            </a:pPr>
            <a:r>
              <a:rPr lang="en-US" sz="1100" b="1" dirty="0">
                <a:solidFill>
                  <a:srgbClr val="2D2D2D"/>
                </a:solidFill>
                <a:latin typeface="Calibri" pitchFamily="34" charset="0"/>
                <a:ea typeface="Calibri" pitchFamily="34" charset="-122"/>
                <a:cs typeface="Calibri" pitchFamily="34" charset="-120"/>
              </a:rPr>
              <a:t>Code:  14</a:t>
            </a:r>
            <a:endParaRPr lang="en-US" sz="1100" dirty="0"/>
          </a:p>
          <a:p>
            <a:pPr marL="0" indent="0">
              <a:spcAft>
                <a:spcPts val="400"/>
              </a:spcAft>
              <a:buNone/>
            </a:pPr>
            <a:r>
              <a:rPr lang="en-US" sz="1100" b="1" dirty="0">
                <a:solidFill>
                  <a:srgbClr val="2D2D2D"/>
                </a:solidFill>
                <a:latin typeface="Calibri" pitchFamily="34" charset="0"/>
                <a:ea typeface="Calibri" pitchFamily="34" charset="-122"/>
                <a:cs typeface="Calibri" pitchFamily="34" charset="-120"/>
              </a:rPr>
              <a:t>Family:  Fiscal Services</a:t>
            </a:r>
            <a:endParaRPr lang="en-US" sz="1100" dirty="0"/>
          </a:p>
          <a:p>
            <a:pPr marL="0" indent="0">
              <a:spcAft>
                <a:spcPts val="1000"/>
              </a:spcAft>
              <a:buNone/>
            </a:pPr>
            <a:r>
              <a:rPr lang="en-US" sz="1100" b="1" dirty="0">
                <a:solidFill>
                  <a:srgbClr val="2D2D2D"/>
                </a:solidFill>
                <a:latin typeface="Calibri" pitchFamily="34" charset="0"/>
                <a:ea typeface="Calibri" pitchFamily="34" charset="-122"/>
                <a:cs typeface="Calibri" pitchFamily="34" charset="-120"/>
              </a:rPr>
              <a:t>Pay Bands:  3 – 9</a:t>
            </a:r>
            <a:endParaRPr lang="en-US" sz="1100" dirty="0"/>
          </a:p>
          <a:p>
            <a:pPr marL="0" indent="0">
              <a:spcAft>
                <a:spcPts val="400"/>
              </a:spcAft>
              <a:buNone/>
            </a:pPr>
            <a:r>
              <a:rPr lang="en-US" sz="1100" b="1" dirty="0">
                <a:solidFill>
                  <a:srgbClr val="2D2D2D"/>
                </a:solidFill>
                <a:latin typeface="Calibri" pitchFamily="34" charset="0"/>
                <a:ea typeface="Calibri" pitchFamily="34" charset="-122"/>
                <a:cs typeface="Calibri" pitchFamily="34" charset="-120"/>
              </a:rPr>
              <a:t>Roles:</a:t>
            </a:r>
            <a:endParaRPr lang="en-US" sz="1100" dirty="0"/>
          </a:p>
          <a:p>
            <a:pPr marL="0" indent="0">
              <a:spcAft>
                <a:spcPts val="200"/>
              </a:spcAft>
              <a:buNone/>
            </a:pPr>
            <a:r>
              <a:rPr lang="en-US" sz="1100" dirty="0">
                <a:solidFill>
                  <a:srgbClr val="666666"/>
                </a:solidFill>
                <a:latin typeface="Calibri" pitchFamily="34" charset="0"/>
                <a:ea typeface="Calibri" pitchFamily="34" charset="-122"/>
                <a:cs typeface="Calibri" pitchFamily="34" charset="-120"/>
              </a:rPr>
              <a:t>• Financial Services Spec I (Band 3)</a:t>
            </a:r>
            <a:endParaRPr lang="en-US" sz="1100" dirty="0"/>
          </a:p>
          <a:p>
            <a:pPr marL="0" indent="0">
              <a:spcAft>
                <a:spcPts val="200"/>
              </a:spcAft>
              <a:buNone/>
            </a:pPr>
            <a:r>
              <a:rPr lang="en-US" sz="1100" dirty="0">
                <a:solidFill>
                  <a:srgbClr val="666666"/>
                </a:solidFill>
                <a:latin typeface="Calibri" pitchFamily="34" charset="0"/>
                <a:ea typeface="Calibri" pitchFamily="34" charset="-122"/>
                <a:cs typeface="Calibri" pitchFamily="34" charset="-120"/>
              </a:rPr>
              <a:t>• Financial Services Spec II (Band 4)</a:t>
            </a:r>
            <a:endParaRPr lang="en-US" sz="1100" dirty="0"/>
          </a:p>
          <a:p>
            <a:pPr marL="0" indent="0">
              <a:spcAft>
                <a:spcPts val="200"/>
              </a:spcAft>
              <a:buNone/>
            </a:pPr>
            <a:r>
              <a:rPr lang="en-US" sz="1100" dirty="0">
                <a:solidFill>
                  <a:srgbClr val="666666"/>
                </a:solidFill>
                <a:latin typeface="Calibri" pitchFamily="34" charset="0"/>
                <a:ea typeface="Calibri" pitchFamily="34" charset="-122"/>
                <a:cs typeface="Calibri" pitchFamily="34" charset="-120"/>
              </a:rPr>
              <a:t>• Financial Services Mgr I (Band 5)</a:t>
            </a:r>
            <a:endParaRPr lang="en-US" sz="1100" dirty="0"/>
          </a:p>
          <a:p>
            <a:pPr marL="0" indent="0">
              <a:spcAft>
                <a:spcPts val="200"/>
              </a:spcAft>
              <a:buNone/>
            </a:pPr>
            <a:r>
              <a:rPr lang="en-US" sz="1100" dirty="0">
                <a:solidFill>
                  <a:srgbClr val="666666"/>
                </a:solidFill>
                <a:latin typeface="Calibri" pitchFamily="34" charset="0"/>
                <a:ea typeface="Calibri" pitchFamily="34" charset="-122"/>
                <a:cs typeface="Calibri" pitchFamily="34" charset="-120"/>
              </a:rPr>
              <a:t>• Financial Services Mgr II (Band 6)</a:t>
            </a:r>
            <a:endParaRPr lang="en-US" sz="1100" dirty="0"/>
          </a:p>
          <a:p>
            <a:pPr marL="0" indent="0">
              <a:buNone/>
            </a:pPr>
            <a:r>
              <a:rPr lang="en-US" sz="1100" dirty="0">
                <a:solidFill>
                  <a:srgbClr val="666666"/>
                </a:solidFill>
                <a:latin typeface="Calibri" pitchFamily="34" charset="0"/>
                <a:ea typeface="Calibri" pitchFamily="34" charset="-122"/>
                <a:cs typeface="Calibri" pitchFamily="34" charset="-120"/>
              </a:rPr>
              <a:t>• Financial Services Mgr III (Band 7)</a:t>
            </a:r>
            <a:endParaRPr lang="en-US" sz="1100" dirty="0"/>
          </a:p>
        </p:txBody>
      </p:sp>
      <p:sp>
        <p:nvSpPr>
          <p:cNvPr id="13" name="Text 11"/>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15 / 20</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Tips for Best Results</a:t>
            </a:r>
            <a:endParaRPr lang="en-US" sz="2800" dirty="0"/>
          </a:p>
        </p:txBody>
      </p:sp>
      <p:sp>
        <p:nvSpPr>
          <p:cNvPr id="5" name="Shape 3"/>
          <p:cNvSpPr/>
          <p:nvPr/>
        </p:nvSpPr>
        <p:spPr>
          <a:xfrm>
            <a:off x="731520" y="1417320"/>
            <a:ext cx="457200" cy="457200"/>
          </a:xfrm>
          <a:prstGeom prst="ellipse">
            <a:avLst/>
          </a:prstGeom>
          <a:solidFill>
            <a:srgbClr val="115740"/>
          </a:solidFill>
          <a:ln/>
        </p:spPr>
        <p:txBody>
          <a:bodyPr/>
          <a:lstStyle/>
          <a:p>
            <a:endParaRPr lang="en-US"/>
          </a:p>
        </p:txBody>
      </p:sp>
      <p:sp>
        <p:nvSpPr>
          <p:cNvPr id="6" name="Text 4"/>
          <p:cNvSpPr/>
          <p:nvPr/>
        </p:nvSpPr>
        <p:spPr>
          <a:xfrm>
            <a:off x="731520" y="1435608"/>
            <a:ext cx="457200"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371600" y="1417320"/>
            <a:ext cx="9601200" cy="274320"/>
          </a:xfrm>
          <a:prstGeom prst="rect">
            <a:avLst/>
          </a:prstGeom>
          <a:noFill/>
          <a:ln/>
        </p:spPr>
        <p:txBody>
          <a:bodyPr wrap="square" lIns="0" tIns="0" rIns="0" bIns="0" rtlCol="0" anchor="ctr"/>
          <a:lstStyle/>
          <a:p>
            <a:pPr marL="0" indent="0">
              <a:buNone/>
            </a:pPr>
            <a:r>
              <a:rPr lang="en-US" sz="1600" b="1" dirty="0">
                <a:solidFill>
                  <a:srgbClr val="115740"/>
                </a:solidFill>
                <a:latin typeface="Calibri" pitchFamily="34" charset="0"/>
                <a:ea typeface="Calibri" pitchFamily="34" charset="-122"/>
                <a:cs typeface="Calibri" pitchFamily="34" charset="-120"/>
              </a:rPr>
              <a:t>Include the full position description</a:t>
            </a:r>
            <a:endParaRPr lang="en-US" sz="1600" dirty="0"/>
          </a:p>
        </p:txBody>
      </p:sp>
      <p:sp>
        <p:nvSpPr>
          <p:cNvPr id="8" name="Text 6"/>
          <p:cNvSpPr/>
          <p:nvPr/>
        </p:nvSpPr>
        <p:spPr>
          <a:xfrm>
            <a:off x="1371600" y="1719072"/>
            <a:ext cx="9601200" cy="548640"/>
          </a:xfrm>
          <a:prstGeom prst="rect">
            <a:avLst/>
          </a:prstGeom>
          <a:noFill/>
          <a:ln/>
        </p:spPr>
        <p:txBody>
          <a:bodyPr wrap="square" lIns="0" tIns="0" rIns="0" bIns="0" rtlCol="0" anchor="ctr"/>
          <a:lstStyle/>
          <a:p>
            <a:pPr marL="0" indent="0">
              <a:buNone/>
            </a:pPr>
            <a:r>
              <a:rPr lang="en-US" sz="1300" dirty="0">
                <a:solidFill>
                  <a:srgbClr val="666666"/>
                </a:solidFill>
                <a:latin typeface="Calibri" pitchFamily="34" charset="0"/>
                <a:ea typeface="Calibri" pitchFamily="34" charset="-122"/>
                <a:cs typeface="Calibri" pitchFamily="34" charset="-120"/>
              </a:rPr>
              <a:t>Do not just paste the job title. GRIFFIN needs the detailed duties, qualifications, and responsibilities to make an accurate classification.</a:t>
            </a:r>
            <a:endParaRPr lang="en-US" sz="1300" dirty="0"/>
          </a:p>
        </p:txBody>
      </p:sp>
      <p:sp>
        <p:nvSpPr>
          <p:cNvPr id="9" name="Shape 7"/>
          <p:cNvSpPr/>
          <p:nvPr/>
        </p:nvSpPr>
        <p:spPr>
          <a:xfrm>
            <a:off x="731520" y="2404872"/>
            <a:ext cx="457200" cy="457200"/>
          </a:xfrm>
          <a:prstGeom prst="ellipse">
            <a:avLst/>
          </a:prstGeom>
          <a:solidFill>
            <a:srgbClr val="C99700"/>
          </a:solidFill>
          <a:ln/>
        </p:spPr>
        <p:txBody>
          <a:bodyPr/>
          <a:lstStyle/>
          <a:p>
            <a:endParaRPr lang="en-US"/>
          </a:p>
        </p:txBody>
      </p:sp>
      <p:sp>
        <p:nvSpPr>
          <p:cNvPr id="10" name="Text 8"/>
          <p:cNvSpPr/>
          <p:nvPr/>
        </p:nvSpPr>
        <p:spPr>
          <a:xfrm>
            <a:off x="731520" y="2423160"/>
            <a:ext cx="457200"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371600" y="2404872"/>
            <a:ext cx="9601200" cy="274320"/>
          </a:xfrm>
          <a:prstGeom prst="rect">
            <a:avLst/>
          </a:prstGeom>
          <a:noFill/>
          <a:ln/>
        </p:spPr>
        <p:txBody>
          <a:bodyPr wrap="square" lIns="0" tIns="0" rIns="0" bIns="0" rtlCol="0" anchor="ctr"/>
          <a:lstStyle/>
          <a:p>
            <a:pPr marL="0" indent="0">
              <a:buNone/>
            </a:pPr>
            <a:r>
              <a:rPr lang="en-US" sz="1600" b="1" dirty="0">
                <a:solidFill>
                  <a:srgbClr val="115740"/>
                </a:solidFill>
                <a:latin typeface="Calibri" pitchFamily="34" charset="0"/>
                <a:ea typeface="Calibri" pitchFamily="34" charset="-122"/>
                <a:cs typeface="Calibri" pitchFamily="34" charset="-120"/>
              </a:rPr>
              <a:t>Include duty percentages if available</a:t>
            </a:r>
            <a:endParaRPr lang="en-US" sz="1600" dirty="0"/>
          </a:p>
        </p:txBody>
      </p:sp>
      <p:sp>
        <p:nvSpPr>
          <p:cNvPr id="12" name="Text 10"/>
          <p:cNvSpPr/>
          <p:nvPr/>
        </p:nvSpPr>
        <p:spPr>
          <a:xfrm>
            <a:off x="1371600" y="2706624"/>
            <a:ext cx="9601200" cy="548640"/>
          </a:xfrm>
          <a:prstGeom prst="rect">
            <a:avLst/>
          </a:prstGeom>
          <a:noFill/>
          <a:ln/>
        </p:spPr>
        <p:txBody>
          <a:bodyPr wrap="square" lIns="0" tIns="0" rIns="0" bIns="0" rtlCol="0" anchor="ctr"/>
          <a:lstStyle/>
          <a:p>
            <a:pPr marL="0" indent="0">
              <a:buNone/>
            </a:pPr>
            <a:r>
              <a:rPr lang="en-US" sz="1300" dirty="0">
                <a:solidFill>
                  <a:srgbClr val="666666"/>
                </a:solidFill>
                <a:latin typeface="Calibri" pitchFamily="34" charset="0"/>
                <a:ea typeface="Calibri" pitchFamily="34" charset="-122"/>
                <a:cs typeface="Calibri" pitchFamily="34" charset="-120"/>
              </a:rPr>
              <a:t>If the PD lists duty percentages (e.g., "40% budget management, 30% supervision"), include them. This helps GRIFFIN weigh the duties properly.</a:t>
            </a:r>
            <a:endParaRPr lang="en-US" sz="1300" dirty="0"/>
          </a:p>
        </p:txBody>
      </p:sp>
      <p:sp>
        <p:nvSpPr>
          <p:cNvPr id="13" name="Shape 11"/>
          <p:cNvSpPr/>
          <p:nvPr/>
        </p:nvSpPr>
        <p:spPr>
          <a:xfrm>
            <a:off x="731520" y="3392424"/>
            <a:ext cx="457200" cy="457200"/>
          </a:xfrm>
          <a:prstGeom prst="ellipse">
            <a:avLst/>
          </a:prstGeom>
          <a:solidFill>
            <a:srgbClr val="115740"/>
          </a:solidFill>
          <a:ln/>
        </p:spPr>
        <p:txBody>
          <a:bodyPr/>
          <a:lstStyle/>
          <a:p>
            <a:endParaRPr lang="en-US"/>
          </a:p>
        </p:txBody>
      </p:sp>
      <p:sp>
        <p:nvSpPr>
          <p:cNvPr id="14" name="Text 12"/>
          <p:cNvSpPr/>
          <p:nvPr/>
        </p:nvSpPr>
        <p:spPr>
          <a:xfrm>
            <a:off x="731520" y="3410712"/>
            <a:ext cx="457200"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1371600" y="3392424"/>
            <a:ext cx="9601200" cy="274320"/>
          </a:xfrm>
          <a:prstGeom prst="rect">
            <a:avLst/>
          </a:prstGeom>
          <a:noFill/>
          <a:ln/>
        </p:spPr>
        <p:txBody>
          <a:bodyPr wrap="square" lIns="0" tIns="0" rIns="0" bIns="0" rtlCol="0" anchor="ctr"/>
          <a:lstStyle/>
          <a:p>
            <a:pPr marL="0" indent="0">
              <a:buNone/>
            </a:pPr>
            <a:r>
              <a:rPr lang="en-US" sz="1600" b="1" dirty="0">
                <a:solidFill>
                  <a:srgbClr val="115740"/>
                </a:solidFill>
                <a:latin typeface="Calibri" pitchFamily="34" charset="0"/>
                <a:ea typeface="Calibri" pitchFamily="34" charset="-122"/>
                <a:cs typeface="Calibri" pitchFamily="34" charset="-120"/>
              </a:rPr>
              <a:t>Include qualifications and reporting relationships</a:t>
            </a:r>
            <a:endParaRPr lang="en-US" sz="1600" dirty="0"/>
          </a:p>
        </p:txBody>
      </p:sp>
      <p:sp>
        <p:nvSpPr>
          <p:cNvPr id="16" name="Text 14"/>
          <p:cNvSpPr/>
          <p:nvPr/>
        </p:nvSpPr>
        <p:spPr>
          <a:xfrm>
            <a:off x="1371600" y="3694176"/>
            <a:ext cx="9601200" cy="548640"/>
          </a:xfrm>
          <a:prstGeom prst="rect">
            <a:avLst/>
          </a:prstGeom>
          <a:noFill/>
          <a:ln/>
        </p:spPr>
        <p:txBody>
          <a:bodyPr wrap="square" lIns="0" tIns="0" rIns="0" bIns="0" rtlCol="0" anchor="ctr"/>
          <a:lstStyle/>
          <a:p>
            <a:pPr marL="0" indent="0">
              <a:buNone/>
            </a:pPr>
            <a:r>
              <a:rPr lang="en-US" sz="1300" dirty="0">
                <a:solidFill>
                  <a:srgbClr val="666666"/>
                </a:solidFill>
                <a:latin typeface="Calibri" pitchFamily="34" charset="0"/>
                <a:ea typeface="Calibri" pitchFamily="34" charset="-122"/>
                <a:cs typeface="Calibri" pitchFamily="34" charset="-120"/>
              </a:rPr>
              <a:t>Supervisory scope and required qualifications help distinguish between different levels within the same career group.</a:t>
            </a:r>
            <a:endParaRPr lang="en-US" sz="1300" dirty="0"/>
          </a:p>
        </p:txBody>
      </p:sp>
      <p:sp>
        <p:nvSpPr>
          <p:cNvPr id="17" name="Shape 15"/>
          <p:cNvSpPr/>
          <p:nvPr/>
        </p:nvSpPr>
        <p:spPr>
          <a:xfrm>
            <a:off x="731520" y="4379976"/>
            <a:ext cx="457200" cy="457200"/>
          </a:xfrm>
          <a:prstGeom prst="ellipse">
            <a:avLst/>
          </a:prstGeom>
          <a:solidFill>
            <a:srgbClr val="C99700"/>
          </a:solidFill>
          <a:ln/>
        </p:spPr>
        <p:txBody>
          <a:bodyPr/>
          <a:lstStyle/>
          <a:p>
            <a:endParaRPr lang="en-US"/>
          </a:p>
        </p:txBody>
      </p:sp>
      <p:sp>
        <p:nvSpPr>
          <p:cNvPr id="18" name="Text 16"/>
          <p:cNvSpPr/>
          <p:nvPr/>
        </p:nvSpPr>
        <p:spPr>
          <a:xfrm>
            <a:off x="731520" y="4398264"/>
            <a:ext cx="457200"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1371600" y="4379976"/>
            <a:ext cx="9601200" cy="274320"/>
          </a:xfrm>
          <a:prstGeom prst="rect">
            <a:avLst/>
          </a:prstGeom>
          <a:noFill/>
          <a:ln/>
        </p:spPr>
        <p:txBody>
          <a:bodyPr wrap="square" lIns="0" tIns="0" rIns="0" bIns="0" rtlCol="0" anchor="ctr"/>
          <a:lstStyle/>
          <a:p>
            <a:pPr marL="0" indent="0">
              <a:buNone/>
            </a:pPr>
            <a:r>
              <a:rPr lang="en-US" sz="1600" b="1" dirty="0">
                <a:solidFill>
                  <a:srgbClr val="115740"/>
                </a:solidFill>
                <a:latin typeface="Calibri" pitchFamily="34" charset="0"/>
                <a:ea typeface="Calibri" pitchFamily="34" charset="-122"/>
                <a:cs typeface="Calibri" pitchFamily="34" charset="-120"/>
              </a:rPr>
              <a:t>Review all 3 match cards before deciding</a:t>
            </a:r>
            <a:endParaRPr lang="en-US" sz="1600" dirty="0"/>
          </a:p>
        </p:txBody>
      </p:sp>
      <p:sp>
        <p:nvSpPr>
          <p:cNvPr id="20" name="Text 18"/>
          <p:cNvSpPr/>
          <p:nvPr/>
        </p:nvSpPr>
        <p:spPr>
          <a:xfrm>
            <a:off x="1371600" y="4681728"/>
            <a:ext cx="9601200" cy="548640"/>
          </a:xfrm>
          <a:prstGeom prst="rect">
            <a:avLst/>
          </a:prstGeom>
          <a:noFill/>
          <a:ln/>
        </p:spPr>
        <p:txBody>
          <a:bodyPr wrap="square" lIns="0" tIns="0" rIns="0" bIns="0" rtlCol="0" anchor="ctr"/>
          <a:lstStyle/>
          <a:p>
            <a:pPr marL="0" indent="0">
              <a:buNone/>
            </a:pPr>
            <a:r>
              <a:rPr lang="en-US" sz="1300" dirty="0">
                <a:solidFill>
                  <a:srgbClr val="666666"/>
                </a:solidFill>
                <a:latin typeface="Calibri" pitchFamily="34" charset="0"/>
                <a:ea typeface="Calibri" pitchFamily="34" charset="-122"/>
                <a:cs typeface="Calibri" pitchFamily="34" charset="-120"/>
              </a:rPr>
              <a:t>Do not just look at Card 1. The alternative matches can reveal important nuances about where the position truly belongs.</a:t>
            </a:r>
            <a:endParaRPr lang="en-US" sz="1300" dirty="0"/>
          </a:p>
        </p:txBody>
      </p:sp>
      <p:sp>
        <p:nvSpPr>
          <p:cNvPr id="21" name="Shape 19"/>
          <p:cNvSpPr/>
          <p:nvPr/>
        </p:nvSpPr>
        <p:spPr>
          <a:xfrm>
            <a:off x="731520" y="5367528"/>
            <a:ext cx="457200" cy="457200"/>
          </a:xfrm>
          <a:prstGeom prst="ellipse">
            <a:avLst/>
          </a:prstGeom>
          <a:solidFill>
            <a:srgbClr val="115740"/>
          </a:solidFill>
          <a:ln/>
        </p:spPr>
        <p:txBody>
          <a:bodyPr/>
          <a:lstStyle/>
          <a:p>
            <a:endParaRPr lang="en-US"/>
          </a:p>
        </p:txBody>
      </p:sp>
      <p:sp>
        <p:nvSpPr>
          <p:cNvPr id="22" name="Text 20"/>
          <p:cNvSpPr/>
          <p:nvPr/>
        </p:nvSpPr>
        <p:spPr>
          <a:xfrm>
            <a:off x="731520" y="5385816"/>
            <a:ext cx="457200"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3" name="Text 21"/>
          <p:cNvSpPr/>
          <p:nvPr/>
        </p:nvSpPr>
        <p:spPr>
          <a:xfrm>
            <a:off x="1371600" y="5367528"/>
            <a:ext cx="9601200" cy="274320"/>
          </a:xfrm>
          <a:prstGeom prst="rect">
            <a:avLst/>
          </a:prstGeom>
          <a:noFill/>
          <a:ln/>
        </p:spPr>
        <p:txBody>
          <a:bodyPr wrap="square" lIns="0" tIns="0" rIns="0" bIns="0" rtlCol="0" anchor="ctr"/>
          <a:lstStyle/>
          <a:p>
            <a:pPr marL="0" indent="0">
              <a:buNone/>
            </a:pPr>
            <a:r>
              <a:rPr lang="en-US" sz="1600" b="1" dirty="0">
                <a:solidFill>
                  <a:srgbClr val="115740"/>
                </a:solidFill>
                <a:latin typeface="Calibri" pitchFamily="34" charset="0"/>
                <a:ea typeface="Calibri" pitchFamily="34" charset="-122"/>
                <a:cs typeface="Calibri" pitchFamily="34" charset="-120"/>
              </a:rPr>
              <a:t>Use Full Analysis for important decisions</a:t>
            </a:r>
            <a:endParaRPr lang="en-US" sz="1600" dirty="0"/>
          </a:p>
        </p:txBody>
      </p:sp>
      <p:sp>
        <p:nvSpPr>
          <p:cNvPr id="24" name="Text 22"/>
          <p:cNvSpPr/>
          <p:nvPr/>
        </p:nvSpPr>
        <p:spPr>
          <a:xfrm>
            <a:off x="1371600" y="5669280"/>
            <a:ext cx="9601200" cy="548640"/>
          </a:xfrm>
          <a:prstGeom prst="rect">
            <a:avLst/>
          </a:prstGeom>
          <a:noFill/>
          <a:ln/>
        </p:spPr>
        <p:txBody>
          <a:bodyPr wrap="square" lIns="0" tIns="0" rIns="0" bIns="0" rtlCol="0" anchor="ctr"/>
          <a:lstStyle/>
          <a:p>
            <a:pPr marL="0" indent="0">
              <a:buNone/>
            </a:pPr>
            <a:r>
              <a:rPr lang="en-US" sz="1300" dirty="0">
                <a:solidFill>
                  <a:srgbClr val="666666"/>
                </a:solidFill>
                <a:latin typeface="Calibri" pitchFamily="34" charset="0"/>
                <a:ea typeface="Calibri" pitchFamily="34" charset="-122"/>
                <a:cs typeface="Calibri" pitchFamily="34" charset="-120"/>
              </a:rPr>
              <a:t>Fast Mode is great for quick checks, but always use Full Analysis when making a final classification recommendation.</a:t>
            </a:r>
            <a:endParaRPr lang="en-US" sz="1300" dirty="0"/>
          </a:p>
        </p:txBody>
      </p:sp>
      <p:sp>
        <p:nvSpPr>
          <p:cNvPr id="25" name="Text 23"/>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16 / 20</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When GRIFFIN Disagrees with Your Judgment</a:t>
            </a:r>
            <a:endParaRPr lang="en-US" sz="2800" dirty="0"/>
          </a:p>
        </p:txBody>
      </p:sp>
      <p:sp>
        <p:nvSpPr>
          <p:cNvPr id="5" name="Shape 3"/>
          <p:cNvSpPr/>
          <p:nvPr/>
        </p:nvSpPr>
        <p:spPr>
          <a:xfrm>
            <a:off x="731520" y="1371600"/>
            <a:ext cx="10515600" cy="685800"/>
          </a:xfrm>
          <a:prstGeom prst="rect">
            <a:avLst/>
          </a:prstGeom>
          <a:solidFill>
            <a:srgbClr val="E8F2EE"/>
          </a:solidFill>
          <a:ln w="12700">
            <a:solidFill>
              <a:srgbClr val="115740"/>
            </a:solidFill>
            <a:prstDash val="solid"/>
          </a:ln>
        </p:spPr>
        <p:txBody>
          <a:bodyPr/>
          <a:lstStyle/>
          <a:p>
            <a:endParaRPr lang="en-US"/>
          </a:p>
        </p:txBody>
      </p:sp>
      <p:sp>
        <p:nvSpPr>
          <p:cNvPr id="6" name="Text 4"/>
          <p:cNvSpPr/>
          <p:nvPr/>
        </p:nvSpPr>
        <p:spPr>
          <a:xfrm>
            <a:off x="1097280" y="1417320"/>
            <a:ext cx="9784080" cy="594360"/>
          </a:xfrm>
          <a:prstGeom prst="rect">
            <a:avLst/>
          </a:prstGeom>
          <a:noFill/>
          <a:ln/>
        </p:spPr>
        <p:txBody>
          <a:bodyPr wrap="square" lIns="0" tIns="0" rIns="0" bIns="0" rtlCol="0" anchor="ctr"/>
          <a:lstStyle/>
          <a:p>
            <a:pPr marL="0" indent="0">
              <a:buNone/>
            </a:pPr>
            <a:r>
              <a:rPr lang="en-US" sz="1800" b="1" dirty="0">
                <a:solidFill>
                  <a:srgbClr val="115740"/>
                </a:solidFill>
                <a:latin typeface="Calibri" pitchFamily="34" charset="0"/>
                <a:ea typeface="Calibri" pitchFamily="34" charset="-122"/>
                <a:cs typeface="Calibri" pitchFamily="34" charset="-120"/>
              </a:rPr>
              <a:t>Remember: GRIFFIN is advisory. You are the authority. Your professional judgment comes first.</a:t>
            </a:r>
            <a:endParaRPr lang="en-US" sz="1800" dirty="0"/>
          </a:p>
        </p:txBody>
      </p:sp>
      <p:sp>
        <p:nvSpPr>
          <p:cNvPr id="7" name="Text 5"/>
          <p:cNvSpPr/>
          <p:nvPr/>
        </p:nvSpPr>
        <p:spPr>
          <a:xfrm>
            <a:off x="731520" y="2331720"/>
            <a:ext cx="10515600" cy="4114800"/>
          </a:xfrm>
          <a:prstGeom prst="rect">
            <a:avLst/>
          </a:prstGeom>
          <a:noFill/>
          <a:ln/>
        </p:spPr>
        <p:txBody>
          <a:bodyPr wrap="square" lIns="0" tIns="0" rIns="0" bIns="0" rtlCol="0" anchor="t"/>
          <a:lstStyle/>
          <a:p>
            <a:pPr marL="0" indent="0">
              <a:spcAft>
                <a:spcPts val="1400"/>
              </a:spcAft>
              <a:buNone/>
            </a:pPr>
            <a:r>
              <a:rPr lang="en-US" sz="1700" dirty="0">
                <a:solidFill>
                  <a:srgbClr val="2D2D2D"/>
                </a:solidFill>
                <a:latin typeface="Calibri" pitchFamily="34" charset="0"/>
                <a:ea typeface="Calibri" pitchFamily="34" charset="-122"/>
                <a:cs typeface="Calibri" pitchFamily="34" charset="-120"/>
              </a:rPr>
              <a:t>If GRIFFIN's recommendation does not match your assessment:</a:t>
            </a:r>
            <a:endParaRPr lang="en-US" sz="1600" dirty="0"/>
          </a:p>
          <a:p>
            <a:pPr marL="0" indent="0">
              <a:spcAft>
                <a:spcPts val="400"/>
              </a:spcAft>
              <a:buNone/>
            </a:pPr>
            <a:r>
              <a:rPr lang="en-US" sz="1600" b="1" dirty="0">
                <a:solidFill>
                  <a:srgbClr val="115740"/>
                </a:solidFill>
                <a:latin typeface="Calibri" pitchFamily="34" charset="0"/>
                <a:ea typeface="Calibri" pitchFamily="34" charset="-122"/>
                <a:cs typeface="Calibri" pitchFamily="34" charset="-120"/>
              </a:rPr>
              <a:t>Use the 3 matches to triangulate</a:t>
            </a:r>
            <a:endParaRPr lang="en-US" sz="1600" dirty="0"/>
          </a:p>
          <a:p>
            <a:pPr marL="0" indent="0">
              <a:spcAft>
                <a:spcPts val="1200"/>
              </a:spcAft>
              <a:buNone/>
            </a:pPr>
            <a:r>
              <a:rPr lang="en-US" sz="1400" dirty="0">
                <a:solidFill>
                  <a:srgbClr val="2D2D2D"/>
                </a:solidFill>
                <a:latin typeface="Calibri" pitchFamily="34" charset="0"/>
                <a:ea typeface="Calibri" pitchFamily="34" charset="-122"/>
                <a:cs typeface="Calibri" pitchFamily="34" charset="-120"/>
              </a:rPr>
              <a:t>Look at all three cards. If Card 2 or Card 3 matches your judgment, the answer may be there.</a:t>
            </a:r>
            <a:endParaRPr lang="en-US" sz="1600" dirty="0"/>
          </a:p>
          <a:p>
            <a:pPr marL="0" indent="0">
              <a:spcAft>
                <a:spcPts val="400"/>
              </a:spcAft>
              <a:buNone/>
            </a:pPr>
            <a:r>
              <a:rPr lang="en-US" sz="1600" b="1" dirty="0">
                <a:solidFill>
                  <a:srgbClr val="115740"/>
                </a:solidFill>
                <a:latin typeface="Calibri" pitchFamily="34" charset="0"/>
                <a:ea typeface="Calibri" pitchFamily="34" charset="-122"/>
                <a:cs typeface="Calibri" pitchFamily="34" charset="-120"/>
              </a:rPr>
              <a:t>Read the AI rationale carefully</a:t>
            </a:r>
            <a:endParaRPr lang="en-US" sz="1600" dirty="0"/>
          </a:p>
          <a:p>
            <a:pPr marL="0" indent="0">
              <a:spcAft>
                <a:spcPts val="1200"/>
              </a:spcAft>
              <a:buNone/>
            </a:pPr>
            <a:r>
              <a:rPr lang="en-US" sz="1400" dirty="0">
                <a:solidFill>
                  <a:srgbClr val="2D2D2D"/>
                </a:solidFill>
                <a:latin typeface="Calibri" pitchFamily="34" charset="0"/>
                <a:ea typeface="Calibri" pitchFamily="34" charset="-122"/>
                <a:cs typeface="Calibri" pitchFamily="34" charset="-120"/>
              </a:rPr>
              <a:t>The explanation might highlight duties you interpreted differently. This can refine your own analysis.</a:t>
            </a:r>
            <a:endParaRPr lang="en-US" sz="1600" dirty="0"/>
          </a:p>
          <a:p>
            <a:pPr marL="0" indent="0">
              <a:spcAft>
                <a:spcPts val="400"/>
              </a:spcAft>
              <a:buNone/>
            </a:pPr>
            <a:r>
              <a:rPr lang="en-US" sz="1600" b="1" dirty="0">
                <a:solidFill>
                  <a:srgbClr val="115740"/>
                </a:solidFill>
                <a:latin typeface="Calibri" pitchFamily="34" charset="0"/>
                <a:ea typeface="Calibri" pitchFamily="34" charset="-122"/>
                <a:cs typeface="Calibri" pitchFamily="34" charset="-120"/>
              </a:rPr>
              <a:t>Check if duties span multiple career groups</a:t>
            </a:r>
            <a:endParaRPr lang="en-US" sz="1600" dirty="0"/>
          </a:p>
          <a:p>
            <a:pPr marL="0" indent="0">
              <a:spcAft>
                <a:spcPts val="1200"/>
              </a:spcAft>
              <a:buNone/>
            </a:pPr>
            <a:r>
              <a:rPr lang="en-US" sz="1400" dirty="0">
                <a:solidFill>
                  <a:srgbClr val="2D2D2D"/>
                </a:solidFill>
                <a:latin typeface="Calibri" pitchFamily="34" charset="0"/>
                <a:ea typeface="Calibri" pitchFamily="34" charset="-122"/>
                <a:cs typeface="Calibri" pitchFamily="34" charset="-120"/>
              </a:rPr>
              <a:t>Positions with mixed duties (e.g., IT + finance) can confuse any classification system, including human reviewers.</a:t>
            </a:r>
            <a:endParaRPr lang="en-US" sz="1600" dirty="0"/>
          </a:p>
          <a:p>
            <a:pPr marL="0" indent="0">
              <a:spcAft>
                <a:spcPts val="400"/>
              </a:spcAft>
              <a:buNone/>
            </a:pPr>
            <a:r>
              <a:rPr lang="en-US" sz="1600" b="1" dirty="0">
                <a:solidFill>
                  <a:srgbClr val="115740"/>
                </a:solidFill>
                <a:latin typeface="Calibri" pitchFamily="34" charset="0"/>
                <a:ea typeface="Calibri" pitchFamily="34" charset="-122"/>
                <a:cs typeface="Calibri" pitchFamily="34" charset="-120"/>
              </a:rPr>
              <a:t>When ML and AI disagree with each other</a:t>
            </a:r>
            <a:endParaRPr lang="en-US" sz="1600" dirty="0"/>
          </a:p>
          <a:p>
            <a:pPr marL="0" indent="0">
              <a:spcAft>
                <a:spcPts val="1200"/>
              </a:spcAft>
              <a:buNone/>
            </a:pPr>
            <a:r>
              <a:rPr lang="en-US" sz="1400" dirty="0">
                <a:solidFill>
                  <a:srgbClr val="2D2D2D"/>
                </a:solidFill>
                <a:latin typeface="Calibri" pitchFamily="34" charset="0"/>
                <a:ea typeface="Calibri" pitchFamily="34" charset="-122"/>
                <a:cs typeface="Calibri" pitchFamily="34" charset="-120"/>
              </a:rPr>
              <a:t>If the green bar and gold bar point in different directions, the classification is genuinely ambiguous. Give it extra review.</a:t>
            </a:r>
            <a:endParaRPr lang="en-US" sz="1600" dirty="0"/>
          </a:p>
          <a:p>
            <a:pPr marL="0" indent="0">
              <a:spcAft>
                <a:spcPts val="400"/>
              </a:spcAft>
              <a:buNone/>
            </a:pPr>
            <a:r>
              <a:rPr lang="en-US" sz="1600" b="1" dirty="0">
                <a:solidFill>
                  <a:srgbClr val="115740"/>
                </a:solidFill>
                <a:latin typeface="Calibri" pitchFamily="34" charset="0"/>
                <a:ea typeface="Calibri" pitchFamily="34" charset="-122"/>
                <a:cs typeface="Calibri" pitchFamily="34" charset="-120"/>
              </a:rPr>
              <a:t>Document your decision</a:t>
            </a:r>
            <a:endParaRPr lang="en-US" sz="1600" dirty="0"/>
          </a:p>
          <a:p>
            <a:pPr marL="0" indent="0">
              <a:buNone/>
            </a:pPr>
            <a:r>
              <a:rPr lang="en-US" sz="1400" dirty="0">
                <a:solidFill>
                  <a:srgbClr val="2D2D2D"/>
                </a:solidFill>
                <a:latin typeface="Calibri" pitchFamily="34" charset="0"/>
                <a:ea typeface="Calibri" pitchFamily="34" charset="-122"/>
                <a:cs typeface="Calibri" pitchFamily="34" charset="-120"/>
              </a:rPr>
              <a:t>Download the report and add your notes explaining why you chose a different classification. This creates an audit trail.</a:t>
            </a:r>
            <a:endParaRPr lang="en-US" sz="1600" dirty="0"/>
          </a:p>
        </p:txBody>
      </p:sp>
      <p:sp>
        <p:nvSpPr>
          <p:cNvPr id="8" name="Text 6"/>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17 / 20</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How GRIFFIN’s ML Model Makes Decisions</a:t>
            </a:r>
            <a:endParaRPr lang="en-US" sz="2800" dirty="0"/>
          </a:p>
        </p:txBody>
      </p:sp>
      <p:sp>
        <p:nvSpPr>
          <p:cNvPr id="5" name="Text 3"/>
          <p:cNvSpPr/>
          <p:nvPr/>
        </p:nvSpPr>
        <p:spPr>
          <a:xfrm>
            <a:off x="640080" y="621792"/>
            <a:ext cx="10515600" cy="320040"/>
          </a:xfrm>
          <a:prstGeom prst="rect">
            <a:avLst/>
          </a:prstGeom>
          <a:noFill/>
          <a:ln/>
        </p:spPr>
        <p:txBody>
          <a:bodyPr wrap="square" lIns="0" tIns="0" rIns="0" bIns="0" rtlCol="0" anchor="ctr"/>
          <a:lstStyle/>
          <a:p>
            <a:pPr marL="0" indent="0">
              <a:buNone/>
            </a:pPr>
            <a:r>
              <a:rPr lang="en-US" sz="1300" dirty="0">
                <a:solidFill>
                  <a:srgbClr val="C99700"/>
                </a:solidFill>
                <a:latin typeface="Calibri" pitchFamily="34" charset="0"/>
                <a:ea typeface="Calibri" pitchFamily="34" charset="-122"/>
                <a:cs typeface="Calibri" pitchFamily="34" charset="-120"/>
              </a:rPr>
              <a:t>Feature importance from model training</a:t>
            </a:r>
            <a:endParaRPr lang="en-US" sz="1300" dirty="0"/>
          </a:p>
        </p:txBody>
      </p:sp>
      <p:pic>
        <p:nvPicPr>
          <p:cNvPr id="6" name="SHAP Image"/>
          <p:cNvPicPr>
            <a:picLocks noChangeAspect="1"/>
          </p:cNvPicPr>
          <p:nvPr/>
        </p:nvPicPr>
        <p:blipFill>
          <a:blip r:embed="rId2"/>
          <a:stretch>
            <a:fillRect/>
          </a:stretch>
        </p:blipFill>
        <p:spPr>
          <a:xfrm>
            <a:off x="365760" y="1280160"/>
            <a:ext cx="6858000" cy="5303520"/>
          </a:xfrm>
          <a:prstGeom prst="rect">
            <a:avLst/>
          </a:prstGeom>
          <a:ln w="12700">
            <a:solidFill>
              <a:srgbClr val="115740"/>
            </a:solidFill>
            <a:prstDash val="solid"/>
          </a:ln>
          <a:effectLst>
            <a:outerShdw blurRad="76200" dist="25400" dir="8100000" algn="bl" rotWithShape="0">
              <a:srgbClr val="000000">
                <a:alpha val="10000"/>
              </a:srgbClr>
            </a:outerShdw>
          </a:effectLst>
        </p:spPr>
      </p:pic>
      <p:sp>
        <p:nvSpPr>
          <p:cNvPr id="7" name="Shape 6"/>
          <p:cNvSpPr/>
          <p:nvPr/>
        </p:nvSpPr>
        <p:spPr>
          <a:xfrm>
            <a:off x="7498080" y="1280160"/>
            <a:ext cx="4389120" cy="5303520"/>
          </a:xfrm>
          <a:prstGeom prst="rect">
            <a:avLst/>
          </a:prstGeom>
          <a:solidFill>
            <a:srgbClr val="FFFFFF"/>
          </a:solidFill>
          <a:ln w="12700">
            <a:solidFill>
              <a:srgbClr val="115740"/>
            </a:solidFill>
            <a:prstDash val="solid"/>
          </a:ln>
          <a:effectLst>
            <a:outerShdw blurRad="76200" dist="25400" dir="8100000" algn="bl" rotWithShape="0">
              <a:srgbClr val="000000">
                <a:alpha val="10000"/>
              </a:srgbClr>
            </a:outerShdw>
          </a:effectLst>
        </p:spPr>
        <p:txBody>
          <a:bodyPr/>
          <a:lstStyle/>
          <a:p>
            <a:endParaRPr lang="en-US"/>
          </a:p>
        </p:txBody>
      </p:sp>
      <p:sp>
        <p:nvSpPr>
          <p:cNvPr id="8" name="Shape 7"/>
          <p:cNvSpPr/>
          <p:nvPr/>
        </p:nvSpPr>
        <p:spPr>
          <a:xfrm>
            <a:off x="7498080" y="1280160"/>
            <a:ext cx="4389120" cy="54864"/>
          </a:xfrm>
          <a:prstGeom prst="rect">
            <a:avLst/>
          </a:prstGeom>
          <a:solidFill>
            <a:srgbClr val="115740"/>
          </a:solidFill>
          <a:ln/>
        </p:spPr>
        <p:txBody>
          <a:bodyPr/>
          <a:lstStyle/>
          <a:p>
            <a:endParaRPr lang="en-US"/>
          </a:p>
        </p:txBody>
      </p:sp>
      <p:sp>
        <p:nvSpPr>
          <p:cNvPr id="9" name="Text 8"/>
          <p:cNvSpPr/>
          <p:nvPr/>
        </p:nvSpPr>
        <p:spPr>
          <a:xfrm>
            <a:off x="7772400" y="1463040"/>
            <a:ext cx="3840480" cy="4937760"/>
          </a:xfrm>
          <a:prstGeom prst="rect">
            <a:avLst/>
          </a:prstGeom>
          <a:noFill/>
          <a:ln/>
        </p:spPr>
        <p:txBody>
          <a:bodyPr wrap="square" lIns="0" tIns="0" rIns="0" bIns="0" rtlCol="0" anchor="t"/>
          <a:lstStyle/>
          <a:p>
            <a:pPr marL="0" indent="0">
              <a:spcAft>
                <a:spcPts val="800"/>
              </a:spcAft>
              <a:buNone/>
            </a:pPr>
            <a:r>
              <a:rPr lang="en-US" sz="1600" b="1" dirty="0">
                <a:solidFill>
                  <a:srgbClr val="115740"/>
                </a:solidFill>
                <a:latin typeface="Calibri" pitchFamily="34" charset="0"/>
                <a:ea typeface="Calibri" pitchFamily="34" charset="-122"/>
                <a:cs typeface="Calibri" pitchFamily="34" charset="-120"/>
              </a:rPr>
              <a:t>What This Chart Shows</a:t>
            </a:r>
            <a:endParaRPr lang="en-US" sz="1600" dirty="0"/>
          </a:p>
          <a:p>
            <a:pPr marL="0" indent="0">
              <a:spcAft>
                <a:spcPts val="1000"/>
              </a:spcAft>
              <a:buNone/>
            </a:pPr>
            <a:r>
              <a:rPr lang="en-US" sz="1300" dirty="0">
                <a:solidFill>
                  <a:srgbClr val="2D2D2D"/>
                </a:solidFill>
                <a:latin typeface="Calibri" pitchFamily="34" charset="0"/>
                <a:ea typeface="Calibri" pitchFamily="34" charset="-122"/>
                <a:cs typeface="Calibri" pitchFamily="34" charset="-120"/>
              </a:rPr>
              <a:t>This chart shows what factors GRIFFIN weighs most heavily when analyzing a position description.</a:t>
            </a:r>
            <a:endParaRPr lang="en-US" sz="1300" dirty="0"/>
          </a:p>
          <a:p>
            <a:pPr marL="0" indent="0">
              <a:spcAft>
                <a:spcPts val="800"/>
              </a:spcAft>
              <a:buNone/>
            </a:pPr>
            <a:r>
              <a:rPr lang="en-US" sz="1400" b="1" dirty="0">
                <a:solidFill>
                  <a:srgbClr val="115740"/>
                </a:solidFill>
                <a:latin typeface="Calibri" pitchFamily="34" charset="0"/>
                <a:ea typeface="Calibri" pitchFamily="34" charset="-122"/>
                <a:cs typeface="Calibri" pitchFamily="34" charset="-120"/>
              </a:rPr>
              <a:t>How to Read It</a:t>
            </a:r>
            <a:endParaRPr lang="en-US" sz="1400" dirty="0"/>
          </a:p>
          <a:p>
            <a:pPr marL="0" indent="0">
              <a:spcAft>
                <a:spcPts val="1000"/>
              </a:spcAft>
              <a:buNone/>
            </a:pPr>
            <a:r>
              <a:rPr lang="en-US" sz="1300" dirty="0">
                <a:solidFill>
                  <a:srgbClr val="2D2D2D"/>
                </a:solidFill>
                <a:latin typeface="Calibri" pitchFamily="34" charset="0"/>
                <a:ea typeface="Calibri" pitchFamily="34" charset="-122"/>
                <a:cs typeface="Calibri" pitchFamily="34" charset="-120"/>
              </a:rPr>
              <a:t>Taller bars = more important factors in the classification decision.</a:t>
            </a:r>
            <a:endParaRPr lang="en-US" sz="1300" dirty="0"/>
          </a:p>
          <a:p>
            <a:pPr marL="0" indent="0">
              <a:spcAft>
                <a:spcPts val="800"/>
              </a:spcAft>
              <a:buNone/>
            </a:pPr>
            <a:r>
              <a:rPr lang="en-US" sz="1400" b="1" dirty="0">
                <a:solidFill>
                  <a:srgbClr val="115740"/>
                </a:solidFill>
                <a:latin typeface="Calibri" pitchFamily="34" charset="0"/>
                <a:ea typeface="Calibri" pitchFamily="34" charset="-122"/>
                <a:cs typeface="Calibri" pitchFamily="34" charset="-120"/>
              </a:rPr>
              <a:t>Your Audit Trail</a:t>
            </a:r>
            <a:endParaRPr lang="en-US" sz="1400" dirty="0"/>
          </a:p>
          <a:p>
            <a:pPr marL="0" indent="0">
              <a:spcAft>
                <a:spcPts val="1000"/>
              </a:spcAft>
              <a:buNone/>
            </a:pPr>
            <a:r>
              <a:rPr lang="en-US" sz="1300" dirty="0">
                <a:solidFill>
                  <a:srgbClr val="2D2D2D"/>
                </a:solidFill>
                <a:latin typeface="Calibri" pitchFamily="34" charset="0"/>
                <a:ea typeface="Calibri" pitchFamily="34" charset="-122"/>
                <a:cs typeface="Calibri" pitchFamily="34" charset="-120"/>
              </a:rPr>
              <a:t>This is your audit trail — it shows HOW the ML model reached its conclusion, not just WHAT it concluded.</a:t>
            </a:r>
            <a:endParaRPr lang="en-US" sz="1300" dirty="0"/>
          </a:p>
          <a:p>
            <a:pPr marL="0" indent="0">
              <a:spcBef>
                <a:spcPts val="600"/>
              </a:spcBef>
              <a:buNone/>
            </a:pPr>
            <a:r>
              <a:rPr lang="en-US" sz="1100" i="1" dirty="0">
                <a:solidFill>
                  <a:srgbClr val="666666"/>
                </a:solidFill>
                <a:latin typeface="Calibri" pitchFamily="34" charset="0"/>
                <a:ea typeface="Calibri" pitchFamily="34" charset="-122"/>
                <a:cs typeface="Calibri" pitchFamily="34" charset="-120"/>
              </a:rPr>
              <a:t>Note: This analysis is from the model training phase. A future version may show this per-classification.</a:t>
            </a:r>
            <a:endParaRPr lang="en-US" sz="1100" dirty="0"/>
          </a:p>
        </p:txBody>
      </p:sp>
      <p:sp>
        <p:nvSpPr>
          <p:cNvPr id="10" name="Text 9"/>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18 / 21</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Frequently Asked Questions</a:t>
            </a:r>
            <a:endParaRPr lang="en-US" sz="2800" dirty="0"/>
          </a:p>
        </p:txBody>
      </p:sp>
      <p:sp>
        <p:nvSpPr>
          <p:cNvPr id="5" name="Text 3"/>
          <p:cNvSpPr/>
          <p:nvPr/>
        </p:nvSpPr>
        <p:spPr>
          <a:xfrm>
            <a:off x="731520" y="1371600"/>
            <a:ext cx="10515600" cy="274320"/>
          </a:xfrm>
          <a:prstGeom prst="rect">
            <a:avLst/>
          </a:prstGeom>
          <a:noFill/>
          <a:ln/>
        </p:spPr>
        <p:txBody>
          <a:bodyPr wrap="square" lIns="0" tIns="0" rIns="0" bIns="0" rtlCol="0" anchor="ctr"/>
          <a:lstStyle/>
          <a:p>
            <a:pPr marL="0" indent="0">
              <a:buNone/>
            </a:pPr>
            <a:r>
              <a:rPr lang="en-US" sz="1500" b="1" dirty="0">
                <a:solidFill>
                  <a:srgbClr val="115740"/>
                </a:solidFill>
                <a:latin typeface="Calibri" pitchFamily="34" charset="0"/>
                <a:ea typeface="Calibri" pitchFamily="34" charset="-122"/>
                <a:cs typeface="Calibri" pitchFamily="34" charset="-120"/>
              </a:rPr>
              <a:t>Is GRIFFIN's classification official?</a:t>
            </a:r>
            <a:endParaRPr lang="en-US" sz="1500" dirty="0"/>
          </a:p>
        </p:txBody>
      </p:sp>
      <p:sp>
        <p:nvSpPr>
          <p:cNvPr id="6" name="Text 4"/>
          <p:cNvSpPr/>
          <p:nvPr/>
        </p:nvSpPr>
        <p:spPr>
          <a:xfrm>
            <a:off x="731520" y="1673352"/>
            <a:ext cx="10515600" cy="457200"/>
          </a:xfrm>
          <a:prstGeom prst="rect">
            <a:avLst/>
          </a:prstGeom>
          <a:noFill/>
          <a:ln/>
        </p:spPr>
        <p:txBody>
          <a:bodyPr wrap="square" lIns="0" tIns="0" rIns="0" bIns="0" rtlCol="0" anchor="ctr"/>
          <a:lstStyle/>
          <a:p>
            <a:pPr marL="0" indent="0">
              <a:buNone/>
            </a:pPr>
            <a:r>
              <a:rPr lang="en-US" sz="1300" dirty="0">
                <a:solidFill>
                  <a:srgbClr val="666666"/>
                </a:solidFill>
                <a:latin typeface="Calibri" pitchFamily="34" charset="0"/>
                <a:ea typeface="Calibri" pitchFamily="34" charset="-122"/>
                <a:cs typeface="Calibri" pitchFamily="34" charset="-120"/>
              </a:rPr>
              <a:t>No. GRIFFIN is an advisory tool only. All classification decisions must be reviewed and approved by qualified HR professionals following your organization's policies.</a:t>
            </a:r>
            <a:endParaRPr lang="en-US" sz="1300" dirty="0"/>
          </a:p>
        </p:txBody>
      </p:sp>
      <p:sp>
        <p:nvSpPr>
          <p:cNvPr id="7" name="Text 5"/>
          <p:cNvSpPr/>
          <p:nvPr/>
        </p:nvSpPr>
        <p:spPr>
          <a:xfrm>
            <a:off x="731520" y="2194560"/>
            <a:ext cx="10515600" cy="274320"/>
          </a:xfrm>
          <a:prstGeom prst="rect">
            <a:avLst/>
          </a:prstGeom>
          <a:noFill/>
          <a:ln/>
        </p:spPr>
        <p:txBody>
          <a:bodyPr wrap="square" lIns="0" tIns="0" rIns="0" bIns="0" rtlCol="0" anchor="ctr"/>
          <a:lstStyle/>
          <a:p>
            <a:pPr marL="0" indent="0">
              <a:buNone/>
            </a:pPr>
            <a:r>
              <a:rPr lang="en-US" sz="1500" b="1" dirty="0">
                <a:solidFill>
                  <a:srgbClr val="115740"/>
                </a:solidFill>
                <a:latin typeface="Calibri" pitchFamily="34" charset="0"/>
                <a:ea typeface="Calibri" pitchFamily="34" charset="-122"/>
                <a:cs typeface="Calibri" pitchFamily="34" charset="-120"/>
              </a:rPr>
              <a:t>What if GRIFFIN is wrong?</a:t>
            </a:r>
            <a:endParaRPr lang="en-US" sz="1500" dirty="0"/>
          </a:p>
        </p:txBody>
      </p:sp>
      <p:sp>
        <p:nvSpPr>
          <p:cNvPr id="8" name="Text 6"/>
          <p:cNvSpPr/>
          <p:nvPr/>
        </p:nvSpPr>
        <p:spPr>
          <a:xfrm>
            <a:off x="731520" y="2496312"/>
            <a:ext cx="10515600" cy="457200"/>
          </a:xfrm>
          <a:prstGeom prst="rect">
            <a:avLst/>
          </a:prstGeom>
          <a:noFill/>
          <a:ln/>
        </p:spPr>
        <p:txBody>
          <a:bodyPr wrap="square" lIns="0" tIns="0" rIns="0" bIns="0" rtlCol="0" anchor="ctr"/>
          <a:lstStyle/>
          <a:p>
            <a:pPr marL="0" indent="0">
              <a:buNone/>
            </a:pPr>
            <a:r>
              <a:rPr lang="en-US" sz="1300" dirty="0">
                <a:solidFill>
                  <a:srgbClr val="666666"/>
                </a:solidFill>
                <a:latin typeface="Calibri" pitchFamily="34" charset="0"/>
                <a:ea typeface="Calibri" pitchFamily="34" charset="-122"/>
                <a:cs typeface="Calibri" pitchFamily="34" charset="-120"/>
              </a:rPr>
              <a:t>You are the expert. GRIFFIN is a starting point. Use it to inform your analysis, but rely on your training and judgment for the final decision.</a:t>
            </a:r>
            <a:endParaRPr lang="en-US" sz="1300" dirty="0"/>
          </a:p>
        </p:txBody>
      </p:sp>
      <p:sp>
        <p:nvSpPr>
          <p:cNvPr id="9" name="Text 7"/>
          <p:cNvSpPr/>
          <p:nvPr/>
        </p:nvSpPr>
        <p:spPr>
          <a:xfrm>
            <a:off x="731520" y="3017520"/>
            <a:ext cx="10515600" cy="274320"/>
          </a:xfrm>
          <a:prstGeom prst="rect">
            <a:avLst/>
          </a:prstGeom>
          <a:noFill/>
          <a:ln/>
        </p:spPr>
        <p:txBody>
          <a:bodyPr wrap="square" lIns="0" tIns="0" rIns="0" bIns="0" rtlCol="0" anchor="ctr"/>
          <a:lstStyle/>
          <a:p>
            <a:pPr marL="0" indent="0">
              <a:buNone/>
            </a:pPr>
            <a:r>
              <a:rPr lang="en-US" sz="1500" b="1" dirty="0">
                <a:solidFill>
                  <a:srgbClr val="115740"/>
                </a:solidFill>
                <a:latin typeface="Calibri" pitchFamily="34" charset="0"/>
                <a:ea typeface="Calibri" pitchFamily="34" charset="-122"/>
                <a:cs typeface="Calibri" pitchFamily="34" charset="-120"/>
              </a:rPr>
              <a:t>Can I classify multiple positions at once?</a:t>
            </a:r>
            <a:endParaRPr lang="en-US" sz="1500" dirty="0"/>
          </a:p>
        </p:txBody>
      </p:sp>
      <p:sp>
        <p:nvSpPr>
          <p:cNvPr id="10" name="Text 8"/>
          <p:cNvSpPr/>
          <p:nvPr/>
        </p:nvSpPr>
        <p:spPr>
          <a:xfrm>
            <a:off x="731520" y="3319272"/>
            <a:ext cx="10515600" cy="457200"/>
          </a:xfrm>
          <a:prstGeom prst="rect">
            <a:avLst/>
          </a:prstGeom>
          <a:noFill/>
          <a:ln/>
        </p:spPr>
        <p:txBody>
          <a:bodyPr wrap="square" lIns="0" tIns="0" rIns="0" bIns="0" rtlCol="0" anchor="ctr"/>
          <a:lstStyle/>
          <a:p>
            <a:pPr marL="0" indent="0">
              <a:buNone/>
            </a:pPr>
            <a:r>
              <a:rPr lang="en-US" sz="1300" dirty="0">
                <a:solidFill>
                  <a:srgbClr val="666666"/>
                </a:solidFill>
                <a:latin typeface="Calibri" pitchFamily="34" charset="0"/>
                <a:ea typeface="Calibri" pitchFamily="34" charset="-122"/>
                <a:cs typeface="Calibri" pitchFamily="34" charset="-120"/>
              </a:rPr>
              <a:t>Yes. Separate each position description with --- (three dashes) on its own line. Each PD will receive its own set of results.</a:t>
            </a:r>
            <a:endParaRPr lang="en-US" sz="1300" dirty="0"/>
          </a:p>
        </p:txBody>
      </p:sp>
      <p:sp>
        <p:nvSpPr>
          <p:cNvPr id="11" name="Text 9"/>
          <p:cNvSpPr/>
          <p:nvPr/>
        </p:nvSpPr>
        <p:spPr>
          <a:xfrm>
            <a:off x="731520" y="3840480"/>
            <a:ext cx="10515600" cy="274320"/>
          </a:xfrm>
          <a:prstGeom prst="rect">
            <a:avLst/>
          </a:prstGeom>
          <a:noFill/>
          <a:ln/>
        </p:spPr>
        <p:txBody>
          <a:bodyPr wrap="square" lIns="0" tIns="0" rIns="0" bIns="0" rtlCol="0" anchor="ctr"/>
          <a:lstStyle/>
          <a:p>
            <a:pPr marL="0" indent="0">
              <a:buNone/>
            </a:pPr>
            <a:r>
              <a:rPr lang="en-US" sz="1500" b="1" dirty="0">
                <a:solidFill>
                  <a:srgbClr val="115740"/>
                </a:solidFill>
                <a:latin typeface="Calibri" pitchFamily="34" charset="0"/>
                <a:ea typeface="Calibri" pitchFamily="34" charset="-122"/>
                <a:cs typeface="Calibri" pitchFamily="34" charset="-120"/>
              </a:rPr>
              <a:t>How do I save my results?</a:t>
            </a:r>
            <a:endParaRPr lang="en-US" sz="1500" dirty="0"/>
          </a:p>
        </p:txBody>
      </p:sp>
      <p:sp>
        <p:nvSpPr>
          <p:cNvPr id="12" name="Text 10"/>
          <p:cNvSpPr/>
          <p:nvPr/>
        </p:nvSpPr>
        <p:spPr>
          <a:xfrm>
            <a:off x="731520" y="4142232"/>
            <a:ext cx="10515600" cy="457200"/>
          </a:xfrm>
          <a:prstGeom prst="rect">
            <a:avLst/>
          </a:prstGeom>
          <a:noFill/>
          <a:ln/>
        </p:spPr>
        <p:txBody>
          <a:bodyPr wrap="square" lIns="0" tIns="0" rIns="0" bIns="0" rtlCol="0" anchor="ctr"/>
          <a:lstStyle/>
          <a:p>
            <a:pPr marL="0" indent="0">
              <a:buNone/>
            </a:pPr>
            <a:r>
              <a:rPr lang="en-US" sz="1300" dirty="0">
                <a:solidFill>
                  <a:srgbClr val="666666"/>
                </a:solidFill>
                <a:latin typeface="Calibri" pitchFamily="34" charset="0"/>
                <a:ea typeface="Calibri" pitchFamily="34" charset="-122"/>
                <a:cs typeface="Calibri" pitchFamily="34" charset="-120"/>
              </a:rPr>
              <a:t>Click the "Download Classification Report" button below the results. This saves a Word document with all the classification details.</a:t>
            </a:r>
            <a:endParaRPr lang="en-US" sz="1300" dirty="0"/>
          </a:p>
        </p:txBody>
      </p:sp>
      <p:sp>
        <p:nvSpPr>
          <p:cNvPr id="13" name="Text 11"/>
          <p:cNvSpPr/>
          <p:nvPr/>
        </p:nvSpPr>
        <p:spPr>
          <a:xfrm>
            <a:off x="731520" y="4663440"/>
            <a:ext cx="10515600" cy="274320"/>
          </a:xfrm>
          <a:prstGeom prst="rect">
            <a:avLst/>
          </a:prstGeom>
          <a:noFill/>
          <a:ln/>
        </p:spPr>
        <p:txBody>
          <a:bodyPr wrap="square" lIns="0" tIns="0" rIns="0" bIns="0" rtlCol="0" anchor="ctr"/>
          <a:lstStyle/>
          <a:p>
            <a:pPr marL="0" indent="0">
              <a:buNone/>
            </a:pPr>
            <a:r>
              <a:rPr lang="en-US" sz="1500" b="1" dirty="0">
                <a:solidFill>
                  <a:srgbClr val="115740"/>
                </a:solidFill>
                <a:latin typeface="Calibri" pitchFamily="34" charset="0"/>
                <a:ea typeface="Calibri" pitchFamily="34" charset="-122"/>
                <a:cs typeface="Calibri" pitchFamily="34" charset="-120"/>
              </a:rPr>
              <a:t>Why does it take longer in Full Analysis mode?</a:t>
            </a:r>
            <a:endParaRPr lang="en-US" sz="1500" dirty="0"/>
          </a:p>
        </p:txBody>
      </p:sp>
      <p:sp>
        <p:nvSpPr>
          <p:cNvPr id="14" name="Text 12"/>
          <p:cNvSpPr/>
          <p:nvPr/>
        </p:nvSpPr>
        <p:spPr>
          <a:xfrm>
            <a:off x="731520" y="4965192"/>
            <a:ext cx="10515600" cy="457200"/>
          </a:xfrm>
          <a:prstGeom prst="rect">
            <a:avLst/>
          </a:prstGeom>
          <a:noFill/>
          <a:ln/>
        </p:spPr>
        <p:txBody>
          <a:bodyPr wrap="square" lIns="0" tIns="0" rIns="0" bIns="0" rtlCol="0" anchor="ctr"/>
          <a:lstStyle/>
          <a:p>
            <a:pPr marL="0" indent="0">
              <a:buNone/>
            </a:pPr>
            <a:r>
              <a:rPr lang="en-US" sz="1300" dirty="0">
                <a:solidFill>
                  <a:srgbClr val="666666"/>
                </a:solidFill>
                <a:latin typeface="Calibri" pitchFamily="34" charset="0"/>
                <a:ea typeface="Calibri" pitchFamily="34" charset="-122"/>
                <a:cs typeface="Calibri" pitchFamily="34" charset="-120"/>
              </a:rPr>
              <a:t>Full Analysis uses AI to read and reason about your PD in addition to statistical analysis. The extra 15–30 seconds gives you 3 ranked matches and a written explanation.</a:t>
            </a:r>
            <a:endParaRPr lang="en-US" sz="1300" dirty="0"/>
          </a:p>
        </p:txBody>
      </p:sp>
      <p:sp>
        <p:nvSpPr>
          <p:cNvPr id="15" name="Text 13"/>
          <p:cNvSpPr/>
          <p:nvPr/>
        </p:nvSpPr>
        <p:spPr>
          <a:xfrm>
            <a:off x="731520" y="5486400"/>
            <a:ext cx="10515600" cy="274320"/>
          </a:xfrm>
          <a:prstGeom prst="rect">
            <a:avLst/>
          </a:prstGeom>
          <a:noFill/>
          <a:ln/>
        </p:spPr>
        <p:txBody>
          <a:bodyPr wrap="square" lIns="0" tIns="0" rIns="0" bIns="0" rtlCol="0" anchor="ctr"/>
          <a:lstStyle/>
          <a:p>
            <a:pPr marL="0" indent="0">
              <a:buNone/>
            </a:pPr>
            <a:r>
              <a:rPr lang="en-US" sz="1500" b="1" dirty="0">
                <a:solidFill>
                  <a:srgbClr val="115740"/>
                </a:solidFill>
                <a:latin typeface="Calibri" pitchFamily="34" charset="0"/>
                <a:ea typeface="Calibri" pitchFamily="34" charset="-122"/>
                <a:cs typeface="Calibri" pitchFamily="34" charset="-120"/>
              </a:rPr>
              <a:t>Is my data stored anywhere?</a:t>
            </a:r>
            <a:endParaRPr lang="en-US" sz="1500" dirty="0"/>
          </a:p>
        </p:txBody>
      </p:sp>
      <p:sp>
        <p:nvSpPr>
          <p:cNvPr id="16" name="Text 14"/>
          <p:cNvSpPr/>
          <p:nvPr/>
        </p:nvSpPr>
        <p:spPr>
          <a:xfrm>
            <a:off x="731520" y="5788152"/>
            <a:ext cx="10515600" cy="457200"/>
          </a:xfrm>
          <a:prstGeom prst="rect">
            <a:avLst/>
          </a:prstGeom>
          <a:noFill/>
          <a:ln/>
        </p:spPr>
        <p:txBody>
          <a:bodyPr wrap="square" lIns="0" tIns="0" rIns="0" bIns="0" rtlCol="0" anchor="ctr"/>
          <a:lstStyle/>
          <a:p>
            <a:pPr marL="0" indent="0">
              <a:buNone/>
            </a:pPr>
            <a:r>
              <a:rPr lang="en-US" sz="1300" dirty="0">
                <a:solidFill>
                  <a:srgbClr val="666666"/>
                </a:solidFill>
                <a:latin typeface="Calibri" pitchFamily="34" charset="0"/>
                <a:ea typeface="Calibri" pitchFamily="34" charset="-122"/>
                <a:cs typeface="Calibri" pitchFamily="34" charset="-120"/>
              </a:rPr>
              <a:t>No. Your position descriptions are processed in real time and are not saved by the system.</a:t>
            </a:r>
            <a:endParaRPr lang="en-US" sz="1300" dirty="0"/>
          </a:p>
        </p:txBody>
      </p:sp>
      <p:sp>
        <p:nvSpPr>
          <p:cNvPr id="17" name="Text 15"/>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18 / 20</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15740"/>
          </a:solidFill>
          <a:ln/>
        </p:spPr>
        <p:txBody>
          <a:bodyPr/>
          <a:lstStyle/>
          <a:p>
            <a:endParaRPr lang="en-US"/>
          </a:p>
        </p:txBody>
      </p:sp>
      <p:sp>
        <p:nvSpPr>
          <p:cNvPr id="3" name="Shape 1"/>
          <p:cNvSpPr/>
          <p:nvPr/>
        </p:nvSpPr>
        <p:spPr>
          <a:xfrm>
            <a:off x="0" y="1051560"/>
            <a:ext cx="12188952" cy="54864"/>
          </a:xfrm>
          <a:prstGeom prst="rect">
            <a:avLst/>
          </a:prstGeom>
          <a:solidFill>
            <a:srgbClr val="C99700"/>
          </a:solidFill>
          <a:ln/>
        </p:spPr>
        <p:txBody>
          <a:bodyPr/>
          <a:lstStyle/>
          <a:p>
            <a:endParaRPr lang="en-US"/>
          </a:p>
        </p:txBody>
      </p:sp>
      <p:sp>
        <p:nvSpPr>
          <p:cNvPr id="4" name="Text 2"/>
          <p:cNvSpPr/>
          <p:nvPr/>
        </p:nvSpPr>
        <p:spPr>
          <a:xfrm>
            <a:off x="640080" y="164592"/>
            <a:ext cx="10515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Who to Contact</a:t>
            </a:r>
            <a:endParaRPr lang="en-US" sz="2800" dirty="0"/>
          </a:p>
        </p:txBody>
      </p:sp>
      <p:sp>
        <p:nvSpPr>
          <p:cNvPr id="5" name="Shape 3"/>
          <p:cNvSpPr/>
          <p:nvPr/>
        </p:nvSpPr>
        <p:spPr>
          <a:xfrm>
            <a:off x="731520" y="1645920"/>
            <a:ext cx="5029200" cy="2926080"/>
          </a:xfrm>
          <a:prstGeom prst="rect">
            <a:avLst/>
          </a:prstGeom>
          <a:solidFill>
            <a:srgbClr val="FFFFFF"/>
          </a:solidFill>
          <a:ln w="12700">
            <a:solidFill>
              <a:srgbClr val="DDD8C8"/>
            </a:solidFill>
            <a:prstDash val="solid"/>
          </a:ln>
          <a:effectLst>
            <a:outerShdw blurRad="76200" dist="25400" dir="8100000" algn="bl" rotWithShape="0">
              <a:srgbClr val="000000">
                <a:alpha val="10000"/>
              </a:srgbClr>
            </a:outerShdw>
          </a:effectLst>
        </p:spPr>
        <p:txBody>
          <a:bodyPr/>
          <a:lstStyle/>
          <a:p>
            <a:endParaRPr lang="en-US"/>
          </a:p>
        </p:txBody>
      </p:sp>
      <p:sp>
        <p:nvSpPr>
          <p:cNvPr id="6" name="Shape 4"/>
          <p:cNvSpPr/>
          <p:nvPr/>
        </p:nvSpPr>
        <p:spPr>
          <a:xfrm>
            <a:off x="731520" y="1691640"/>
            <a:ext cx="54864" cy="2834640"/>
          </a:xfrm>
          <a:prstGeom prst="rect">
            <a:avLst/>
          </a:prstGeom>
          <a:solidFill>
            <a:srgbClr val="115740"/>
          </a:solidFill>
          <a:ln/>
        </p:spPr>
        <p:txBody>
          <a:bodyPr/>
          <a:lstStyle/>
          <a:p>
            <a:endParaRPr lang="en-US"/>
          </a:p>
        </p:txBody>
      </p:sp>
      <p:sp>
        <p:nvSpPr>
          <p:cNvPr id="7" name="Text 5"/>
          <p:cNvSpPr/>
          <p:nvPr/>
        </p:nvSpPr>
        <p:spPr>
          <a:xfrm>
            <a:off x="1005840" y="1783080"/>
            <a:ext cx="4572000" cy="320040"/>
          </a:xfrm>
          <a:prstGeom prst="rect">
            <a:avLst/>
          </a:prstGeom>
          <a:noFill/>
          <a:ln/>
        </p:spPr>
        <p:txBody>
          <a:bodyPr wrap="square" lIns="0" tIns="0" rIns="0" bIns="0" rtlCol="0" anchor="ctr"/>
          <a:lstStyle/>
          <a:p>
            <a:pPr marL="0" indent="0">
              <a:buNone/>
            </a:pPr>
            <a:r>
              <a:rPr lang="en-US" sz="1600" b="1" dirty="0">
                <a:solidFill>
                  <a:srgbClr val="115740"/>
                </a:solidFill>
                <a:latin typeface="Calibri" pitchFamily="34" charset="0"/>
                <a:ea typeface="Calibri" pitchFamily="34" charset="-122"/>
                <a:cs typeface="Calibri" pitchFamily="34" charset="-120"/>
              </a:rPr>
              <a:t>For Classification Questions</a:t>
            </a:r>
            <a:endParaRPr lang="en-US" sz="1600" dirty="0"/>
          </a:p>
        </p:txBody>
      </p:sp>
      <p:sp>
        <p:nvSpPr>
          <p:cNvPr id="8" name="Text 6"/>
          <p:cNvSpPr/>
          <p:nvPr/>
        </p:nvSpPr>
        <p:spPr>
          <a:xfrm>
            <a:off x="1005840" y="2148840"/>
            <a:ext cx="4572000" cy="2286000"/>
          </a:xfrm>
          <a:prstGeom prst="rect">
            <a:avLst/>
          </a:prstGeom>
          <a:noFill/>
          <a:ln/>
        </p:spPr>
        <p:txBody>
          <a:bodyPr wrap="square" rtlCol="0" anchor="t"/>
          <a:lstStyle/>
          <a:p>
            <a:pPr marL="0" indent="0">
              <a:spcAft>
                <a:spcPts val="300"/>
              </a:spcAft>
              <a:buNone/>
            </a:pP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Questions about career group definitions, pay</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band assignments, or classification policy should</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be directed to your HR Classification team.</a:t>
            </a:r>
            <a:endParaRPr lang="en-US" sz="1300" dirty="0"/>
          </a:p>
          <a:p>
            <a:pPr marL="0" indent="0">
              <a:spcAft>
                <a:spcPts val="300"/>
              </a:spcAft>
              <a:buNone/>
            </a:pP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DHRM Classification &amp; Compensation Division</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provides the official career group taxonomy</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and pay band structure.</a:t>
            </a:r>
            <a:endParaRPr lang="en-US" sz="1300" dirty="0"/>
          </a:p>
        </p:txBody>
      </p:sp>
      <p:sp>
        <p:nvSpPr>
          <p:cNvPr id="9" name="Shape 7"/>
          <p:cNvSpPr/>
          <p:nvPr/>
        </p:nvSpPr>
        <p:spPr>
          <a:xfrm>
            <a:off x="6217920" y="1645920"/>
            <a:ext cx="5029200" cy="2926080"/>
          </a:xfrm>
          <a:prstGeom prst="rect">
            <a:avLst/>
          </a:prstGeom>
          <a:solidFill>
            <a:srgbClr val="FFFFFF"/>
          </a:solidFill>
          <a:ln w="12700">
            <a:solidFill>
              <a:srgbClr val="DDD8C8"/>
            </a:solidFill>
            <a:prstDash val="solid"/>
          </a:ln>
          <a:effectLst>
            <a:outerShdw blurRad="76200" dist="25400" dir="8100000" algn="bl" rotWithShape="0">
              <a:srgbClr val="000000">
                <a:alpha val="10000"/>
              </a:srgbClr>
            </a:outerShdw>
          </a:effectLst>
        </p:spPr>
        <p:txBody>
          <a:bodyPr/>
          <a:lstStyle/>
          <a:p>
            <a:endParaRPr lang="en-US"/>
          </a:p>
        </p:txBody>
      </p:sp>
      <p:sp>
        <p:nvSpPr>
          <p:cNvPr id="10" name="Shape 8"/>
          <p:cNvSpPr/>
          <p:nvPr/>
        </p:nvSpPr>
        <p:spPr>
          <a:xfrm>
            <a:off x="6217920" y="1691640"/>
            <a:ext cx="54864" cy="2834640"/>
          </a:xfrm>
          <a:prstGeom prst="rect">
            <a:avLst/>
          </a:prstGeom>
          <a:solidFill>
            <a:srgbClr val="C99700"/>
          </a:solidFill>
          <a:ln/>
        </p:spPr>
        <p:txBody>
          <a:bodyPr/>
          <a:lstStyle/>
          <a:p>
            <a:endParaRPr lang="en-US"/>
          </a:p>
        </p:txBody>
      </p:sp>
      <p:sp>
        <p:nvSpPr>
          <p:cNvPr id="11" name="Text 9"/>
          <p:cNvSpPr/>
          <p:nvPr/>
        </p:nvSpPr>
        <p:spPr>
          <a:xfrm>
            <a:off x="6492240" y="1783080"/>
            <a:ext cx="4572000" cy="320040"/>
          </a:xfrm>
          <a:prstGeom prst="rect">
            <a:avLst/>
          </a:prstGeom>
          <a:noFill/>
          <a:ln/>
        </p:spPr>
        <p:txBody>
          <a:bodyPr wrap="square" lIns="0" tIns="0" rIns="0" bIns="0" rtlCol="0" anchor="ctr"/>
          <a:lstStyle/>
          <a:p>
            <a:pPr marL="0" indent="0">
              <a:buNone/>
            </a:pPr>
            <a:r>
              <a:rPr lang="en-US" sz="1600" b="1" dirty="0">
                <a:solidFill>
                  <a:srgbClr val="C99700"/>
                </a:solidFill>
                <a:latin typeface="Calibri" pitchFamily="34" charset="0"/>
                <a:ea typeface="Calibri" pitchFamily="34" charset="-122"/>
                <a:cs typeface="Calibri" pitchFamily="34" charset="-120"/>
              </a:rPr>
              <a:t>For Technical Support</a:t>
            </a:r>
            <a:endParaRPr lang="en-US" sz="1600" dirty="0"/>
          </a:p>
        </p:txBody>
      </p:sp>
      <p:sp>
        <p:nvSpPr>
          <p:cNvPr id="12" name="Text 10"/>
          <p:cNvSpPr/>
          <p:nvPr/>
        </p:nvSpPr>
        <p:spPr>
          <a:xfrm>
            <a:off x="6492240" y="2148840"/>
            <a:ext cx="4572000" cy="2286000"/>
          </a:xfrm>
          <a:prstGeom prst="rect">
            <a:avLst/>
          </a:prstGeom>
          <a:noFill/>
          <a:ln/>
        </p:spPr>
        <p:txBody>
          <a:bodyPr wrap="square" rtlCol="0" anchor="t"/>
          <a:lstStyle/>
          <a:p>
            <a:pPr marL="0" indent="0">
              <a:spcAft>
                <a:spcPts val="300"/>
              </a:spcAft>
              <a:buNone/>
            </a:pP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If the tool is not loading, showing errors,</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or behaving unexpectedly:</a:t>
            </a:r>
            <a:endParaRPr lang="en-US" sz="1300" dirty="0"/>
          </a:p>
          <a:p>
            <a:pPr marL="0" indent="0">
              <a:spcAft>
                <a:spcPts val="300"/>
              </a:spcAft>
              <a:buNone/>
            </a:pP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Contact: Team 7 (GRIFFIN Development)</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William &amp; Mary Mason School of Business</a:t>
            </a:r>
            <a:endParaRPr lang="en-US" sz="1300" dirty="0"/>
          </a:p>
          <a:p>
            <a:pPr marL="0" indent="0">
              <a:spcAft>
                <a:spcPts val="300"/>
              </a:spcAft>
              <a:buNone/>
            </a:pP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Include: what you were doing, what happened,</a:t>
            </a:r>
            <a:endParaRPr lang="en-US" sz="1300" dirty="0"/>
          </a:p>
          <a:p>
            <a:pPr marL="0" indent="0">
              <a:spcAft>
                <a:spcPts val="300"/>
              </a:spcAft>
              <a:buNone/>
            </a:pPr>
            <a:r>
              <a:rPr lang="en-US" sz="1300" dirty="0">
                <a:solidFill>
                  <a:srgbClr val="2D2D2D"/>
                </a:solidFill>
                <a:latin typeface="Calibri" pitchFamily="34" charset="0"/>
                <a:ea typeface="Calibri" pitchFamily="34" charset="-122"/>
                <a:cs typeface="Calibri" pitchFamily="34" charset="-120"/>
              </a:rPr>
              <a:t>and the browser you used.</a:t>
            </a:r>
            <a:endParaRPr lang="en-US" sz="1300" dirty="0"/>
          </a:p>
        </p:txBody>
      </p:sp>
      <p:sp>
        <p:nvSpPr>
          <p:cNvPr id="13" name="Shape 11"/>
          <p:cNvSpPr/>
          <p:nvPr/>
        </p:nvSpPr>
        <p:spPr>
          <a:xfrm>
            <a:off x="731520" y="4937760"/>
            <a:ext cx="10515600" cy="1188720"/>
          </a:xfrm>
          <a:prstGeom prst="rect">
            <a:avLst/>
          </a:prstGeom>
          <a:solidFill>
            <a:srgbClr val="FDF6E3"/>
          </a:solidFill>
          <a:ln w="12700">
            <a:solidFill>
              <a:srgbClr val="C99700"/>
            </a:solidFill>
            <a:prstDash val="solid"/>
          </a:ln>
        </p:spPr>
        <p:txBody>
          <a:bodyPr/>
          <a:lstStyle/>
          <a:p>
            <a:endParaRPr lang="en-US"/>
          </a:p>
        </p:txBody>
      </p:sp>
      <p:sp>
        <p:nvSpPr>
          <p:cNvPr id="14" name="Text 12"/>
          <p:cNvSpPr/>
          <p:nvPr/>
        </p:nvSpPr>
        <p:spPr>
          <a:xfrm>
            <a:off x="1097280" y="5074920"/>
            <a:ext cx="9784080" cy="914400"/>
          </a:xfrm>
          <a:prstGeom prst="rect">
            <a:avLst/>
          </a:prstGeom>
          <a:noFill/>
          <a:ln/>
        </p:spPr>
        <p:txBody>
          <a:bodyPr wrap="square" lIns="0" tIns="0" rIns="0" bIns="0" rtlCol="0" anchor="t"/>
          <a:lstStyle/>
          <a:p>
            <a:pPr marL="0" indent="0">
              <a:spcAft>
                <a:spcPts val="600"/>
              </a:spcAft>
              <a:buNone/>
            </a:pPr>
            <a:r>
              <a:rPr lang="en-US" sz="1400" b="1" dirty="0">
                <a:solidFill>
                  <a:srgbClr val="C99700"/>
                </a:solidFill>
                <a:latin typeface="Calibri" pitchFamily="34" charset="0"/>
                <a:ea typeface="Calibri" pitchFamily="34" charset="-122"/>
                <a:cs typeface="Calibri" pitchFamily="34" charset="-120"/>
              </a:rPr>
              <a:t>Looking Ahead  |  v1.0</a:t>
            </a:r>
            <a:endParaRPr lang="en-US" sz="1400" dirty="0"/>
          </a:p>
          <a:p>
            <a:pPr marL="0" indent="0">
              <a:buNone/>
            </a:pPr>
            <a:r>
              <a:rPr lang="en-US" sz="1300" dirty="0">
                <a:solidFill>
                  <a:srgbClr val="2D2D2D"/>
                </a:solidFill>
                <a:latin typeface="Calibri" pitchFamily="34" charset="0"/>
                <a:ea typeface="Calibri" pitchFamily="34" charset="-122"/>
                <a:cs typeface="Calibri" pitchFamily="34" charset="-120"/>
              </a:rPr>
              <a:t>This is GRIFFIN v1.0. Future versions will include feature importance analysis (showing which specific words in the PD influenced the classification) and expanded reference data. Your feedback helps us improve!</a:t>
            </a:r>
            <a:endParaRPr lang="en-US" sz="1400" dirty="0"/>
          </a:p>
        </p:txBody>
      </p:sp>
      <p:sp>
        <p:nvSpPr>
          <p:cNvPr id="15" name="Text 13"/>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19 / 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0" y="0"/>
            <a:ext cx="12188952" cy="2926080"/>
          </a:xfrm>
          <a:prstGeom prst="rect">
            <a:avLst/>
          </a:prstGeom>
          <a:solidFill>
            <a:srgbClr val="115740"/>
          </a:solidFill>
          <a:ln/>
        </p:spPr>
        <p:txBody>
          <a:bodyPr/>
          <a:lstStyle/>
          <a:p>
            <a:endParaRPr lang="en-US"/>
          </a:p>
        </p:txBody>
      </p:sp>
      <p:sp>
        <p:nvSpPr>
          <p:cNvPr id="3" name="Shape 1"/>
          <p:cNvSpPr/>
          <p:nvPr/>
        </p:nvSpPr>
        <p:spPr>
          <a:xfrm>
            <a:off x="0" y="2926080"/>
            <a:ext cx="12188952" cy="64008"/>
          </a:xfrm>
          <a:prstGeom prst="rect">
            <a:avLst/>
          </a:prstGeom>
          <a:solidFill>
            <a:srgbClr val="C99700"/>
          </a:solidFill>
          <a:ln/>
        </p:spPr>
        <p:txBody>
          <a:bodyPr/>
          <a:lstStyle/>
          <a:p>
            <a:endParaRPr lang="en-US"/>
          </a:p>
        </p:txBody>
      </p:sp>
      <p:sp>
        <p:nvSpPr>
          <p:cNvPr id="4" name="Text 2"/>
          <p:cNvSpPr/>
          <p:nvPr/>
        </p:nvSpPr>
        <p:spPr>
          <a:xfrm>
            <a:off x="914400" y="640080"/>
            <a:ext cx="10058400" cy="64008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GRIFFIN</a:t>
            </a:r>
            <a:endParaRPr lang="en-US" sz="4400" dirty="0"/>
          </a:p>
        </p:txBody>
      </p:sp>
      <p:sp>
        <p:nvSpPr>
          <p:cNvPr id="5" name="Text 3"/>
          <p:cNvSpPr/>
          <p:nvPr/>
        </p:nvSpPr>
        <p:spPr>
          <a:xfrm>
            <a:off x="914400" y="1371600"/>
            <a:ext cx="10058400" cy="457200"/>
          </a:xfrm>
          <a:prstGeom prst="rect">
            <a:avLst/>
          </a:prstGeom>
          <a:noFill/>
          <a:ln/>
        </p:spPr>
        <p:txBody>
          <a:bodyPr wrap="square" lIns="0" tIns="0" rIns="0" bIns="0" rtlCol="0" anchor="ctr"/>
          <a:lstStyle/>
          <a:p>
            <a:pPr marL="0" indent="0">
              <a:buNone/>
            </a:pPr>
            <a:r>
              <a:rPr lang="en-US" sz="2200" dirty="0">
                <a:solidFill>
                  <a:srgbClr val="F5F0E8"/>
                </a:solidFill>
                <a:latin typeface="Calibri" pitchFamily="34" charset="0"/>
                <a:ea typeface="Calibri" pitchFamily="34" charset="-122"/>
                <a:cs typeface="Calibri" pitchFamily="34" charset="-120"/>
              </a:rPr>
              <a:t>Your Classification Assistant, Not Your Replacement</a:t>
            </a:r>
            <a:endParaRPr lang="en-US" sz="2200" dirty="0"/>
          </a:p>
        </p:txBody>
      </p:sp>
      <p:sp>
        <p:nvSpPr>
          <p:cNvPr id="6" name="Text 4"/>
          <p:cNvSpPr/>
          <p:nvPr/>
        </p:nvSpPr>
        <p:spPr>
          <a:xfrm>
            <a:off x="914400" y="2011680"/>
            <a:ext cx="10058400" cy="365760"/>
          </a:xfrm>
          <a:prstGeom prst="rect">
            <a:avLst/>
          </a:prstGeom>
          <a:noFill/>
          <a:ln/>
        </p:spPr>
        <p:txBody>
          <a:bodyPr wrap="square" lIns="0" tIns="0" rIns="0" bIns="0" rtlCol="0" anchor="ctr"/>
          <a:lstStyle/>
          <a:p>
            <a:pPr marL="0" indent="0">
              <a:buNone/>
            </a:pPr>
            <a:r>
              <a:rPr lang="en-US" sz="1800" dirty="0">
                <a:solidFill>
                  <a:srgbClr val="C99700"/>
                </a:solidFill>
                <a:latin typeface="Calibri" pitchFamily="34" charset="0"/>
                <a:ea typeface="Calibri" pitchFamily="34" charset="-122"/>
                <a:cs typeface="Calibri" pitchFamily="34" charset="-120"/>
              </a:rPr>
              <a:t>Paste.  Classify.  Review.  Decide.</a:t>
            </a:r>
            <a:endParaRPr lang="en-US" sz="1800" dirty="0"/>
          </a:p>
        </p:txBody>
      </p:sp>
      <p:sp>
        <p:nvSpPr>
          <p:cNvPr id="7" name="Shape 5"/>
          <p:cNvSpPr/>
          <p:nvPr/>
        </p:nvSpPr>
        <p:spPr>
          <a:xfrm>
            <a:off x="1005840" y="3447288"/>
            <a:ext cx="146304" cy="146304"/>
          </a:xfrm>
          <a:prstGeom prst="ellipse">
            <a:avLst/>
          </a:prstGeom>
          <a:solidFill>
            <a:srgbClr val="115740"/>
          </a:solidFill>
          <a:ln/>
        </p:spPr>
        <p:txBody>
          <a:bodyPr/>
          <a:lstStyle/>
          <a:p>
            <a:endParaRPr lang="en-US"/>
          </a:p>
        </p:txBody>
      </p:sp>
      <p:sp>
        <p:nvSpPr>
          <p:cNvPr id="8" name="Text 6"/>
          <p:cNvSpPr/>
          <p:nvPr/>
        </p:nvSpPr>
        <p:spPr>
          <a:xfrm>
            <a:off x="1371600" y="3383280"/>
            <a:ext cx="9601200" cy="320040"/>
          </a:xfrm>
          <a:prstGeom prst="rect">
            <a:avLst/>
          </a:prstGeom>
          <a:noFill/>
          <a:ln/>
        </p:spPr>
        <p:txBody>
          <a:bodyPr wrap="square" lIns="0" tIns="0" rIns="0" bIns="0" rtlCol="0" anchor="ctr"/>
          <a:lstStyle/>
          <a:p>
            <a:pPr marL="0" indent="0">
              <a:buNone/>
            </a:pPr>
            <a:r>
              <a:rPr lang="en-US" sz="1600" dirty="0">
                <a:solidFill>
                  <a:srgbClr val="2D2D2D"/>
                </a:solidFill>
                <a:latin typeface="Calibri" pitchFamily="34" charset="0"/>
                <a:ea typeface="Calibri" pitchFamily="34" charset="-122"/>
                <a:cs typeface="Calibri" pitchFamily="34" charset="-120"/>
              </a:rPr>
              <a:t>Paste the full position description for best results</a:t>
            </a:r>
            <a:endParaRPr lang="en-US" sz="1600" dirty="0"/>
          </a:p>
        </p:txBody>
      </p:sp>
      <p:sp>
        <p:nvSpPr>
          <p:cNvPr id="9" name="Shape 7"/>
          <p:cNvSpPr/>
          <p:nvPr/>
        </p:nvSpPr>
        <p:spPr>
          <a:xfrm>
            <a:off x="1005840" y="3904488"/>
            <a:ext cx="146304" cy="146304"/>
          </a:xfrm>
          <a:prstGeom prst="ellipse">
            <a:avLst/>
          </a:prstGeom>
          <a:solidFill>
            <a:srgbClr val="115740"/>
          </a:solidFill>
          <a:ln/>
        </p:spPr>
        <p:txBody>
          <a:bodyPr/>
          <a:lstStyle/>
          <a:p>
            <a:endParaRPr lang="en-US"/>
          </a:p>
        </p:txBody>
      </p:sp>
      <p:sp>
        <p:nvSpPr>
          <p:cNvPr id="10" name="Text 8"/>
          <p:cNvSpPr/>
          <p:nvPr/>
        </p:nvSpPr>
        <p:spPr>
          <a:xfrm>
            <a:off x="1371600" y="3840480"/>
            <a:ext cx="9601200" cy="320040"/>
          </a:xfrm>
          <a:prstGeom prst="rect">
            <a:avLst/>
          </a:prstGeom>
          <a:noFill/>
          <a:ln/>
        </p:spPr>
        <p:txBody>
          <a:bodyPr wrap="square" lIns="0" tIns="0" rIns="0" bIns="0" rtlCol="0" anchor="ctr"/>
          <a:lstStyle/>
          <a:p>
            <a:pPr marL="0" indent="0">
              <a:buNone/>
            </a:pPr>
            <a:r>
              <a:rPr lang="en-US" sz="1600" dirty="0">
                <a:solidFill>
                  <a:srgbClr val="2D2D2D"/>
                </a:solidFill>
                <a:latin typeface="Calibri" pitchFamily="34" charset="0"/>
                <a:ea typeface="Calibri" pitchFamily="34" charset="-122"/>
                <a:cs typeface="Calibri" pitchFamily="34" charset="-120"/>
              </a:rPr>
              <a:t>Use Full Analysis for classification decisions, Fast Mode for quick checks</a:t>
            </a:r>
            <a:endParaRPr lang="en-US" sz="1600" dirty="0"/>
          </a:p>
        </p:txBody>
      </p:sp>
      <p:sp>
        <p:nvSpPr>
          <p:cNvPr id="11" name="Shape 9"/>
          <p:cNvSpPr/>
          <p:nvPr/>
        </p:nvSpPr>
        <p:spPr>
          <a:xfrm>
            <a:off x="1005840" y="4361688"/>
            <a:ext cx="146304" cy="146304"/>
          </a:xfrm>
          <a:prstGeom prst="ellipse">
            <a:avLst/>
          </a:prstGeom>
          <a:solidFill>
            <a:srgbClr val="115740"/>
          </a:solidFill>
          <a:ln/>
        </p:spPr>
        <p:txBody>
          <a:bodyPr/>
          <a:lstStyle/>
          <a:p>
            <a:endParaRPr lang="en-US"/>
          </a:p>
        </p:txBody>
      </p:sp>
      <p:sp>
        <p:nvSpPr>
          <p:cNvPr id="12" name="Text 10"/>
          <p:cNvSpPr/>
          <p:nvPr/>
        </p:nvSpPr>
        <p:spPr>
          <a:xfrm>
            <a:off x="1371600" y="4297680"/>
            <a:ext cx="9601200" cy="320040"/>
          </a:xfrm>
          <a:prstGeom prst="rect">
            <a:avLst/>
          </a:prstGeom>
          <a:noFill/>
          <a:ln/>
        </p:spPr>
        <p:txBody>
          <a:bodyPr wrap="square" lIns="0" tIns="0" rIns="0" bIns="0" rtlCol="0" anchor="ctr"/>
          <a:lstStyle/>
          <a:p>
            <a:pPr marL="0" indent="0">
              <a:buNone/>
            </a:pPr>
            <a:r>
              <a:rPr lang="en-US" sz="1600" dirty="0">
                <a:solidFill>
                  <a:srgbClr val="2D2D2D"/>
                </a:solidFill>
                <a:latin typeface="Calibri" pitchFamily="34" charset="0"/>
                <a:ea typeface="Calibri" pitchFamily="34" charset="-122"/>
                <a:cs typeface="Calibri" pitchFamily="34" charset="-120"/>
              </a:rPr>
              <a:t>Review all 3 match cards to triangulate the right classification</a:t>
            </a:r>
            <a:endParaRPr lang="en-US" sz="1600" dirty="0"/>
          </a:p>
        </p:txBody>
      </p:sp>
      <p:sp>
        <p:nvSpPr>
          <p:cNvPr id="13" name="Shape 11"/>
          <p:cNvSpPr/>
          <p:nvPr/>
        </p:nvSpPr>
        <p:spPr>
          <a:xfrm>
            <a:off x="1005840" y="4818888"/>
            <a:ext cx="146304" cy="146304"/>
          </a:xfrm>
          <a:prstGeom prst="ellipse">
            <a:avLst/>
          </a:prstGeom>
          <a:solidFill>
            <a:srgbClr val="115740"/>
          </a:solidFill>
          <a:ln/>
        </p:spPr>
        <p:txBody>
          <a:bodyPr/>
          <a:lstStyle/>
          <a:p>
            <a:endParaRPr lang="en-US"/>
          </a:p>
        </p:txBody>
      </p:sp>
      <p:sp>
        <p:nvSpPr>
          <p:cNvPr id="14" name="Text 12"/>
          <p:cNvSpPr/>
          <p:nvPr/>
        </p:nvSpPr>
        <p:spPr>
          <a:xfrm>
            <a:off x="1371600" y="4754880"/>
            <a:ext cx="9601200" cy="320040"/>
          </a:xfrm>
          <a:prstGeom prst="rect">
            <a:avLst/>
          </a:prstGeom>
          <a:noFill/>
          <a:ln/>
        </p:spPr>
        <p:txBody>
          <a:bodyPr wrap="square" lIns="0" tIns="0" rIns="0" bIns="0" rtlCol="0" anchor="ctr"/>
          <a:lstStyle/>
          <a:p>
            <a:pPr marL="0" indent="0">
              <a:buNone/>
            </a:pPr>
            <a:r>
              <a:rPr lang="en-US" sz="1600" dirty="0">
                <a:solidFill>
                  <a:srgbClr val="2D2D2D"/>
                </a:solidFill>
                <a:latin typeface="Calibri" pitchFamily="34" charset="0"/>
                <a:ea typeface="Calibri" pitchFamily="34" charset="-122"/>
                <a:cs typeface="Calibri" pitchFamily="34" charset="-120"/>
              </a:rPr>
              <a:t>Check both confidence bars — agreement means high confidence</a:t>
            </a:r>
            <a:endParaRPr lang="en-US" sz="1600" dirty="0"/>
          </a:p>
        </p:txBody>
      </p:sp>
      <p:sp>
        <p:nvSpPr>
          <p:cNvPr id="15" name="Shape 13"/>
          <p:cNvSpPr/>
          <p:nvPr/>
        </p:nvSpPr>
        <p:spPr>
          <a:xfrm>
            <a:off x="1005840" y="5276088"/>
            <a:ext cx="146304" cy="146304"/>
          </a:xfrm>
          <a:prstGeom prst="ellipse">
            <a:avLst/>
          </a:prstGeom>
          <a:solidFill>
            <a:srgbClr val="115740"/>
          </a:solidFill>
          <a:ln/>
        </p:spPr>
        <p:txBody>
          <a:bodyPr/>
          <a:lstStyle/>
          <a:p>
            <a:endParaRPr lang="en-US"/>
          </a:p>
        </p:txBody>
      </p:sp>
      <p:sp>
        <p:nvSpPr>
          <p:cNvPr id="16" name="Text 14"/>
          <p:cNvSpPr/>
          <p:nvPr/>
        </p:nvSpPr>
        <p:spPr>
          <a:xfrm>
            <a:off x="1371600" y="5212080"/>
            <a:ext cx="9601200" cy="320040"/>
          </a:xfrm>
          <a:prstGeom prst="rect">
            <a:avLst/>
          </a:prstGeom>
          <a:noFill/>
          <a:ln/>
        </p:spPr>
        <p:txBody>
          <a:bodyPr wrap="square" lIns="0" tIns="0" rIns="0" bIns="0" rtlCol="0" anchor="ctr"/>
          <a:lstStyle/>
          <a:p>
            <a:pPr marL="0" indent="0">
              <a:buNone/>
            </a:pPr>
            <a:r>
              <a:rPr lang="en-US" sz="1600" dirty="0">
                <a:solidFill>
                  <a:srgbClr val="2D2D2D"/>
                </a:solidFill>
                <a:latin typeface="Calibri" pitchFamily="34" charset="0"/>
                <a:ea typeface="Calibri" pitchFamily="34" charset="-122"/>
                <a:cs typeface="Calibri" pitchFamily="34" charset="-120"/>
              </a:rPr>
              <a:t>Download the report to save your work</a:t>
            </a:r>
            <a:endParaRPr lang="en-US" sz="1600" dirty="0"/>
          </a:p>
        </p:txBody>
      </p:sp>
      <p:sp>
        <p:nvSpPr>
          <p:cNvPr id="17" name="Shape 15"/>
          <p:cNvSpPr/>
          <p:nvPr/>
        </p:nvSpPr>
        <p:spPr>
          <a:xfrm>
            <a:off x="1005840" y="5733288"/>
            <a:ext cx="146304" cy="146304"/>
          </a:xfrm>
          <a:prstGeom prst="ellipse">
            <a:avLst/>
          </a:prstGeom>
          <a:solidFill>
            <a:srgbClr val="115740"/>
          </a:solidFill>
          <a:ln/>
        </p:spPr>
        <p:txBody>
          <a:bodyPr/>
          <a:lstStyle/>
          <a:p>
            <a:endParaRPr lang="en-US"/>
          </a:p>
        </p:txBody>
      </p:sp>
      <p:sp>
        <p:nvSpPr>
          <p:cNvPr id="18" name="Text 16"/>
          <p:cNvSpPr/>
          <p:nvPr/>
        </p:nvSpPr>
        <p:spPr>
          <a:xfrm>
            <a:off x="1371600" y="5669280"/>
            <a:ext cx="9601200" cy="320040"/>
          </a:xfrm>
          <a:prstGeom prst="rect">
            <a:avLst/>
          </a:prstGeom>
          <a:noFill/>
          <a:ln/>
        </p:spPr>
        <p:txBody>
          <a:bodyPr wrap="square" lIns="0" tIns="0" rIns="0" bIns="0" rtlCol="0" anchor="ctr"/>
          <a:lstStyle/>
          <a:p>
            <a:pPr marL="0" indent="0">
              <a:buNone/>
            </a:pPr>
            <a:r>
              <a:rPr lang="en-US" sz="1600" dirty="0">
                <a:solidFill>
                  <a:srgbClr val="2D2D2D"/>
                </a:solidFill>
                <a:latin typeface="Calibri" pitchFamily="34" charset="0"/>
                <a:ea typeface="Calibri" pitchFamily="34" charset="-122"/>
                <a:cs typeface="Calibri" pitchFamily="34" charset="-120"/>
              </a:rPr>
              <a:t>YOU are the final authority — GRIFFIN is here to help, not replace you</a:t>
            </a:r>
            <a:endParaRPr lang="en-US" sz="1600" dirty="0"/>
          </a:p>
        </p:txBody>
      </p:sp>
      <p:sp>
        <p:nvSpPr>
          <p:cNvPr id="19" name="Text 17"/>
          <p:cNvSpPr/>
          <p:nvPr/>
        </p:nvSpPr>
        <p:spPr>
          <a:xfrm>
            <a:off x="914400" y="6217920"/>
            <a:ext cx="10332720" cy="365760"/>
          </a:xfrm>
          <a:prstGeom prst="rect">
            <a:avLst/>
          </a:prstGeom>
          <a:noFill/>
          <a:ln/>
        </p:spPr>
        <p:txBody>
          <a:bodyPr wrap="square" lIns="0" tIns="0" rIns="0" bIns="0" rtlCol="0" anchor="ctr"/>
          <a:lstStyle/>
          <a:p>
            <a:pPr marL="0" indent="0" algn="ctr">
              <a:buNone/>
            </a:pPr>
            <a:r>
              <a:rPr lang="en-US" sz="1100" dirty="0">
                <a:solidFill>
                  <a:srgbClr val="999999"/>
                </a:solidFill>
                <a:latin typeface="Calibri" pitchFamily="34" charset="0"/>
                <a:ea typeface="Calibri" pitchFamily="34" charset="-122"/>
                <a:cs typeface="Calibri" pitchFamily="34" charset="-120"/>
              </a:rPr>
              <a:t>William &amp; Mary  |  Mason School of Business  |  BUAD 5722 / BUAD 5742  |  Team 7  |  Spring 2026</a:t>
            </a:r>
            <a:endParaRPr lang="en-US" sz="1100" dirty="0"/>
          </a:p>
        </p:txBody>
      </p:sp>
      <p:sp>
        <p:nvSpPr>
          <p:cNvPr id="20" name="Text 18"/>
          <p:cNvSpPr/>
          <p:nvPr/>
        </p:nvSpPr>
        <p:spPr>
          <a:xfrm>
            <a:off x="10789920" y="6446520"/>
            <a:ext cx="1097280" cy="320040"/>
          </a:xfrm>
          <a:prstGeom prst="rect">
            <a:avLst/>
          </a:prstGeom>
          <a:noFill/>
          <a:ln/>
        </p:spPr>
        <p:txBody>
          <a:bodyPr wrap="square"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20 / 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2903</Words>
  <Application>Microsoft Office PowerPoint</Application>
  <PresentationFormat>Widescreen</PresentationFormat>
  <Paragraphs>345</Paragraphs>
  <Slides>21</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GRIFFIN HR User Guide</dc:title>
  <dc:subject>PptxGenJS Presentation</dc:subject>
  <dc:creator>Team 7 – GRIFFIN</dc:creator>
  <cp:lastModifiedBy>Alvarado, Steven</cp:lastModifiedBy>
  <cp:revision>3</cp:revision>
  <dcterms:created xsi:type="dcterms:W3CDTF">2026-04-16T13:27:18Z</dcterms:created>
  <dcterms:modified xsi:type="dcterms:W3CDTF">2026-04-16T23:25:34Z</dcterms:modified>
</cp:coreProperties>
</file>